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Arial Black" panose="020B0A04020102020204" pitchFamily="34" charset="0"/>
      <p:bold r:id="rId14"/>
    </p:embeddedFont>
    <p:embeddedFont>
      <p:font typeface="Open Sans" panose="020B0604020202020204" charset="0"/>
      <p:regular r:id="rId15"/>
      <p:bold r:id="rId16"/>
      <p:italic r:id="rId17"/>
      <p:boldItalic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Times New Roman Bold" panose="02020803070505020304" pitchFamily="18" charset="0"/>
      <p:regular r:id="rId23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AD026F-A402-E16A-24E3-59C62AB42C4F}" v="12" dt="2026-04-29T17:19:56.1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14" autoAdjust="0"/>
  </p:normalViewPr>
  <p:slideViewPr>
    <p:cSldViewPr>
      <p:cViewPr varScale="1">
        <p:scale>
          <a:sx n="73" d="100"/>
          <a:sy n="73" d="100"/>
        </p:scale>
        <p:origin x="89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54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11.05.2026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 err="1"/>
              <a:t>Уважаема</a:t>
            </a:r>
            <a:r>
              <a:rPr lang="en-US" dirty="0"/>
              <a:t> г-</a:t>
            </a:r>
            <a:r>
              <a:rPr lang="en-US" dirty="0" err="1"/>
              <a:t>жо</a:t>
            </a:r>
            <a:r>
              <a:rPr lang="en-US" dirty="0"/>
              <a:t> </a:t>
            </a:r>
            <a:r>
              <a:rPr lang="en-US" dirty="0" err="1"/>
              <a:t>Директор</a:t>
            </a:r>
            <a:r>
              <a:rPr lang="en-US" dirty="0"/>
              <a:t>, </a:t>
            </a:r>
            <a:r>
              <a:rPr lang="en-US" dirty="0" err="1"/>
              <a:t>Уважаема</a:t>
            </a:r>
            <a:r>
              <a:rPr lang="en-US" dirty="0"/>
              <a:t> </a:t>
            </a:r>
            <a:r>
              <a:rPr lang="en-US" dirty="0" err="1" smtClean="0"/>
              <a:t>комисия</a:t>
            </a:r>
            <a:r>
              <a:rPr lang="en-US" dirty="0" smtClean="0"/>
              <a:t>. </a:t>
            </a:r>
            <a:r>
              <a:rPr lang="en-US" dirty="0" err="1"/>
              <a:t>Аз</a:t>
            </a:r>
            <a:r>
              <a:rPr lang="en-US" dirty="0"/>
              <a:t> </a:t>
            </a:r>
            <a:r>
              <a:rPr lang="en-US" dirty="0" err="1"/>
              <a:t>съм</a:t>
            </a:r>
            <a:r>
              <a:rPr lang="en-US" dirty="0"/>
              <a:t> </a:t>
            </a:r>
            <a:r>
              <a:rPr lang="en-US" dirty="0" err="1"/>
              <a:t>Виктор</a:t>
            </a:r>
            <a:r>
              <a:rPr lang="en-US" dirty="0"/>
              <a:t> </a:t>
            </a:r>
            <a:r>
              <a:rPr lang="en-US" dirty="0" err="1"/>
              <a:t>Василев</a:t>
            </a:r>
            <a:r>
              <a:rPr lang="en-US" dirty="0"/>
              <a:t>. </a:t>
            </a:r>
            <a:r>
              <a:rPr lang="en-US" dirty="0" err="1"/>
              <a:t>Темата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моя</a:t>
            </a:r>
            <a:r>
              <a:rPr lang="en-US" dirty="0"/>
              <a:t> </a:t>
            </a:r>
            <a:r>
              <a:rPr lang="en-US" dirty="0" err="1"/>
              <a:t>дипломен</a:t>
            </a:r>
            <a:r>
              <a:rPr lang="en-US" dirty="0"/>
              <a:t> </a:t>
            </a:r>
            <a:r>
              <a:rPr lang="en-US" dirty="0" err="1"/>
              <a:t>проект</a:t>
            </a:r>
            <a:r>
              <a:rPr lang="en-US" dirty="0"/>
              <a:t> е „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времеизмерване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масови</a:t>
            </a:r>
            <a:r>
              <a:rPr lang="en-US" dirty="0"/>
              <a:t> </a:t>
            </a:r>
            <a:r>
              <a:rPr lang="en-US" dirty="0" err="1"/>
              <a:t>лекоатлетически</a:t>
            </a:r>
            <a:r>
              <a:rPr lang="en-US" dirty="0"/>
              <a:t> </a:t>
            </a:r>
            <a:r>
              <a:rPr lang="en-US" dirty="0" err="1"/>
              <a:t>състезания</a:t>
            </a:r>
            <a:r>
              <a:rPr lang="en-US" dirty="0"/>
              <a:t>".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 err="1"/>
              <a:t>Преди</a:t>
            </a:r>
            <a:r>
              <a:rPr lang="en-US" dirty="0"/>
              <a:t> </a:t>
            </a:r>
            <a:r>
              <a:rPr lang="en-US" dirty="0" err="1"/>
              <a:t>да</a:t>
            </a:r>
            <a:r>
              <a:rPr lang="en-US" dirty="0"/>
              <a:t> </a:t>
            </a:r>
            <a:r>
              <a:rPr lang="en-US" dirty="0" err="1"/>
              <a:t>обясня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работи</a:t>
            </a:r>
            <a:r>
              <a:rPr lang="en-US" dirty="0"/>
              <a:t> </a:t>
            </a:r>
            <a:r>
              <a:rPr lang="en-US" dirty="0" err="1"/>
              <a:t>системата</a:t>
            </a:r>
            <a:r>
              <a:rPr lang="en-US" dirty="0"/>
              <a:t>, </a:t>
            </a:r>
            <a:r>
              <a:rPr lang="en-US" dirty="0" err="1"/>
              <a:t>искам</a:t>
            </a:r>
            <a:r>
              <a:rPr lang="en-US" dirty="0"/>
              <a:t> </a:t>
            </a:r>
            <a:r>
              <a:rPr lang="en-US" dirty="0" err="1"/>
              <a:t>да</a:t>
            </a:r>
            <a:r>
              <a:rPr lang="en-US" dirty="0"/>
              <a:t> </a:t>
            </a:r>
            <a:r>
              <a:rPr lang="en-US" dirty="0" err="1"/>
              <a:t>покажа</a:t>
            </a:r>
            <a:r>
              <a:rPr lang="en-US" dirty="0"/>
              <a:t> </a:t>
            </a:r>
            <a:r>
              <a:rPr lang="en-US" dirty="0" err="1"/>
              <a:t>защо</a:t>
            </a:r>
            <a:r>
              <a:rPr lang="en-US" dirty="0"/>
              <a:t> </a:t>
            </a:r>
            <a:r>
              <a:rPr lang="en-US" dirty="0" err="1"/>
              <a:t>тя</a:t>
            </a:r>
            <a:r>
              <a:rPr lang="en-US" dirty="0"/>
              <a:t> е </a:t>
            </a:r>
            <a:r>
              <a:rPr lang="en-US" dirty="0" err="1"/>
              <a:t>необходима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традиционните</a:t>
            </a:r>
            <a:r>
              <a:rPr lang="en-US" dirty="0"/>
              <a:t> </a:t>
            </a:r>
            <a:r>
              <a:rPr lang="en-US" dirty="0" err="1"/>
              <a:t>методи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организация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масови</a:t>
            </a:r>
            <a:r>
              <a:rPr lang="en-US" dirty="0"/>
              <a:t> </a:t>
            </a:r>
            <a:r>
              <a:rPr lang="en-US" dirty="0" err="1"/>
              <a:t>лекоатлетически</a:t>
            </a:r>
            <a:r>
              <a:rPr lang="en-US" dirty="0"/>
              <a:t> </a:t>
            </a:r>
            <a:r>
              <a:rPr lang="en-US" dirty="0" err="1"/>
              <a:t>прояви</a:t>
            </a:r>
            <a:r>
              <a:rPr lang="en-US" dirty="0"/>
              <a:t>,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използват</a:t>
            </a:r>
            <a:r>
              <a:rPr lang="en-US" dirty="0"/>
              <a:t> </a:t>
            </a:r>
            <a:r>
              <a:rPr lang="en-US" dirty="0" err="1"/>
              <a:t>хартиени</a:t>
            </a:r>
            <a:r>
              <a:rPr lang="en-US" dirty="0"/>
              <a:t> </a:t>
            </a:r>
            <a:r>
              <a:rPr lang="en-US" dirty="0" err="1"/>
              <a:t>протоколи</a:t>
            </a:r>
            <a:r>
              <a:rPr lang="en-US" dirty="0"/>
              <a:t> и </a:t>
            </a:r>
            <a:r>
              <a:rPr lang="en-US" dirty="0" err="1"/>
              <a:t>ръчно</a:t>
            </a:r>
            <a:r>
              <a:rPr lang="en-US" dirty="0"/>
              <a:t> </a:t>
            </a:r>
            <a:r>
              <a:rPr lang="en-US" dirty="0" err="1"/>
              <a:t>хронометриране</a:t>
            </a:r>
            <a:r>
              <a:rPr lang="en-US" dirty="0"/>
              <a:t>. </a:t>
            </a:r>
            <a:r>
              <a:rPr lang="en-US" dirty="0" err="1"/>
              <a:t>Това</a:t>
            </a:r>
            <a:r>
              <a:rPr lang="en-US" dirty="0"/>
              <a:t> </a:t>
            </a:r>
            <a:r>
              <a:rPr lang="en-US" dirty="0" err="1"/>
              <a:t>носи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сериозни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Първо</a:t>
            </a:r>
            <a:r>
              <a:rPr lang="en-US" dirty="0"/>
              <a:t> — </a:t>
            </a:r>
            <a:r>
              <a:rPr lang="en-US" dirty="0" err="1"/>
              <a:t>рискът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човешка</a:t>
            </a:r>
            <a:r>
              <a:rPr lang="en-US" dirty="0"/>
              <a:t> </a:t>
            </a:r>
            <a:r>
              <a:rPr lang="en-US" dirty="0" err="1"/>
              <a:t>грешка</a:t>
            </a:r>
            <a:r>
              <a:rPr lang="en-US" dirty="0"/>
              <a:t> е </a:t>
            </a:r>
            <a:r>
              <a:rPr lang="en-US" dirty="0" err="1"/>
              <a:t>много</a:t>
            </a:r>
            <a:r>
              <a:rPr lang="en-US" dirty="0"/>
              <a:t> </a:t>
            </a:r>
            <a:r>
              <a:rPr lang="en-US" dirty="0" err="1"/>
              <a:t>висок</a:t>
            </a:r>
            <a:r>
              <a:rPr lang="en-US" dirty="0"/>
              <a:t>, </a:t>
            </a:r>
            <a:r>
              <a:rPr lang="en-US" dirty="0" err="1"/>
              <a:t>особено</a:t>
            </a:r>
            <a:r>
              <a:rPr lang="en-US" dirty="0"/>
              <a:t> </a:t>
            </a:r>
            <a:r>
              <a:rPr lang="en-US" dirty="0" err="1"/>
              <a:t>когато</a:t>
            </a:r>
            <a:r>
              <a:rPr lang="en-US" dirty="0"/>
              <a:t> </a:t>
            </a:r>
            <a:r>
              <a:rPr lang="en-US" dirty="0" err="1"/>
              <a:t>няколко</a:t>
            </a:r>
            <a:r>
              <a:rPr lang="en-US" dirty="0"/>
              <a:t> </a:t>
            </a:r>
            <a:r>
              <a:rPr lang="en-US" dirty="0" err="1"/>
              <a:t>участника</a:t>
            </a:r>
            <a:r>
              <a:rPr lang="en-US" dirty="0"/>
              <a:t> </a:t>
            </a:r>
            <a:r>
              <a:rPr lang="en-US" dirty="0" err="1"/>
              <a:t>финишират</a:t>
            </a:r>
            <a:r>
              <a:rPr lang="en-US" dirty="0"/>
              <a:t> </a:t>
            </a:r>
            <a:r>
              <a:rPr lang="en-US" dirty="0" err="1"/>
              <a:t>едновременно</a:t>
            </a:r>
            <a:r>
              <a:rPr lang="en-US" dirty="0"/>
              <a:t>. </a:t>
            </a:r>
            <a:r>
              <a:rPr lang="en-US" dirty="0" err="1"/>
              <a:t>Второ</a:t>
            </a:r>
            <a:r>
              <a:rPr lang="en-US" dirty="0"/>
              <a:t> — </a:t>
            </a:r>
            <a:r>
              <a:rPr lang="en-US" dirty="0" err="1"/>
              <a:t>ръчното</a:t>
            </a:r>
            <a:r>
              <a:rPr lang="en-US" dirty="0"/>
              <a:t> </a:t>
            </a:r>
            <a:r>
              <a:rPr lang="en-US" dirty="0" err="1"/>
              <a:t>изчисляване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класирането</a:t>
            </a:r>
            <a:r>
              <a:rPr lang="en-US" dirty="0"/>
              <a:t> </a:t>
            </a:r>
            <a:r>
              <a:rPr lang="en-US" dirty="0" err="1"/>
              <a:t>отнема</a:t>
            </a:r>
            <a:r>
              <a:rPr lang="en-US" dirty="0"/>
              <a:t> </a:t>
            </a:r>
            <a:r>
              <a:rPr lang="en-US" dirty="0" err="1"/>
              <a:t>много</a:t>
            </a:r>
            <a:r>
              <a:rPr lang="en-US" dirty="0"/>
              <a:t> </a:t>
            </a:r>
            <a:r>
              <a:rPr lang="en-US" dirty="0" err="1"/>
              <a:t>повече</a:t>
            </a:r>
            <a:r>
              <a:rPr lang="en-US" dirty="0"/>
              <a:t> </a:t>
            </a:r>
            <a:r>
              <a:rPr lang="en-US" dirty="0" err="1"/>
              <a:t>персонал</a:t>
            </a:r>
            <a:r>
              <a:rPr lang="en-US" dirty="0"/>
              <a:t> и </a:t>
            </a:r>
            <a:r>
              <a:rPr lang="en-US" dirty="0" err="1"/>
              <a:t>забавя</a:t>
            </a:r>
            <a:r>
              <a:rPr lang="en-US" dirty="0"/>
              <a:t> </a:t>
            </a:r>
            <a:r>
              <a:rPr lang="en-US" dirty="0" err="1"/>
              <a:t>обявяването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резултатите</a:t>
            </a:r>
            <a:r>
              <a:rPr lang="en-US" dirty="0"/>
              <a:t>. И </a:t>
            </a:r>
            <a:r>
              <a:rPr lang="en-US" dirty="0" err="1"/>
              <a:t>трето</a:t>
            </a:r>
            <a:r>
              <a:rPr lang="en-US" dirty="0"/>
              <a:t> —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спорна</a:t>
            </a:r>
            <a:r>
              <a:rPr lang="en-US" dirty="0"/>
              <a:t> </a:t>
            </a:r>
            <a:r>
              <a:rPr lang="en-US" dirty="0" err="1"/>
              <a:t>ситуация</a:t>
            </a:r>
            <a:r>
              <a:rPr lang="en-US" dirty="0"/>
              <a:t> е </a:t>
            </a:r>
            <a:r>
              <a:rPr lang="en-US" dirty="0" err="1"/>
              <a:t>практически</a:t>
            </a:r>
            <a:r>
              <a:rPr lang="en-US" dirty="0"/>
              <a:t> </a:t>
            </a:r>
            <a:r>
              <a:rPr lang="en-US" dirty="0" err="1"/>
              <a:t>невъзможно</a:t>
            </a:r>
            <a:r>
              <a:rPr lang="en-US" dirty="0"/>
              <a:t> </a:t>
            </a:r>
            <a:r>
              <a:rPr lang="en-US" dirty="0" err="1"/>
              <a:t>да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провери</a:t>
            </a:r>
            <a:r>
              <a:rPr lang="en-US" dirty="0"/>
              <a:t> </a:t>
            </a:r>
            <a:r>
              <a:rPr lang="en-US" dirty="0" err="1"/>
              <a:t>кой</a:t>
            </a:r>
            <a:r>
              <a:rPr lang="en-US" dirty="0"/>
              <a:t> е </a:t>
            </a:r>
            <a:r>
              <a:rPr lang="en-US" dirty="0" err="1"/>
              <a:t>направил</a:t>
            </a:r>
            <a:r>
              <a:rPr lang="en-US" dirty="0"/>
              <a:t> </a:t>
            </a:r>
            <a:r>
              <a:rPr lang="en-US" dirty="0" err="1"/>
              <a:t>каква</a:t>
            </a:r>
            <a:r>
              <a:rPr lang="en-US" dirty="0"/>
              <a:t> </a:t>
            </a:r>
            <a:r>
              <a:rPr lang="en-US" dirty="0" err="1"/>
              <a:t>промяна</a:t>
            </a:r>
            <a:r>
              <a:rPr lang="en-US" dirty="0"/>
              <a:t> и </a:t>
            </a:r>
            <a:r>
              <a:rPr lang="en-US" dirty="0" err="1"/>
              <a:t>кога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тези</a:t>
            </a:r>
            <a:r>
              <a:rPr lang="en-US" dirty="0"/>
              <a:t> </a:t>
            </a:r>
            <a:r>
              <a:rPr lang="en-US" dirty="0" err="1"/>
              <a:t>ограничения</a:t>
            </a:r>
            <a:r>
              <a:rPr lang="en-US" dirty="0"/>
              <a:t> </a:t>
            </a:r>
            <a:r>
              <a:rPr lang="en-US" dirty="0" err="1"/>
              <a:t>ме</a:t>
            </a:r>
            <a:r>
              <a:rPr lang="en-US" dirty="0"/>
              <a:t> </a:t>
            </a:r>
            <a:r>
              <a:rPr lang="en-US" dirty="0" err="1"/>
              <a:t>накараха</a:t>
            </a:r>
            <a:r>
              <a:rPr lang="en-US" dirty="0"/>
              <a:t> </a:t>
            </a:r>
            <a:r>
              <a:rPr lang="en-US" dirty="0" err="1"/>
              <a:t>да</a:t>
            </a:r>
            <a:r>
              <a:rPr lang="en-US" dirty="0"/>
              <a:t> </a:t>
            </a:r>
            <a:r>
              <a:rPr lang="en-US" dirty="0" err="1"/>
              <a:t>разработя</a:t>
            </a:r>
            <a:r>
              <a:rPr lang="en-US" dirty="0"/>
              <a:t> </a:t>
            </a:r>
            <a:r>
              <a:rPr lang="en-US" dirty="0" err="1"/>
              <a:t>централизирана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,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която</a:t>
            </a:r>
            <a:r>
              <a:rPr lang="en-US" dirty="0"/>
              <a:t> </a:t>
            </a:r>
            <a:r>
              <a:rPr lang="en-US" dirty="0" err="1"/>
              <a:t>всички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— </a:t>
            </a:r>
            <a:r>
              <a:rPr lang="en-US" dirty="0" err="1"/>
              <a:t>включително</a:t>
            </a:r>
            <a:r>
              <a:rPr lang="en-US" dirty="0"/>
              <a:t> </a:t>
            </a:r>
            <a:r>
              <a:rPr lang="en-US" dirty="0" err="1"/>
              <a:t>измерването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времето</a:t>
            </a:r>
            <a:r>
              <a:rPr lang="en-US" dirty="0"/>
              <a:t> —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извършват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 smtClean="0"/>
              <a:t>сървър</a:t>
            </a:r>
            <a:r>
              <a:rPr lang="bg-BG" dirty="0" smtClean="0"/>
              <a:t>а.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да</a:t>
            </a:r>
            <a:r>
              <a:rPr lang="en-US" dirty="0"/>
              <a:t> </a:t>
            </a:r>
            <a:r>
              <a:rPr lang="en-US" dirty="0" err="1"/>
              <a:t>разберем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работи</a:t>
            </a:r>
            <a:r>
              <a:rPr lang="en-US" dirty="0"/>
              <a:t> </a:t>
            </a:r>
            <a:r>
              <a:rPr lang="en-US" dirty="0" err="1"/>
              <a:t>системата</a:t>
            </a:r>
            <a:r>
              <a:rPr lang="en-US" dirty="0"/>
              <a:t>, </a:t>
            </a:r>
            <a:r>
              <a:rPr lang="en-US" dirty="0" err="1"/>
              <a:t>трябва</a:t>
            </a:r>
            <a:r>
              <a:rPr lang="en-US" dirty="0"/>
              <a:t> </a:t>
            </a:r>
            <a:r>
              <a:rPr lang="en-US" dirty="0" err="1"/>
              <a:t>да</a:t>
            </a:r>
            <a:r>
              <a:rPr lang="en-US" dirty="0"/>
              <a:t> </a:t>
            </a:r>
            <a:r>
              <a:rPr lang="en-US" dirty="0" err="1"/>
              <a:t>изясним</a:t>
            </a:r>
            <a:r>
              <a:rPr lang="en-US" dirty="0"/>
              <a:t> </a:t>
            </a:r>
            <a:r>
              <a:rPr lang="en-US" dirty="0" err="1"/>
              <a:t>теоретичната</a:t>
            </a:r>
            <a:r>
              <a:rPr lang="en-US" dirty="0"/>
              <a:t> </a:t>
            </a:r>
            <a:r>
              <a:rPr lang="en-US" dirty="0" err="1"/>
              <a:t>основа</a:t>
            </a:r>
            <a:r>
              <a:rPr lang="en-US" dirty="0"/>
              <a:t>, </a:t>
            </a:r>
            <a:r>
              <a:rPr lang="en-US" dirty="0" err="1"/>
              <a:t>върху</a:t>
            </a:r>
            <a:r>
              <a:rPr lang="en-US" dirty="0"/>
              <a:t> </a:t>
            </a:r>
            <a:r>
              <a:rPr lang="en-US" dirty="0" err="1"/>
              <a:t>която</a:t>
            </a:r>
            <a:r>
              <a:rPr lang="en-US" dirty="0"/>
              <a:t> е </a:t>
            </a:r>
            <a:r>
              <a:rPr lang="en-US" dirty="0" err="1"/>
              <a:t>изградена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Системата</a:t>
            </a:r>
            <a:r>
              <a:rPr lang="en-US" dirty="0"/>
              <a:t> </a:t>
            </a:r>
            <a:r>
              <a:rPr lang="en-US" dirty="0" err="1"/>
              <a:t>използва</a:t>
            </a:r>
            <a:r>
              <a:rPr lang="en-US" dirty="0"/>
              <a:t> </a:t>
            </a:r>
            <a:r>
              <a:rPr lang="en-US" dirty="0" err="1"/>
              <a:t>клиент</a:t>
            </a:r>
            <a:r>
              <a:rPr lang="en-US" dirty="0"/>
              <a:t>–</a:t>
            </a:r>
            <a:r>
              <a:rPr lang="en-US" dirty="0" err="1"/>
              <a:t>сървър</a:t>
            </a:r>
            <a:r>
              <a:rPr lang="en-US" dirty="0"/>
              <a:t> </a:t>
            </a:r>
            <a:r>
              <a:rPr lang="en-US" dirty="0" err="1"/>
              <a:t>архитектура</a:t>
            </a:r>
            <a:r>
              <a:rPr lang="en-US" dirty="0"/>
              <a:t> — </a:t>
            </a:r>
            <a:r>
              <a:rPr lang="en-US" dirty="0" err="1"/>
              <a:t>браузърът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оператора</a:t>
            </a:r>
            <a:r>
              <a:rPr lang="en-US" dirty="0"/>
              <a:t> е </a:t>
            </a:r>
            <a:r>
              <a:rPr lang="en-US" dirty="0" err="1"/>
              <a:t>клиентът</a:t>
            </a:r>
            <a:r>
              <a:rPr lang="en-US" dirty="0"/>
              <a:t>, а Django </a:t>
            </a:r>
            <a:r>
              <a:rPr lang="en-US" dirty="0" err="1"/>
              <a:t>приложението</a:t>
            </a:r>
            <a:r>
              <a:rPr lang="en-US" dirty="0"/>
              <a:t> е </a:t>
            </a:r>
            <a:r>
              <a:rPr lang="en-US" dirty="0" err="1"/>
              <a:t>сървърът</a:t>
            </a:r>
            <a:r>
              <a:rPr lang="en-US" dirty="0"/>
              <a:t>. </a:t>
            </a:r>
            <a:r>
              <a:rPr lang="en-US" dirty="0" err="1"/>
              <a:t>Комуникацията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тях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осъществява</a:t>
            </a:r>
            <a:r>
              <a:rPr lang="en-US" dirty="0"/>
              <a:t> </a:t>
            </a:r>
            <a:r>
              <a:rPr lang="en-US" dirty="0" err="1"/>
              <a:t>чрез</a:t>
            </a:r>
            <a:r>
              <a:rPr lang="en-US" dirty="0"/>
              <a:t> HTTP </a:t>
            </a:r>
            <a:r>
              <a:rPr lang="en-US" dirty="0" err="1"/>
              <a:t>протокола</a:t>
            </a:r>
            <a:r>
              <a:rPr lang="en-US" dirty="0"/>
              <a:t>,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който</a:t>
            </a:r>
            <a:r>
              <a:rPr lang="en-US" dirty="0"/>
              <a:t> </a:t>
            </a:r>
            <a:r>
              <a:rPr lang="en-US" dirty="0" err="1"/>
              <a:t>клиентът</a:t>
            </a:r>
            <a:r>
              <a:rPr lang="en-US" dirty="0"/>
              <a:t> </a:t>
            </a:r>
            <a:r>
              <a:rPr lang="en-US" dirty="0" err="1"/>
              <a:t>изпраща</a:t>
            </a:r>
            <a:r>
              <a:rPr lang="en-US" dirty="0"/>
              <a:t> </a:t>
            </a:r>
            <a:r>
              <a:rPr lang="en-US" dirty="0" err="1"/>
              <a:t>заявки</a:t>
            </a:r>
            <a:r>
              <a:rPr lang="en-US" dirty="0"/>
              <a:t> и </a:t>
            </a:r>
            <a:r>
              <a:rPr lang="en-US" dirty="0" err="1"/>
              <a:t>получава</a:t>
            </a:r>
            <a:r>
              <a:rPr lang="en-US" dirty="0"/>
              <a:t> </a:t>
            </a:r>
            <a:r>
              <a:rPr lang="en-US" dirty="0" err="1"/>
              <a:t>отговори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REST е </a:t>
            </a:r>
            <a:r>
              <a:rPr lang="en-US" dirty="0" err="1"/>
              <a:t>архитектурен</a:t>
            </a:r>
            <a:r>
              <a:rPr lang="en-US" dirty="0"/>
              <a:t> </a:t>
            </a:r>
            <a:r>
              <a:rPr lang="en-US" dirty="0" err="1"/>
              <a:t>стил</a:t>
            </a:r>
            <a:r>
              <a:rPr lang="en-US" dirty="0"/>
              <a:t>,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който</a:t>
            </a:r>
            <a:r>
              <a:rPr lang="en-US" dirty="0"/>
              <a:t> е </a:t>
            </a:r>
            <a:r>
              <a:rPr lang="en-US" dirty="0" err="1" smtClean="0"/>
              <a:t>проектиран</a:t>
            </a:r>
            <a:r>
              <a:rPr lang="en-US" dirty="0" smtClean="0"/>
              <a:t> </a:t>
            </a:r>
            <a:r>
              <a:rPr lang="en-US" dirty="0"/>
              <a:t>API-я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системата</a:t>
            </a:r>
            <a:r>
              <a:rPr lang="en-US" dirty="0"/>
              <a:t> — </a:t>
            </a:r>
            <a:r>
              <a:rPr lang="en-US" dirty="0" err="1"/>
              <a:t>всеки</a:t>
            </a:r>
            <a:r>
              <a:rPr lang="en-US" dirty="0"/>
              <a:t> </a:t>
            </a:r>
            <a:r>
              <a:rPr lang="en-US" dirty="0" err="1"/>
              <a:t>обект</a:t>
            </a:r>
            <a:r>
              <a:rPr lang="en-US" dirty="0"/>
              <a:t> </a:t>
            </a:r>
            <a:r>
              <a:rPr lang="en-US" dirty="0" err="1"/>
              <a:t>като</a:t>
            </a:r>
            <a:r>
              <a:rPr lang="en-US" dirty="0"/>
              <a:t> </a:t>
            </a:r>
            <a:r>
              <a:rPr lang="en-US" dirty="0" err="1"/>
              <a:t>участник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събитие</a:t>
            </a:r>
            <a:r>
              <a:rPr lang="en-US" dirty="0"/>
              <a:t> е </a:t>
            </a:r>
            <a:r>
              <a:rPr lang="en-US" dirty="0" err="1"/>
              <a:t>достъпен</a:t>
            </a:r>
            <a:r>
              <a:rPr lang="en-US" dirty="0"/>
              <a:t> </a:t>
            </a:r>
            <a:r>
              <a:rPr lang="en-US" dirty="0" err="1"/>
              <a:t>като</a:t>
            </a:r>
            <a:r>
              <a:rPr lang="en-US" dirty="0"/>
              <a:t> </a:t>
            </a:r>
            <a:r>
              <a:rPr lang="en-US" dirty="0" err="1"/>
              <a:t>ресурс</a:t>
            </a:r>
            <a:r>
              <a:rPr lang="en-US" dirty="0"/>
              <a:t> с </a:t>
            </a:r>
            <a:r>
              <a:rPr lang="en-US" dirty="0" err="1"/>
              <a:t>уникален</a:t>
            </a:r>
            <a:r>
              <a:rPr lang="en-US" dirty="0"/>
              <a:t> </a:t>
            </a:r>
            <a:r>
              <a:rPr lang="en-US" dirty="0" err="1"/>
              <a:t>адрес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Данните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съхраняват</a:t>
            </a:r>
            <a:r>
              <a:rPr lang="en-US" dirty="0"/>
              <a:t> в </a:t>
            </a:r>
            <a:r>
              <a:rPr lang="en-US" dirty="0" err="1"/>
              <a:t>релационна</a:t>
            </a:r>
            <a:r>
              <a:rPr lang="en-US" dirty="0"/>
              <a:t> </a:t>
            </a:r>
            <a:r>
              <a:rPr lang="en-US" dirty="0" err="1"/>
              <a:t>база</a:t>
            </a:r>
            <a:r>
              <a:rPr lang="en-US" dirty="0"/>
              <a:t> </a:t>
            </a:r>
            <a:r>
              <a:rPr lang="en-US" dirty="0" err="1"/>
              <a:t>данни</a:t>
            </a:r>
            <a:r>
              <a:rPr lang="en-US" dirty="0"/>
              <a:t> с ACID </a:t>
            </a:r>
            <a:r>
              <a:rPr lang="en-US" dirty="0" err="1"/>
              <a:t>гаранции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консистентност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Може</a:t>
            </a:r>
            <a:r>
              <a:rPr lang="en-US" dirty="0"/>
              <a:t> </a:t>
            </a:r>
            <a:r>
              <a:rPr lang="en-US" dirty="0" err="1"/>
              <a:t>би</a:t>
            </a:r>
            <a:r>
              <a:rPr lang="en-US" dirty="0"/>
              <a:t> </a:t>
            </a:r>
            <a:r>
              <a:rPr lang="en-US" dirty="0" err="1"/>
              <a:t>най-важната</a:t>
            </a:r>
            <a:r>
              <a:rPr lang="en-US" dirty="0"/>
              <a:t> </a:t>
            </a:r>
            <a:r>
              <a:rPr lang="en-US" dirty="0" err="1"/>
              <a:t>теоретична</a:t>
            </a:r>
            <a:r>
              <a:rPr lang="en-US" dirty="0"/>
              <a:t> </a:t>
            </a:r>
            <a:r>
              <a:rPr lang="en-US" dirty="0" err="1"/>
              <a:t>концепция</a:t>
            </a:r>
            <a:r>
              <a:rPr lang="en-US" dirty="0"/>
              <a:t> е </a:t>
            </a:r>
            <a:r>
              <a:rPr lang="en-US" dirty="0" err="1"/>
              <a:t>централизираното</a:t>
            </a:r>
            <a:r>
              <a:rPr lang="en-US" dirty="0"/>
              <a:t> </a:t>
            </a:r>
            <a:r>
              <a:rPr lang="en-US" dirty="0" err="1"/>
              <a:t>времеизмерване</a:t>
            </a:r>
            <a:r>
              <a:rPr lang="en-US" dirty="0"/>
              <a:t> — </a:t>
            </a:r>
            <a:r>
              <a:rPr lang="en-US" dirty="0" err="1"/>
              <a:t>единственият</a:t>
            </a:r>
            <a:r>
              <a:rPr lang="en-US" dirty="0"/>
              <a:t> </a:t>
            </a:r>
            <a:r>
              <a:rPr lang="en-US" dirty="0" err="1"/>
              <a:t>компонент</a:t>
            </a:r>
            <a:r>
              <a:rPr lang="en-US" dirty="0"/>
              <a:t>, </a:t>
            </a:r>
            <a:r>
              <a:rPr lang="en-US" dirty="0" err="1"/>
              <a:t>определящ</a:t>
            </a:r>
            <a:r>
              <a:rPr lang="en-US" dirty="0"/>
              <a:t> </a:t>
            </a:r>
            <a:r>
              <a:rPr lang="en-US" dirty="0" err="1"/>
              <a:t>официалното</a:t>
            </a:r>
            <a:r>
              <a:rPr lang="en-US" dirty="0"/>
              <a:t> </a:t>
            </a:r>
            <a:r>
              <a:rPr lang="en-US" dirty="0" err="1"/>
              <a:t>време</a:t>
            </a:r>
            <a:r>
              <a:rPr lang="en-US" dirty="0"/>
              <a:t>, е </a:t>
            </a:r>
            <a:r>
              <a:rPr lang="en-US" dirty="0" err="1"/>
              <a:t>сървърът</a:t>
            </a:r>
            <a:r>
              <a:rPr lang="en-US" dirty="0"/>
              <a:t>. </a:t>
            </a:r>
            <a:r>
              <a:rPr lang="en-US" dirty="0" err="1"/>
              <a:t>Клиентът</a:t>
            </a:r>
            <a:r>
              <a:rPr lang="en-US" dirty="0"/>
              <a:t> </a:t>
            </a:r>
            <a:r>
              <a:rPr lang="en-US" dirty="0" err="1"/>
              <a:t>само</a:t>
            </a:r>
            <a:r>
              <a:rPr lang="en-US" dirty="0"/>
              <a:t> </a:t>
            </a:r>
            <a:r>
              <a:rPr lang="en-US" dirty="0" err="1"/>
              <a:t>изпраща</a:t>
            </a:r>
            <a:r>
              <a:rPr lang="en-US" dirty="0"/>
              <a:t> </a:t>
            </a:r>
            <a:r>
              <a:rPr lang="en-US" dirty="0" err="1"/>
              <a:t>сигнал</a:t>
            </a:r>
            <a:r>
              <a:rPr lang="en-US" dirty="0"/>
              <a:t>. </a:t>
            </a:r>
            <a:r>
              <a:rPr lang="en-US" dirty="0" err="1"/>
              <a:t>Така</a:t>
            </a:r>
            <a:r>
              <a:rPr lang="en-US" dirty="0"/>
              <a:t> </a:t>
            </a:r>
            <a:r>
              <a:rPr lang="en-US" dirty="0" err="1"/>
              <a:t>времето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</a:t>
            </a:r>
            <a:r>
              <a:rPr lang="en-US" dirty="0"/>
              <a:t> </a:t>
            </a:r>
            <a:r>
              <a:rPr lang="en-US" dirty="0" err="1"/>
              <a:t>да</a:t>
            </a:r>
            <a:r>
              <a:rPr lang="en-US" dirty="0"/>
              <a:t> </a:t>
            </a:r>
            <a:r>
              <a:rPr lang="en-US" dirty="0" err="1"/>
              <a:t>бъде</a:t>
            </a:r>
            <a:r>
              <a:rPr lang="en-US" dirty="0"/>
              <a:t> </a:t>
            </a:r>
            <a:r>
              <a:rPr lang="en-US" dirty="0" err="1"/>
              <a:t>манипулирано</a:t>
            </a:r>
            <a:r>
              <a:rPr lang="en-US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 err="1"/>
              <a:t>Системата</a:t>
            </a:r>
            <a:r>
              <a:rPr lang="en-US" dirty="0"/>
              <a:t> е </a:t>
            </a:r>
            <a:r>
              <a:rPr lang="en-US" dirty="0" err="1"/>
              <a:t>логически</a:t>
            </a:r>
            <a:r>
              <a:rPr lang="en-US" dirty="0"/>
              <a:t> </a:t>
            </a:r>
            <a:r>
              <a:rPr lang="en-US" dirty="0" err="1"/>
              <a:t>разделена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слоя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Първият</a:t>
            </a:r>
            <a:r>
              <a:rPr lang="en-US" dirty="0"/>
              <a:t> е </a:t>
            </a:r>
            <a:r>
              <a:rPr lang="en-US" dirty="0" err="1"/>
              <a:t>представителният</a:t>
            </a:r>
            <a:r>
              <a:rPr lang="en-US" dirty="0"/>
              <a:t> </a:t>
            </a:r>
            <a:r>
              <a:rPr lang="en-US" dirty="0" err="1"/>
              <a:t>слой</a:t>
            </a:r>
            <a:r>
              <a:rPr lang="en-US" dirty="0"/>
              <a:t> — </a:t>
            </a:r>
            <a:r>
              <a:rPr lang="en-US" dirty="0" err="1"/>
              <a:t>това</a:t>
            </a:r>
            <a:r>
              <a:rPr lang="en-US" dirty="0"/>
              <a:t> е </a:t>
            </a:r>
            <a:r>
              <a:rPr lang="en-US" dirty="0" err="1"/>
              <a:t>всичко</a:t>
            </a:r>
            <a:r>
              <a:rPr lang="en-US" dirty="0"/>
              <a:t>, </a:t>
            </a:r>
            <a:r>
              <a:rPr lang="en-US" dirty="0" err="1"/>
              <a:t>което</a:t>
            </a:r>
            <a:r>
              <a:rPr lang="en-US" dirty="0"/>
              <a:t> </a:t>
            </a:r>
            <a:r>
              <a:rPr lang="en-US" dirty="0" err="1"/>
              <a:t>потребителят</a:t>
            </a:r>
            <a:r>
              <a:rPr lang="en-US" dirty="0"/>
              <a:t> </a:t>
            </a:r>
            <a:r>
              <a:rPr lang="en-US" dirty="0" err="1"/>
              <a:t>вижда</a:t>
            </a:r>
            <a:r>
              <a:rPr lang="en-US" dirty="0"/>
              <a:t>: HTML </a:t>
            </a:r>
            <a:r>
              <a:rPr lang="en-US" dirty="0" err="1"/>
              <a:t>страниците</a:t>
            </a:r>
            <a:r>
              <a:rPr lang="en-US" dirty="0"/>
              <a:t>, </a:t>
            </a:r>
            <a:r>
              <a:rPr lang="en-US" dirty="0" err="1"/>
              <a:t>изградени</a:t>
            </a:r>
            <a:r>
              <a:rPr lang="en-US" dirty="0"/>
              <a:t> с Django </a:t>
            </a:r>
            <a:r>
              <a:rPr lang="en-US" dirty="0" err="1"/>
              <a:t>шаблони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Вторият</a:t>
            </a:r>
            <a:r>
              <a:rPr lang="en-US" dirty="0"/>
              <a:t> е </a:t>
            </a:r>
            <a:r>
              <a:rPr lang="en-US" dirty="0" err="1"/>
              <a:t>приложният</a:t>
            </a:r>
            <a:r>
              <a:rPr lang="en-US" dirty="0"/>
              <a:t> </a:t>
            </a:r>
            <a:r>
              <a:rPr lang="en-US" dirty="0" err="1"/>
              <a:t>слой</a:t>
            </a:r>
            <a:r>
              <a:rPr lang="en-US" dirty="0"/>
              <a:t> — </a:t>
            </a:r>
            <a:r>
              <a:rPr lang="en-US" dirty="0" err="1"/>
              <a:t>там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извършва</a:t>
            </a:r>
            <a:r>
              <a:rPr lang="en-US" dirty="0"/>
              <a:t> </a:t>
            </a:r>
            <a:r>
              <a:rPr lang="en-US" dirty="0" err="1"/>
              <a:t>цялата</a:t>
            </a:r>
            <a:r>
              <a:rPr lang="en-US" dirty="0"/>
              <a:t> </a:t>
            </a:r>
            <a:r>
              <a:rPr lang="en-US" dirty="0" err="1"/>
              <a:t>работа</a:t>
            </a:r>
            <a:r>
              <a:rPr lang="en-US" dirty="0"/>
              <a:t>. </a:t>
            </a:r>
            <a:r>
              <a:rPr lang="en-US" dirty="0" err="1"/>
              <a:t>Той</a:t>
            </a:r>
            <a:r>
              <a:rPr lang="en-US" dirty="0"/>
              <a:t> </a:t>
            </a:r>
            <a:r>
              <a:rPr lang="en-US" dirty="0" err="1"/>
              <a:t>приема</a:t>
            </a:r>
            <a:r>
              <a:rPr lang="en-US" dirty="0"/>
              <a:t> </a:t>
            </a:r>
            <a:r>
              <a:rPr lang="en-US" dirty="0" err="1"/>
              <a:t>заявките</a:t>
            </a:r>
            <a:r>
              <a:rPr lang="en-US" dirty="0"/>
              <a:t>, </a:t>
            </a:r>
            <a:r>
              <a:rPr lang="en-US" dirty="0" err="1"/>
              <a:t>проверява</a:t>
            </a:r>
            <a:r>
              <a:rPr lang="en-US" dirty="0"/>
              <a:t> </a:t>
            </a:r>
            <a:r>
              <a:rPr lang="en-US" dirty="0" err="1"/>
              <a:t>правата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достъп</a:t>
            </a:r>
            <a:r>
              <a:rPr lang="en-US" dirty="0"/>
              <a:t>, </a:t>
            </a:r>
            <a:r>
              <a:rPr lang="en-US" dirty="0" err="1"/>
              <a:t>валидира</a:t>
            </a:r>
            <a:r>
              <a:rPr lang="en-US" dirty="0"/>
              <a:t> </a:t>
            </a:r>
            <a:r>
              <a:rPr lang="en-US" dirty="0" err="1"/>
              <a:t>данните</a:t>
            </a:r>
            <a:r>
              <a:rPr lang="en-US" dirty="0"/>
              <a:t> и </a:t>
            </a:r>
            <a:r>
              <a:rPr lang="en-US" dirty="0" err="1"/>
              <a:t>изпълнява</a:t>
            </a:r>
            <a:r>
              <a:rPr lang="en-US" dirty="0"/>
              <a:t> </a:t>
            </a:r>
            <a:r>
              <a:rPr lang="en-US" dirty="0" err="1"/>
              <a:t>бизнес</a:t>
            </a:r>
            <a:r>
              <a:rPr lang="en-US" dirty="0"/>
              <a:t> </a:t>
            </a:r>
            <a:r>
              <a:rPr lang="en-US" dirty="0" err="1"/>
              <a:t>операциите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Третият</a:t>
            </a:r>
            <a:r>
              <a:rPr lang="en-US" dirty="0"/>
              <a:t> е </a:t>
            </a:r>
            <a:r>
              <a:rPr lang="en-US" dirty="0" err="1"/>
              <a:t>слоят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данни</a:t>
            </a:r>
            <a:r>
              <a:rPr lang="en-US" dirty="0"/>
              <a:t> — Django ORM, </a:t>
            </a:r>
            <a:r>
              <a:rPr lang="en-US" dirty="0" err="1"/>
              <a:t>който</a:t>
            </a:r>
            <a:r>
              <a:rPr lang="en-US" dirty="0"/>
              <a:t> </a:t>
            </a:r>
            <a:r>
              <a:rPr lang="en-US" dirty="0" err="1"/>
              <a:t>превежда</a:t>
            </a:r>
            <a:r>
              <a:rPr lang="en-US" dirty="0"/>
              <a:t> Python </a:t>
            </a:r>
            <a:r>
              <a:rPr lang="en-US" dirty="0" err="1"/>
              <a:t>операциите</a:t>
            </a:r>
            <a:r>
              <a:rPr lang="en-US" dirty="0"/>
              <a:t> в SQL </a:t>
            </a:r>
            <a:r>
              <a:rPr lang="en-US" dirty="0" err="1"/>
              <a:t>заявки</a:t>
            </a:r>
            <a:r>
              <a:rPr lang="en-US" dirty="0"/>
              <a:t> </a:t>
            </a:r>
            <a:r>
              <a:rPr lang="en-US" dirty="0" err="1"/>
              <a:t>към</a:t>
            </a:r>
            <a:r>
              <a:rPr lang="en-US" dirty="0"/>
              <a:t> </a:t>
            </a:r>
            <a:r>
              <a:rPr lang="en-US" dirty="0" err="1"/>
              <a:t>базата</a:t>
            </a:r>
            <a:r>
              <a:rPr lang="en-US" dirty="0"/>
              <a:t> </a:t>
            </a:r>
            <a:r>
              <a:rPr lang="en-US" dirty="0" err="1"/>
              <a:t>данни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Ключово</a:t>
            </a:r>
            <a:r>
              <a:rPr lang="en-US" dirty="0"/>
              <a:t> </a:t>
            </a:r>
            <a:r>
              <a:rPr lang="en-US" dirty="0" err="1"/>
              <a:t>архитектурно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е </a:t>
            </a:r>
            <a:r>
              <a:rPr lang="en-US" dirty="0" err="1"/>
              <a:t>принципът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нулево</a:t>
            </a:r>
            <a:r>
              <a:rPr lang="en-US" dirty="0"/>
              <a:t> </a:t>
            </a:r>
            <a:r>
              <a:rPr lang="en-US" dirty="0" err="1"/>
              <a:t>доверие</a:t>
            </a:r>
            <a:r>
              <a:rPr lang="en-US" dirty="0"/>
              <a:t> </a:t>
            </a:r>
            <a:r>
              <a:rPr lang="en-US" dirty="0" err="1"/>
              <a:t>към</a:t>
            </a:r>
            <a:r>
              <a:rPr lang="en-US" dirty="0"/>
              <a:t> </a:t>
            </a:r>
            <a:r>
              <a:rPr lang="en-US" dirty="0" err="1"/>
              <a:t>клиента</a:t>
            </a:r>
            <a:r>
              <a:rPr lang="en-US" dirty="0"/>
              <a:t>: </a:t>
            </a:r>
            <a:r>
              <a:rPr lang="en-US" dirty="0" err="1"/>
              <a:t>дори</a:t>
            </a:r>
            <a:r>
              <a:rPr lang="en-US" dirty="0"/>
              <a:t> </a:t>
            </a:r>
            <a:r>
              <a:rPr lang="en-US" dirty="0" err="1"/>
              <a:t>данни</a:t>
            </a:r>
            <a:r>
              <a:rPr lang="en-US" dirty="0"/>
              <a:t>, </a:t>
            </a:r>
            <a:r>
              <a:rPr lang="en-US" dirty="0" err="1"/>
              <a:t>изпратени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легитимния</a:t>
            </a:r>
            <a:r>
              <a:rPr lang="en-US" dirty="0"/>
              <a:t> </a:t>
            </a:r>
            <a:r>
              <a:rPr lang="en-US" dirty="0" err="1"/>
              <a:t>потребителски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, </a:t>
            </a:r>
            <a:r>
              <a:rPr lang="en-US" dirty="0" err="1"/>
              <a:t>преминават</a:t>
            </a:r>
            <a:r>
              <a:rPr lang="en-US" dirty="0"/>
              <a:t> </a:t>
            </a:r>
            <a:r>
              <a:rPr lang="en-US" dirty="0" err="1"/>
              <a:t>през</a:t>
            </a:r>
            <a:r>
              <a:rPr lang="en-US" dirty="0"/>
              <a:t> </a:t>
            </a:r>
            <a:r>
              <a:rPr lang="en-US" dirty="0" err="1"/>
              <a:t>пълна</a:t>
            </a:r>
            <a:r>
              <a:rPr lang="en-US" dirty="0"/>
              <a:t> </a:t>
            </a:r>
            <a:r>
              <a:rPr lang="en-US" dirty="0" err="1"/>
              <a:t>проверка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сървъра</a:t>
            </a:r>
            <a:r>
              <a:rPr lang="en-US" dirty="0"/>
              <a:t>. </a:t>
            </a:r>
            <a:r>
              <a:rPr lang="en-US" dirty="0" err="1"/>
              <a:t>Системата</a:t>
            </a:r>
            <a:r>
              <a:rPr lang="en-US" dirty="0"/>
              <a:t> </a:t>
            </a:r>
            <a:r>
              <a:rPr lang="en-US" dirty="0" err="1"/>
              <a:t>никога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приема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даденост</a:t>
            </a:r>
            <a:r>
              <a:rPr lang="en-US" dirty="0"/>
              <a:t>, </a:t>
            </a:r>
            <a:r>
              <a:rPr lang="en-US" dirty="0" err="1"/>
              <a:t>че</a:t>
            </a:r>
            <a:r>
              <a:rPr lang="en-US" dirty="0"/>
              <a:t> </a:t>
            </a:r>
            <a:r>
              <a:rPr lang="en-US" dirty="0" err="1"/>
              <a:t>клиентът</a:t>
            </a:r>
            <a:r>
              <a:rPr lang="en-US" dirty="0"/>
              <a:t> е </a:t>
            </a:r>
            <a:r>
              <a:rPr lang="en-US" dirty="0" err="1"/>
              <a:t>изпратил</a:t>
            </a:r>
            <a:r>
              <a:rPr lang="en-US" dirty="0"/>
              <a:t> </a:t>
            </a:r>
            <a:r>
              <a:rPr lang="en-US" dirty="0" err="1"/>
              <a:t>коректни</a:t>
            </a:r>
            <a:r>
              <a:rPr lang="en-US" dirty="0"/>
              <a:t> </a:t>
            </a:r>
            <a:r>
              <a:rPr lang="en-US" dirty="0" err="1"/>
              <a:t>данни</a:t>
            </a:r>
            <a:r>
              <a:rPr lang="en-US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 err="1"/>
              <a:t>Базата</a:t>
            </a:r>
            <a:r>
              <a:rPr lang="en-US" dirty="0"/>
              <a:t> </a:t>
            </a:r>
            <a:r>
              <a:rPr lang="en-US" dirty="0" err="1"/>
              <a:t>данни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състои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основни</a:t>
            </a:r>
            <a:r>
              <a:rPr lang="en-US" dirty="0"/>
              <a:t> </a:t>
            </a:r>
            <a:r>
              <a:rPr lang="en-US" dirty="0" err="1"/>
              <a:t>таблици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Таблицата</a:t>
            </a:r>
            <a:r>
              <a:rPr lang="en-US" dirty="0"/>
              <a:t> </a:t>
            </a:r>
            <a:r>
              <a:rPr lang="en-US" dirty="0" err="1"/>
              <a:t>main_competition</a:t>
            </a:r>
            <a:r>
              <a:rPr lang="en-US" dirty="0"/>
              <a:t> </a:t>
            </a:r>
            <a:r>
              <a:rPr lang="en-US" dirty="0" err="1"/>
              <a:t>пази</a:t>
            </a:r>
            <a:r>
              <a:rPr lang="en-US" dirty="0"/>
              <a:t> </a:t>
            </a:r>
            <a:r>
              <a:rPr lang="en-US" dirty="0" err="1"/>
              <a:t>информацията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самото</a:t>
            </a:r>
            <a:r>
              <a:rPr lang="en-US" dirty="0"/>
              <a:t> </a:t>
            </a:r>
            <a:r>
              <a:rPr lang="en-US" dirty="0" err="1"/>
              <a:t>събитие</a:t>
            </a:r>
            <a:r>
              <a:rPr lang="en-US" dirty="0"/>
              <a:t> — </a:t>
            </a:r>
            <a:r>
              <a:rPr lang="en-US" dirty="0" err="1"/>
              <a:t>неговото</a:t>
            </a:r>
            <a:r>
              <a:rPr lang="en-US" dirty="0"/>
              <a:t> </a:t>
            </a:r>
            <a:r>
              <a:rPr lang="en-US" dirty="0" err="1"/>
              <a:t>наименование</a:t>
            </a:r>
            <a:r>
              <a:rPr lang="en-US" dirty="0"/>
              <a:t>, </a:t>
            </a:r>
            <a:r>
              <a:rPr lang="en-US" dirty="0" err="1"/>
              <a:t>текущото</a:t>
            </a:r>
            <a:r>
              <a:rPr lang="en-US" dirty="0"/>
              <a:t> </a:t>
            </a:r>
            <a:r>
              <a:rPr lang="en-US" dirty="0" err="1"/>
              <a:t>му</a:t>
            </a:r>
            <a:r>
              <a:rPr lang="en-US" dirty="0"/>
              <a:t> </a:t>
            </a:r>
            <a:r>
              <a:rPr lang="en-US" dirty="0" err="1"/>
              <a:t>съдържание</a:t>
            </a:r>
            <a:r>
              <a:rPr lang="en-US" dirty="0"/>
              <a:t> и </a:t>
            </a:r>
            <a:r>
              <a:rPr lang="en-US" dirty="0" err="1"/>
              <a:t>най-важното</a:t>
            </a:r>
            <a:r>
              <a:rPr lang="en-US" dirty="0"/>
              <a:t> — </a:t>
            </a:r>
            <a:r>
              <a:rPr lang="en-US" dirty="0" err="1"/>
              <a:t>официалния</a:t>
            </a:r>
            <a:r>
              <a:rPr lang="en-US" dirty="0"/>
              <a:t> </a:t>
            </a:r>
            <a:r>
              <a:rPr lang="en-US" dirty="0" err="1"/>
              <a:t>стартов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Таблицата</a:t>
            </a:r>
            <a:r>
              <a:rPr lang="en-US" dirty="0"/>
              <a:t> </a:t>
            </a:r>
            <a:r>
              <a:rPr lang="en-US" dirty="0" err="1"/>
              <a:t>main_group</a:t>
            </a:r>
            <a:r>
              <a:rPr lang="en-US" dirty="0"/>
              <a:t> </a:t>
            </a:r>
            <a:r>
              <a:rPr lang="en-US" dirty="0" err="1"/>
              <a:t>съдържа</a:t>
            </a:r>
            <a:r>
              <a:rPr lang="en-US" dirty="0"/>
              <a:t> </a:t>
            </a:r>
            <a:r>
              <a:rPr lang="en-US" dirty="0" err="1"/>
              <a:t>категориите</a:t>
            </a:r>
            <a:r>
              <a:rPr lang="en-US" dirty="0"/>
              <a:t>, в </a:t>
            </a:r>
            <a:r>
              <a:rPr lang="en-US" dirty="0" err="1"/>
              <a:t>които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разпределят</a:t>
            </a:r>
            <a:r>
              <a:rPr lang="en-US" dirty="0"/>
              <a:t> </a:t>
            </a:r>
            <a:r>
              <a:rPr lang="en-US" dirty="0" err="1"/>
              <a:t>участниците</a:t>
            </a:r>
            <a:r>
              <a:rPr lang="en-US" dirty="0"/>
              <a:t> — </a:t>
            </a:r>
            <a:r>
              <a:rPr lang="en-US" dirty="0" err="1"/>
              <a:t>например</a:t>
            </a:r>
            <a:r>
              <a:rPr lang="en-US" dirty="0"/>
              <a:t> </a:t>
            </a:r>
            <a:r>
              <a:rPr lang="en-US" dirty="0" err="1"/>
              <a:t>деца</a:t>
            </a:r>
            <a:r>
              <a:rPr lang="en-US" dirty="0"/>
              <a:t>, </a:t>
            </a:r>
            <a:r>
              <a:rPr lang="en-US" dirty="0" err="1"/>
              <a:t>ученици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ветерани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Таблицата</a:t>
            </a:r>
            <a:r>
              <a:rPr lang="en-US" dirty="0"/>
              <a:t> </a:t>
            </a:r>
            <a:r>
              <a:rPr lang="en-US" dirty="0" err="1"/>
              <a:t>main_athlete</a:t>
            </a:r>
            <a:r>
              <a:rPr lang="en-US" dirty="0"/>
              <a:t> е </a:t>
            </a:r>
            <a:r>
              <a:rPr lang="en-US" dirty="0" err="1"/>
              <a:t>основната</a:t>
            </a:r>
            <a:r>
              <a:rPr lang="en-US" dirty="0"/>
              <a:t> </a:t>
            </a:r>
            <a:r>
              <a:rPr lang="en-US" dirty="0" err="1"/>
              <a:t>оперативна</a:t>
            </a:r>
            <a:r>
              <a:rPr lang="en-US" dirty="0"/>
              <a:t> </a:t>
            </a:r>
            <a:r>
              <a:rPr lang="en-US" dirty="0" err="1"/>
              <a:t>таблица</a:t>
            </a:r>
            <a:r>
              <a:rPr lang="en-US" dirty="0"/>
              <a:t> — </a:t>
            </a:r>
            <a:r>
              <a:rPr lang="en-US" dirty="0" err="1"/>
              <a:t>там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записват</a:t>
            </a:r>
            <a:r>
              <a:rPr lang="en-US" dirty="0"/>
              <a:t> </a:t>
            </a:r>
            <a:r>
              <a:rPr lang="en-US" dirty="0" err="1"/>
              <a:t>данните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всеки</a:t>
            </a:r>
            <a:r>
              <a:rPr lang="en-US" dirty="0"/>
              <a:t> </a:t>
            </a:r>
            <a:r>
              <a:rPr lang="en-US" dirty="0" err="1"/>
              <a:t>участник</a:t>
            </a:r>
            <a:r>
              <a:rPr lang="en-US" dirty="0"/>
              <a:t>, </a:t>
            </a:r>
            <a:r>
              <a:rPr lang="en-US" dirty="0" err="1"/>
              <a:t>неговият</a:t>
            </a:r>
            <a:r>
              <a:rPr lang="en-US" dirty="0"/>
              <a:t> </a:t>
            </a:r>
            <a:r>
              <a:rPr lang="en-US" dirty="0" err="1"/>
              <a:t>стартов</a:t>
            </a:r>
            <a:r>
              <a:rPr lang="en-US" dirty="0"/>
              <a:t> </a:t>
            </a:r>
            <a:r>
              <a:rPr lang="en-US" dirty="0" err="1"/>
              <a:t>номер</a:t>
            </a:r>
            <a:r>
              <a:rPr lang="en-US" dirty="0"/>
              <a:t>, </a:t>
            </a:r>
            <a:r>
              <a:rPr lang="en-US" dirty="0" err="1"/>
              <a:t>категория</a:t>
            </a:r>
            <a:r>
              <a:rPr lang="en-US" dirty="0"/>
              <a:t>, </a:t>
            </a:r>
            <a:r>
              <a:rPr lang="en-US" dirty="0" err="1"/>
              <a:t>статус</a:t>
            </a:r>
            <a:r>
              <a:rPr lang="en-US" dirty="0"/>
              <a:t> и </a:t>
            </a:r>
            <a:r>
              <a:rPr lang="en-US" dirty="0" err="1"/>
              <a:t>резултатно</a:t>
            </a:r>
            <a:r>
              <a:rPr lang="en-US" dirty="0"/>
              <a:t> </a:t>
            </a:r>
            <a:r>
              <a:rPr lang="en-US" dirty="0" err="1" smtClean="0"/>
              <a:t>времe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 err="1"/>
              <a:t>Системата</a:t>
            </a:r>
            <a:r>
              <a:rPr lang="en-US" dirty="0"/>
              <a:t> </a:t>
            </a:r>
            <a:r>
              <a:rPr lang="en-US" dirty="0" err="1"/>
              <a:t>управлява</a:t>
            </a:r>
            <a:r>
              <a:rPr lang="en-US" dirty="0"/>
              <a:t> </a:t>
            </a:r>
            <a:r>
              <a:rPr lang="en-US" dirty="0" err="1"/>
              <a:t>жизнения</a:t>
            </a:r>
            <a:r>
              <a:rPr lang="en-US" dirty="0"/>
              <a:t> </a:t>
            </a:r>
            <a:r>
              <a:rPr lang="en-US" dirty="0" err="1"/>
              <a:t>цикъл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събитието</a:t>
            </a:r>
            <a:r>
              <a:rPr lang="en-US" dirty="0"/>
              <a:t> и </a:t>
            </a:r>
            <a:r>
              <a:rPr lang="en-US" dirty="0" err="1"/>
              <a:t>участниците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модела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крайния</a:t>
            </a:r>
            <a:r>
              <a:rPr lang="en-US" dirty="0"/>
              <a:t> </a:t>
            </a:r>
            <a:r>
              <a:rPr lang="en-US" dirty="0" err="1"/>
              <a:t>автомат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Събитието</a:t>
            </a:r>
            <a:r>
              <a:rPr lang="en-US" dirty="0"/>
              <a:t> </a:t>
            </a:r>
            <a:r>
              <a:rPr lang="en-US" dirty="0" err="1"/>
              <a:t>може</a:t>
            </a:r>
            <a:r>
              <a:rPr lang="en-US" dirty="0"/>
              <a:t> </a:t>
            </a:r>
            <a:r>
              <a:rPr lang="en-US" dirty="0" err="1"/>
              <a:t>да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намира</a:t>
            </a:r>
            <a:r>
              <a:rPr lang="en-US" dirty="0"/>
              <a:t> в </a:t>
            </a:r>
            <a:r>
              <a:rPr lang="en-US" dirty="0" err="1"/>
              <a:t>четири</a:t>
            </a:r>
            <a:r>
              <a:rPr lang="en-US" dirty="0"/>
              <a:t> </a:t>
            </a:r>
            <a:r>
              <a:rPr lang="en-US" dirty="0" err="1" smtClean="0"/>
              <a:t>съ</a:t>
            </a:r>
            <a:r>
              <a:rPr lang="bg-BG" dirty="0" smtClean="0"/>
              <a:t>стояния</a:t>
            </a:r>
            <a:r>
              <a:rPr lang="en-US" dirty="0" smtClean="0"/>
              <a:t>: </a:t>
            </a:r>
            <a:r>
              <a:rPr lang="en-US" dirty="0"/>
              <a:t>REGISTER 0 </a:t>
            </a:r>
            <a:r>
              <a:rPr lang="en-US" dirty="0" err="1"/>
              <a:t>регистриране</a:t>
            </a:r>
            <a:r>
              <a:rPr lang="en-US" dirty="0"/>
              <a:t> CREATED 1 — </a:t>
            </a:r>
            <a:r>
              <a:rPr lang="bg-BG" dirty="0" smtClean="0"/>
              <a:t>създаден</a:t>
            </a:r>
            <a:r>
              <a:rPr lang="bg-BG" baseline="0" dirty="0" smtClean="0"/>
              <a:t> и в </a:t>
            </a:r>
            <a:r>
              <a:rPr lang="en-US" dirty="0" err="1" smtClean="0"/>
              <a:t>очакване</a:t>
            </a:r>
            <a:r>
              <a:rPr lang="en-US" dirty="0"/>
              <a:t>, STARTED 2 — </a:t>
            </a:r>
            <a:r>
              <a:rPr lang="en-US" dirty="0" err="1"/>
              <a:t>активно</a:t>
            </a:r>
            <a:r>
              <a:rPr lang="en-US" dirty="0"/>
              <a:t>, и FINISHED 3 — </a:t>
            </a:r>
            <a:r>
              <a:rPr lang="en-US" dirty="0" err="1"/>
              <a:t>приключено</a:t>
            </a:r>
            <a:r>
              <a:rPr lang="en-US" dirty="0"/>
              <a:t>. </a:t>
            </a:r>
            <a:r>
              <a:rPr lang="en-US" dirty="0" err="1"/>
              <a:t>Преходите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тях</a:t>
            </a:r>
            <a:r>
              <a:rPr lang="en-US" dirty="0"/>
              <a:t> </a:t>
            </a:r>
            <a:r>
              <a:rPr lang="en-US" dirty="0" err="1"/>
              <a:t>са</a:t>
            </a:r>
            <a:r>
              <a:rPr lang="en-US" dirty="0"/>
              <a:t> </a:t>
            </a:r>
            <a:r>
              <a:rPr lang="en-US" dirty="0" err="1"/>
              <a:t>строго</a:t>
            </a:r>
            <a:r>
              <a:rPr lang="en-US" dirty="0"/>
              <a:t> </a:t>
            </a:r>
            <a:r>
              <a:rPr lang="en-US" dirty="0" err="1"/>
              <a:t>еднопосочни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Участникът</a:t>
            </a:r>
            <a:r>
              <a:rPr lang="en-US" dirty="0"/>
              <a:t> </a:t>
            </a:r>
            <a:r>
              <a:rPr lang="en-US" dirty="0" err="1"/>
              <a:t>може</a:t>
            </a:r>
            <a:r>
              <a:rPr lang="en-US" dirty="0"/>
              <a:t> </a:t>
            </a:r>
            <a:r>
              <a:rPr lang="en-US" dirty="0" err="1"/>
              <a:t>да</a:t>
            </a:r>
            <a:r>
              <a:rPr lang="en-US" dirty="0"/>
              <a:t> е в </a:t>
            </a:r>
            <a:r>
              <a:rPr lang="en-US" dirty="0" err="1"/>
              <a:t>едно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четири</a:t>
            </a:r>
            <a:r>
              <a:rPr lang="en-US" dirty="0"/>
              <a:t> </a:t>
            </a:r>
            <a:r>
              <a:rPr lang="en-US" dirty="0" err="1" smtClean="0"/>
              <a:t>съ</a:t>
            </a:r>
            <a:r>
              <a:rPr lang="bg-BG" dirty="0" smtClean="0"/>
              <a:t>стоя</a:t>
            </a:r>
            <a:r>
              <a:rPr lang="en-US" dirty="0" err="1" smtClean="0"/>
              <a:t>ния</a:t>
            </a:r>
            <a:r>
              <a:rPr lang="en-US" dirty="0"/>
              <a:t>: REGISTERED </a:t>
            </a:r>
            <a:r>
              <a:rPr lang="en-US" dirty="0" err="1"/>
              <a:t>след</a:t>
            </a:r>
            <a:r>
              <a:rPr lang="en-US" dirty="0"/>
              <a:t> </a:t>
            </a:r>
            <a:r>
              <a:rPr lang="en-US" dirty="0" err="1"/>
              <a:t>регистрация</a:t>
            </a:r>
            <a:r>
              <a:rPr lang="en-US" dirty="0"/>
              <a:t>, FINISHED </a:t>
            </a:r>
            <a:r>
              <a:rPr lang="en-US" dirty="0" err="1"/>
              <a:t>след</a:t>
            </a:r>
            <a:r>
              <a:rPr lang="en-US" dirty="0"/>
              <a:t> </a:t>
            </a:r>
            <a:r>
              <a:rPr lang="en-US" dirty="0" err="1"/>
              <a:t>финиш</a:t>
            </a:r>
            <a:r>
              <a:rPr lang="en-US" dirty="0"/>
              <a:t>, DQ </a:t>
            </a:r>
            <a:r>
              <a:rPr lang="en-US" dirty="0" err="1"/>
              <a:t>ако</a:t>
            </a:r>
            <a:r>
              <a:rPr lang="en-US" dirty="0"/>
              <a:t> е </a:t>
            </a:r>
            <a:r>
              <a:rPr lang="en-US" dirty="0" err="1"/>
              <a:t>дисквалифициран</a:t>
            </a:r>
            <a:r>
              <a:rPr lang="en-US" dirty="0"/>
              <a:t>, и NS </a:t>
            </a:r>
            <a:r>
              <a:rPr lang="en-US" dirty="0" err="1"/>
              <a:t>ако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е </a:t>
            </a:r>
            <a:r>
              <a:rPr lang="en-US" dirty="0" err="1"/>
              <a:t>стартирал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Ключовото</a:t>
            </a:r>
            <a:r>
              <a:rPr lang="en-US" dirty="0"/>
              <a:t> е, </a:t>
            </a:r>
            <a:r>
              <a:rPr lang="en-US" dirty="0" err="1"/>
              <a:t>че</a:t>
            </a:r>
            <a:r>
              <a:rPr lang="en-US" dirty="0"/>
              <a:t> </a:t>
            </a:r>
            <a:r>
              <a:rPr lang="en-US" dirty="0" err="1"/>
              <a:t>системата</a:t>
            </a:r>
            <a:r>
              <a:rPr lang="en-US" dirty="0"/>
              <a:t> </a:t>
            </a:r>
            <a:r>
              <a:rPr lang="en-US" dirty="0" err="1"/>
              <a:t>проверява</a:t>
            </a:r>
            <a:r>
              <a:rPr lang="en-US" dirty="0"/>
              <a:t> </a:t>
            </a:r>
            <a:r>
              <a:rPr lang="en-US" dirty="0" err="1"/>
              <a:t>допустимостта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всеки</a:t>
            </a:r>
            <a:r>
              <a:rPr lang="en-US" dirty="0"/>
              <a:t> </a:t>
            </a:r>
            <a:r>
              <a:rPr lang="en-US" dirty="0" err="1"/>
              <a:t>преход</a:t>
            </a:r>
            <a:r>
              <a:rPr lang="en-US" dirty="0"/>
              <a:t> </a:t>
            </a:r>
            <a:r>
              <a:rPr lang="en-US" dirty="0" err="1"/>
              <a:t>преди</a:t>
            </a:r>
            <a:r>
              <a:rPr lang="en-US" dirty="0"/>
              <a:t> </a:t>
            </a:r>
            <a:r>
              <a:rPr lang="en-US" dirty="0" err="1"/>
              <a:t>да</a:t>
            </a:r>
            <a:r>
              <a:rPr lang="en-US" dirty="0"/>
              <a:t> </a:t>
            </a:r>
            <a:r>
              <a:rPr lang="en-US" dirty="0" err="1"/>
              <a:t>го</a:t>
            </a:r>
            <a:r>
              <a:rPr lang="en-US" dirty="0"/>
              <a:t> </a:t>
            </a:r>
            <a:r>
              <a:rPr lang="en-US" dirty="0" err="1"/>
              <a:t>изпълни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 —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</a:t>
            </a:r>
            <a:r>
              <a:rPr lang="en-US" dirty="0"/>
              <a:t> </a:t>
            </a:r>
            <a:r>
              <a:rPr lang="en-US" dirty="0" err="1"/>
              <a:t>да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запише</a:t>
            </a:r>
            <a:r>
              <a:rPr lang="en-US" dirty="0"/>
              <a:t> </a:t>
            </a:r>
            <a:r>
              <a:rPr lang="en-US" dirty="0" err="1"/>
              <a:t>финишно</a:t>
            </a:r>
            <a:r>
              <a:rPr lang="en-US" dirty="0"/>
              <a:t> </a:t>
            </a:r>
            <a:r>
              <a:rPr lang="en-US" dirty="0" err="1"/>
              <a:t>време</a:t>
            </a:r>
            <a:r>
              <a:rPr lang="en-US" dirty="0"/>
              <a:t>, </a:t>
            </a:r>
            <a:r>
              <a:rPr lang="en-US" dirty="0" err="1"/>
              <a:t>ако</a:t>
            </a:r>
            <a:r>
              <a:rPr lang="en-US" dirty="0"/>
              <a:t> </a:t>
            </a:r>
            <a:r>
              <a:rPr lang="en-US" dirty="0" err="1"/>
              <a:t>събитието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още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е </a:t>
            </a:r>
            <a:r>
              <a:rPr lang="en-US" dirty="0" err="1"/>
              <a:t>стартирало</a:t>
            </a:r>
            <a:r>
              <a:rPr lang="en-US" dirty="0"/>
              <a:t>.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невалидна</a:t>
            </a:r>
            <a:r>
              <a:rPr lang="en-US" dirty="0"/>
              <a:t> </a:t>
            </a:r>
            <a:r>
              <a:rPr lang="en-US" dirty="0" err="1"/>
              <a:t>заявка</a:t>
            </a:r>
            <a:r>
              <a:rPr lang="en-US" dirty="0"/>
              <a:t> </a:t>
            </a:r>
            <a:r>
              <a:rPr lang="en-US" dirty="0" err="1"/>
              <a:t>сървърът</a:t>
            </a:r>
            <a:r>
              <a:rPr lang="en-US" dirty="0"/>
              <a:t> </a:t>
            </a:r>
            <a:r>
              <a:rPr lang="en-US" dirty="0" err="1"/>
              <a:t>връща</a:t>
            </a:r>
            <a:r>
              <a:rPr lang="en-US" dirty="0"/>
              <a:t> </a:t>
            </a:r>
            <a:r>
              <a:rPr lang="en-US" dirty="0" err="1"/>
              <a:t>грешка</a:t>
            </a:r>
            <a:r>
              <a:rPr lang="en-US" dirty="0"/>
              <a:t> и </a:t>
            </a:r>
            <a:r>
              <a:rPr lang="en-US" dirty="0" err="1"/>
              <a:t>отказва</a:t>
            </a:r>
            <a:r>
              <a:rPr lang="en-US" dirty="0"/>
              <a:t> </a:t>
            </a:r>
            <a:r>
              <a:rPr lang="en-US" dirty="0" err="1"/>
              <a:t>операцията</a:t>
            </a:r>
            <a:r>
              <a:rPr lang="en-US" dirty="0"/>
              <a:t>.</a:t>
            </a:r>
          </a:p>
          <a:p>
            <a:r>
              <a:rPr lang="en-US" dirty="0" err="1"/>
              <a:t>Това</a:t>
            </a:r>
            <a:r>
              <a:rPr lang="en-US" dirty="0"/>
              <a:t> </a:t>
            </a:r>
            <a:r>
              <a:rPr lang="en-US" dirty="0" err="1"/>
              <a:t>гарантира</a:t>
            </a:r>
            <a:r>
              <a:rPr lang="en-US" dirty="0"/>
              <a:t>, </a:t>
            </a:r>
            <a:r>
              <a:rPr lang="en-US" dirty="0" err="1"/>
              <a:t>че</a:t>
            </a:r>
            <a:r>
              <a:rPr lang="en-US" dirty="0"/>
              <a:t> </a:t>
            </a:r>
            <a:r>
              <a:rPr lang="en-US" dirty="0" err="1"/>
              <a:t>данните</a:t>
            </a:r>
            <a:r>
              <a:rPr lang="en-US" dirty="0"/>
              <a:t> </a:t>
            </a:r>
            <a:r>
              <a:rPr lang="en-US" dirty="0" err="1"/>
              <a:t>винаги</a:t>
            </a:r>
            <a:r>
              <a:rPr lang="en-US" dirty="0"/>
              <a:t> </a:t>
            </a:r>
            <a:r>
              <a:rPr lang="en-US" dirty="0" err="1"/>
              <a:t>остават</a:t>
            </a:r>
            <a:r>
              <a:rPr lang="en-US" dirty="0"/>
              <a:t> в </a:t>
            </a:r>
            <a:r>
              <a:rPr lang="en-US" dirty="0" err="1"/>
              <a:t>логически</a:t>
            </a:r>
            <a:r>
              <a:rPr lang="en-US" dirty="0"/>
              <a:t> </a:t>
            </a:r>
            <a:r>
              <a:rPr lang="en-US" dirty="0" err="1"/>
              <a:t>коректно</a:t>
            </a:r>
            <a:r>
              <a:rPr lang="en-US" dirty="0"/>
              <a:t> </a:t>
            </a:r>
            <a:r>
              <a:rPr lang="en-US" dirty="0" err="1"/>
              <a:t>съдържание</a:t>
            </a:r>
            <a:r>
              <a:rPr lang="en-US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 err="1"/>
              <a:t>Нека</a:t>
            </a:r>
            <a:r>
              <a:rPr lang="en-US" dirty="0"/>
              <a:t> </a:t>
            </a:r>
            <a:r>
              <a:rPr lang="en-US" dirty="0" err="1"/>
              <a:t>обясня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работи</a:t>
            </a:r>
            <a:r>
              <a:rPr lang="en-US" dirty="0"/>
              <a:t> </a:t>
            </a:r>
            <a:r>
              <a:rPr lang="en-US" dirty="0" err="1"/>
              <a:t>най-важният</a:t>
            </a:r>
            <a:r>
              <a:rPr lang="en-US" dirty="0"/>
              <a:t> </a:t>
            </a:r>
            <a:r>
              <a:rPr lang="en-US" dirty="0" err="1"/>
              <a:t>алгоритъм</a:t>
            </a:r>
            <a:r>
              <a:rPr lang="en-US" dirty="0"/>
              <a:t> — </a:t>
            </a:r>
            <a:r>
              <a:rPr lang="en-US" dirty="0" err="1"/>
              <a:t>отчитането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финиш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Когато</a:t>
            </a:r>
            <a:r>
              <a:rPr lang="en-US" dirty="0"/>
              <a:t> </a:t>
            </a:r>
            <a:r>
              <a:rPr lang="en-US" dirty="0" err="1"/>
              <a:t>участник</a:t>
            </a:r>
            <a:r>
              <a:rPr lang="en-US" dirty="0"/>
              <a:t> </a:t>
            </a:r>
            <a:r>
              <a:rPr lang="en-US" dirty="0" err="1"/>
              <a:t>прекоси</a:t>
            </a:r>
            <a:r>
              <a:rPr lang="en-US" dirty="0"/>
              <a:t> </a:t>
            </a:r>
            <a:r>
              <a:rPr lang="en-US" dirty="0" err="1"/>
              <a:t>финалната</a:t>
            </a:r>
            <a:r>
              <a:rPr lang="en-US" dirty="0"/>
              <a:t> </a:t>
            </a:r>
            <a:r>
              <a:rPr lang="en-US" dirty="0" err="1"/>
              <a:t>линия</a:t>
            </a:r>
            <a:r>
              <a:rPr lang="en-US" dirty="0"/>
              <a:t>, </a:t>
            </a:r>
            <a:r>
              <a:rPr lang="en-US" dirty="0" err="1"/>
              <a:t>операторът</a:t>
            </a:r>
            <a:r>
              <a:rPr lang="en-US" dirty="0"/>
              <a:t> </a:t>
            </a:r>
            <a:r>
              <a:rPr lang="en-US" dirty="0" err="1"/>
              <a:t>натиска</a:t>
            </a:r>
            <a:r>
              <a:rPr lang="en-US" dirty="0"/>
              <a:t> </a:t>
            </a:r>
            <a:r>
              <a:rPr lang="en-US" dirty="0" err="1"/>
              <a:t>бутон</a:t>
            </a:r>
            <a:r>
              <a:rPr lang="en-US" dirty="0"/>
              <a:t> в </a:t>
            </a:r>
            <a:r>
              <a:rPr lang="en-US" dirty="0" err="1"/>
              <a:t>интерфейса</a:t>
            </a:r>
            <a:r>
              <a:rPr lang="en-US" dirty="0"/>
              <a:t>. </a:t>
            </a:r>
            <a:r>
              <a:rPr lang="en-US" dirty="0" err="1"/>
              <a:t>Браузърът</a:t>
            </a:r>
            <a:r>
              <a:rPr lang="en-US" dirty="0"/>
              <a:t> </a:t>
            </a:r>
            <a:r>
              <a:rPr lang="en-US" dirty="0" err="1"/>
              <a:t>изпраща</a:t>
            </a:r>
            <a:r>
              <a:rPr lang="en-US" dirty="0"/>
              <a:t> HTTP </a:t>
            </a:r>
            <a:r>
              <a:rPr lang="en-US" dirty="0" err="1"/>
              <a:t>заявка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сървъра</a:t>
            </a:r>
            <a:r>
              <a:rPr lang="en-US" dirty="0"/>
              <a:t>. </a:t>
            </a:r>
            <a:r>
              <a:rPr lang="en-US" dirty="0" err="1"/>
              <a:t>Сървърът</a:t>
            </a:r>
            <a:r>
              <a:rPr lang="en-US" dirty="0"/>
              <a:t> </a:t>
            </a:r>
            <a:r>
              <a:rPr lang="en-US" dirty="0" err="1"/>
              <a:t>като</a:t>
            </a:r>
            <a:r>
              <a:rPr lang="en-US" dirty="0"/>
              <a:t> </a:t>
            </a:r>
            <a:r>
              <a:rPr lang="en-US" dirty="0" err="1"/>
              <a:t>абсолютно</a:t>
            </a:r>
            <a:r>
              <a:rPr lang="en-US" dirty="0"/>
              <a:t> </a:t>
            </a:r>
            <a:r>
              <a:rPr lang="en-US" dirty="0" err="1"/>
              <a:t>първа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 — </a:t>
            </a:r>
            <a:r>
              <a:rPr lang="en-US" dirty="0" err="1"/>
              <a:t>преди</a:t>
            </a:r>
            <a:r>
              <a:rPr lang="en-US" dirty="0"/>
              <a:t> </a:t>
            </a:r>
            <a:r>
              <a:rPr lang="en-US" dirty="0" err="1"/>
              <a:t>каквито</a:t>
            </a:r>
            <a:r>
              <a:rPr lang="en-US" dirty="0"/>
              <a:t> и </a:t>
            </a:r>
            <a:r>
              <a:rPr lang="en-US" dirty="0" err="1"/>
              <a:t>да</a:t>
            </a:r>
            <a:r>
              <a:rPr lang="en-US" dirty="0"/>
              <a:t> е </a:t>
            </a:r>
            <a:r>
              <a:rPr lang="en-US" dirty="0" err="1"/>
              <a:t>проверки</a:t>
            </a:r>
            <a:r>
              <a:rPr lang="en-US" dirty="0"/>
              <a:t> — </a:t>
            </a:r>
            <a:r>
              <a:rPr lang="en-US" dirty="0" err="1"/>
              <a:t>захваща</a:t>
            </a:r>
            <a:r>
              <a:rPr lang="en-US" dirty="0"/>
              <a:t> </a:t>
            </a:r>
            <a:r>
              <a:rPr lang="en-US" dirty="0" err="1"/>
              <a:t>текущото</a:t>
            </a:r>
            <a:r>
              <a:rPr lang="en-US" dirty="0"/>
              <a:t> UTC </a:t>
            </a:r>
            <a:r>
              <a:rPr lang="en-US" dirty="0" err="1"/>
              <a:t>сървърно</a:t>
            </a:r>
            <a:r>
              <a:rPr lang="en-US" dirty="0"/>
              <a:t> </a:t>
            </a:r>
            <a:r>
              <a:rPr lang="en-US" dirty="0" err="1"/>
              <a:t>време</a:t>
            </a:r>
            <a:r>
              <a:rPr lang="en-US" dirty="0"/>
              <a:t>. </a:t>
            </a:r>
            <a:r>
              <a:rPr lang="en-US" dirty="0" err="1"/>
              <a:t>Това</a:t>
            </a:r>
            <a:r>
              <a:rPr lang="en-US" dirty="0"/>
              <a:t> е </a:t>
            </a:r>
            <a:r>
              <a:rPr lang="en-US" dirty="0" err="1"/>
              <a:t>официалният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финиша</a:t>
            </a:r>
            <a:r>
              <a:rPr lang="en-US" dirty="0"/>
              <a:t>. </a:t>
            </a:r>
            <a:r>
              <a:rPr lang="en-US" dirty="0" err="1"/>
              <a:t>След</a:t>
            </a:r>
            <a:r>
              <a:rPr lang="en-US" dirty="0"/>
              <a:t> </a:t>
            </a:r>
            <a:r>
              <a:rPr lang="en-US" dirty="0" err="1"/>
              <a:t>това</a:t>
            </a:r>
            <a:r>
              <a:rPr lang="en-US" dirty="0"/>
              <a:t> </a:t>
            </a:r>
            <a:r>
              <a:rPr lang="en-US" dirty="0" err="1"/>
              <a:t>изчислява</a:t>
            </a:r>
            <a:r>
              <a:rPr lang="en-US" dirty="0"/>
              <a:t> </a:t>
            </a:r>
            <a:r>
              <a:rPr lang="en-US" dirty="0" err="1"/>
              <a:t>резултатното</a:t>
            </a:r>
            <a:r>
              <a:rPr lang="en-US" dirty="0"/>
              <a:t> </a:t>
            </a:r>
            <a:r>
              <a:rPr lang="en-US" dirty="0" err="1" smtClean="0"/>
              <a:t>врем</a:t>
            </a:r>
            <a:r>
              <a:rPr lang="bg-BG" dirty="0" smtClean="0"/>
              <a:t>е</a:t>
            </a:r>
            <a:r>
              <a:rPr lang="en-US" dirty="0" smtClean="0"/>
              <a:t> </a:t>
            </a:r>
            <a:r>
              <a:rPr lang="en-US" dirty="0" err="1"/>
              <a:t>като</a:t>
            </a:r>
            <a:r>
              <a:rPr lang="en-US" dirty="0"/>
              <a:t> </a:t>
            </a:r>
            <a:r>
              <a:rPr lang="en-US" dirty="0" err="1"/>
              <a:t>разлика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момента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финиша</a:t>
            </a:r>
            <a:r>
              <a:rPr lang="en-US" dirty="0"/>
              <a:t> и </a:t>
            </a:r>
            <a:r>
              <a:rPr lang="en-US" dirty="0" err="1"/>
              <a:t>стартовия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да</a:t>
            </a:r>
            <a:r>
              <a:rPr lang="en-US" dirty="0"/>
              <a:t> е </a:t>
            </a:r>
            <a:r>
              <a:rPr lang="en-US" dirty="0" err="1"/>
              <a:t>точно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Класирането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генерира</a:t>
            </a:r>
            <a:r>
              <a:rPr lang="en-US" dirty="0"/>
              <a:t> </a:t>
            </a:r>
            <a:r>
              <a:rPr lang="en-US" dirty="0" err="1"/>
              <a:t>динамично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всяко</a:t>
            </a:r>
            <a:r>
              <a:rPr lang="en-US" dirty="0"/>
              <a:t> </a:t>
            </a:r>
            <a:r>
              <a:rPr lang="en-US" dirty="0" err="1"/>
              <a:t>извличане</a:t>
            </a:r>
            <a:r>
              <a:rPr lang="en-US" dirty="0"/>
              <a:t> — </a:t>
            </a:r>
            <a:r>
              <a:rPr lang="en-US" dirty="0" err="1"/>
              <a:t>участниците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сортират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резултатно</a:t>
            </a:r>
            <a:r>
              <a:rPr lang="en-US" dirty="0"/>
              <a:t> </a:t>
            </a:r>
            <a:r>
              <a:rPr lang="en-US" dirty="0" err="1"/>
              <a:t>време</a:t>
            </a:r>
            <a:r>
              <a:rPr lang="en-US" dirty="0"/>
              <a:t>, а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равенство</a:t>
            </a:r>
            <a:r>
              <a:rPr lang="en-US" dirty="0"/>
              <a:t> —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реда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пристигане</a:t>
            </a:r>
            <a:r>
              <a:rPr lang="en-US" dirty="0"/>
              <a:t>. </a:t>
            </a:r>
            <a:r>
              <a:rPr lang="en-US" dirty="0" err="1"/>
              <a:t>Използвам</a:t>
            </a:r>
            <a:r>
              <a:rPr lang="en-US" dirty="0"/>
              <a:t> </a:t>
            </a:r>
            <a:r>
              <a:rPr lang="en-US" dirty="0" err="1"/>
              <a:t>транзакционно</a:t>
            </a:r>
            <a:r>
              <a:rPr lang="en-US" dirty="0"/>
              <a:t> </a:t>
            </a:r>
            <a:r>
              <a:rPr lang="en-US" dirty="0" err="1"/>
              <a:t>записване</a:t>
            </a:r>
            <a:r>
              <a:rPr lang="en-US" dirty="0"/>
              <a:t>, </a:t>
            </a:r>
            <a:r>
              <a:rPr lang="en-US" dirty="0" err="1"/>
              <a:t>което</a:t>
            </a:r>
            <a:r>
              <a:rPr lang="en-US" dirty="0"/>
              <a:t> </a:t>
            </a:r>
            <a:r>
              <a:rPr lang="en-US" dirty="0" err="1"/>
              <a:t>гарантира</a:t>
            </a:r>
            <a:r>
              <a:rPr lang="en-US" dirty="0"/>
              <a:t>, </a:t>
            </a:r>
            <a:r>
              <a:rPr lang="en-US" dirty="0" err="1"/>
              <a:t>че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грешка</a:t>
            </a:r>
            <a:r>
              <a:rPr lang="en-US" dirty="0"/>
              <a:t> </a:t>
            </a:r>
            <a:r>
              <a:rPr lang="en-US" dirty="0" err="1"/>
              <a:t>данните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остават</a:t>
            </a:r>
            <a:r>
              <a:rPr lang="en-US" dirty="0"/>
              <a:t> в </a:t>
            </a:r>
            <a:r>
              <a:rPr lang="en-US" dirty="0" err="1"/>
              <a:t>непълно</a:t>
            </a:r>
            <a:r>
              <a:rPr lang="en-US" dirty="0"/>
              <a:t> </a:t>
            </a:r>
            <a:r>
              <a:rPr lang="en-US" dirty="0" err="1"/>
              <a:t>съдържание</a:t>
            </a:r>
            <a:r>
              <a:rPr lang="en-US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 err="1"/>
              <a:t>Сигурността</a:t>
            </a:r>
            <a:r>
              <a:rPr lang="en-US" dirty="0"/>
              <a:t> е </a:t>
            </a:r>
            <a:r>
              <a:rPr lang="en-US" dirty="0" err="1"/>
              <a:t>разработена</a:t>
            </a:r>
            <a:r>
              <a:rPr lang="en-US" dirty="0"/>
              <a:t> </a:t>
            </a:r>
            <a:r>
              <a:rPr lang="en-US" dirty="0" err="1"/>
              <a:t>съгласно</a:t>
            </a:r>
            <a:r>
              <a:rPr lang="en-US" dirty="0"/>
              <a:t> </a:t>
            </a:r>
            <a:r>
              <a:rPr lang="en-US" dirty="0" err="1"/>
              <a:t>препоръките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организацията</a:t>
            </a:r>
            <a:r>
              <a:rPr lang="en-US" dirty="0"/>
              <a:t> OWASP, </a:t>
            </a:r>
            <a:r>
              <a:rPr lang="en-US" dirty="0" err="1"/>
              <a:t>която</a:t>
            </a:r>
            <a:r>
              <a:rPr lang="en-US" dirty="0"/>
              <a:t> </a:t>
            </a:r>
            <a:r>
              <a:rPr lang="en-US" dirty="0" err="1"/>
              <a:t>поддържа</a:t>
            </a:r>
            <a:r>
              <a:rPr lang="en-US" dirty="0"/>
              <a:t> </a:t>
            </a:r>
            <a:r>
              <a:rPr lang="en-US" dirty="0" err="1"/>
              <a:t>списък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най-критичните</a:t>
            </a:r>
            <a:r>
              <a:rPr lang="en-US" dirty="0"/>
              <a:t> </a:t>
            </a:r>
            <a:r>
              <a:rPr lang="en-US" dirty="0" err="1"/>
              <a:t>уязвимости</a:t>
            </a:r>
            <a:r>
              <a:rPr lang="en-US" dirty="0"/>
              <a:t> в </a:t>
            </a:r>
            <a:r>
              <a:rPr lang="en-US" dirty="0" err="1"/>
              <a:t>уеб</a:t>
            </a:r>
            <a:r>
              <a:rPr lang="en-US" dirty="0"/>
              <a:t> </a:t>
            </a:r>
            <a:r>
              <a:rPr lang="en-US" dirty="0" err="1"/>
              <a:t>приложенията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Защитата</a:t>
            </a:r>
            <a:r>
              <a:rPr lang="en-US" dirty="0"/>
              <a:t> </a:t>
            </a:r>
            <a:r>
              <a:rPr lang="en-US" dirty="0" err="1"/>
              <a:t>срещу</a:t>
            </a:r>
            <a:r>
              <a:rPr lang="en-US" dirty="0"/>
              <a:t> SQL </a:t>
            </a:r>
            <a:r>
              <a:rPr lang="en-US" dirty="0" err="1"/>
              <a:t>инжекции</a:t>
            </a:r>
            <a:r>
              <a:rPr lang="en-US" dirty="0"/>
              <a:t> е </a:t>
            </a:r>
            <a:r>
              <a:rPr lang="en-US" dirty="0" err="1"/>
              <a:t>постигната</a:t>
            </a:r>
            <a:r>
              <a:rPr lang="en-US" dirty="0"/>
              <a:t> </a:t>
            </a:r>
            <a:r>
              <a:rPr lang="en-US" dirty="0" err="1"/>
              <a:t>чрез</a:t>
            </a:r>
            <a:r>
              <a:rPr lang="en-US" dirty="0"/>
              <a:t> </a:t>
            </a:r>
            <a:r>
              <a:rPr lang="en-US" dirty="0" err="1"/>
              <a:t>изключителното</a:t>
            </a:r>
            <a:r>
              <a:rPr lang="en-US" dirty="0"/>
              <a:t> </a:t>
            </a:r>
            <a:r>
              <a:rPr lang="en-US" dirty="0" err="1"/>
              <a:t>използване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Django ORM — </a:t>
            </a:r>
            <a:r>
              <a:rPr lang="en-US" dirty="0" err="1"/>
              <a:t>никога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конкатенирам</a:t>
            </a:r>
            <a:r>
              <a:rPr lang="en-US" dirty="0"/>
              <a:t> </a:t>
            </a:r>
            <a:r>
              <a:rPr lang="en-US" dirty="0" err="1"/>
              <a:t>потребителски</a:t>
            </a:r>
            <a:r>
              <a:rPr lang="en-US" dirty="0"/>
              <a:t> </a:t>
            </a:r>
            <a:r>
              <a:rPr lang="en-US" dirty="0" err="1"/>
              <a:t>данни</a:t>
            </a:r>
            <a:r>
              <a:rPr lang="en-US" dirty="0"/>
              <a:t> </a:t>
            </a:r>
            <a:r>
              <a:rPr lang="en-US" dirty="0" err="1"/>
              <a:t>директно</a:t>
            </a:r>
            <a:r>
              <a:rPr lang="en-US" dirty="0"/>
              <a:t> в SQL </a:t>
            </a:r>
            <a:r>
              <a:rPr lang="en-US" dirty="0" err="1"/>
              <a:t>заявка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bg-BG" dirty="0" smtClean="0"/>
              <a:t>Защита</a:t>
            </a:r>
            <a:r>
              <a:rPr lang="bg-BG" baseline="0" dirty="0" smtClean="0"/>
              <a:t> срещу </a:t>
            </a:r>
            <a:r>
              <a:rPr lang="en-US" baseline="0" dirty="0" smtClean="0"/>
              <a:t>CSRF </a:t>
            </a:r>
            <a:r>
              <a:rPr lang="bg-BG" baseline="0" dirty="0" smtClean="0"/>
              <a:t>атаки </a:t>
            </a:r>
            <a:r>
              <a:rPr lang="en-US" dirty="0" smtClean="0"/>
              <a:t>е </a:t>
            </a:r>
            <a:r>
              <a:rPr lang="en-US" dirty="0" err="1"/>
              <a:t>осигурена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вградения</a:t>
            </a:r>
            <a:r>
              <a:rPr lang="en-US" dirty="0"/>
              <a:t> </a:t>
            </a:r>
            <a:r>
              <a:rPr lang="en-US" dirty="0" err="1"/>
              <a:t>механизъм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Django с CSRF </a:t>
            </a:r>
            <a:r>
              <a:rPr lang="en-US" dirty="0" err="1"/>
              <a:t>токени</a:t>
            </a:r>
            <a:r>
              <a:rPr lang="en-US" dirty="0"/>
              <a:t> — </a:t>
            </a:r>
            <a:r>
              <a:rPr lang="en-US" dirty="0" err="1"/>
              <a:t>всяка</a:t>
            </a:r>
            <a:r>
              <a:rPr lang="en-US" dirty="0"/>
              <a:t> </a:t>
            </a:r>
            <a:r>
              <a:rPr lang="en-US" dirty="0" err="1"/>
              <a:t>модифицираща</a:t>
            </a:r>
            <a:r>
              <a:rPr lang="en-US" dirty="0"/>
              <a:t> </a:t>
            </a:r>
            <a:r>
              <a:rPr lang="en-US" dirty="0" err="1"/>
              <a:t>заявка</a:t>
            </a:r>
            <a:r>
              <a:rPr lang="en-US" dirty="0"/>
              <a:t> </a:t>
            </a:r>
            <a:r>
              <a:rPr lang="en-US" dirty="0" err="1"/>
              <a:t>трябва</a:t>
            </a:r>
            <a:r>
              <a:rPr lang="en-US" dirty="0"/>
              <a:t> </a:t>
            </a:r>
            <a:r>
              <a:rPr lang="en-US" dirty="0" err="1"/>
              <a:t>да</a:t>
            </a:r>
            <a:r>
              <a:rPr lang="en-US" dirty="0"/>
              <a:t> </a:t>
            </a:r>
            <a:r>
              <a:rPr lang="en-US" dirty="0" err="1"/>
              <a:t>съдържа</a:t>
            </a:r>
            <a:r>
              <a:rPr lang="en-US" dirty="0"/>
              <a:t> </a:t>
            </a:r>
            <a:r>
              <a:rPr lang="en-US" dirty="0" err="1"/>
              <a:t>валиден</a:t>
            </a:r>
            <a:r>
              <a:rPr lang="en-US" dirty="0"/>
              <a:t> </a:t>
            </a:r>
            <a:r>
              <a:rPr lang="en-US" dirty="0" err="1"/>
              <a:t>токен</a:t>
            </a:r>
            <a:r>
              <a:rPr lang="en-US" dirty="0"/>
              <a:t>, </a:t>
            </a:r>
            <a:r>
              <a:rPr lang="en-US" dirty="0" err="1"/>
              <a:t>който</a:t>
            </a:r>
            <a:r>
              <a:rPr lang="en-US" dirty="0"/>
              <a:t> </a:t>
            </a:r>
            <a:r>
              <a:rPr lang="en-US" dirty="0" err="1"/>
              <a:t>злонамерена</a:t>
            </a:r>
            <a:r>
              <a:rPr lang="en-US" dirty="0"/>
              <a:t> </a:t>
            </a:r>
            <a:r>
              <a:rPr lang="en-US" dirty="0" err="1"/>
              <a:t>страница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</a:t>
            </a:r>
            <a:r>
              <a:rPr lang="en-US" dirty="0"/>
              <a:t> </a:t>
            </a:r>
            <a:r>
              <a:rPr lang="en-US" dirty="0" err="1"/>
              <a:t>да</a:t>
            </a:r>
            <a:r>
              <a:rPr lang="en-US" dirty="0"/>
              <a:t> </a:t>
            </a:r>
            <a:r>
              <a:rPr lang="en-US" dirty="0" err="1"/>
              <a:t>знае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Системата</a:t>
            </a:r>
            <a:r>
              <a:rPr lang="en-US" dirty="0"/>
              <a:t> </a:t>
            </a:r>
            <a:r>
              <a:rPr lang="en-US" dirty="0" err="1"/>
              <a:t>прилага</a:t>
            </a:r>
            <a:r>
              <a:rPr lang="en-US" dirty="0"/>
              <a:t> </a:t>
            </a:r>
            <a:r>
              <a:rPr lang="en-US" dirty="0" err="1"/>
              <a:t>принципа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защитата</a:t>
            </a:r>
            <a:r>
              <a:rPr lang="en-US" dirty="0"/>
              <a:t> в </a:t>
            </a:r>
            <a:r>
              <a:rPr lang="en-US" dirty="0" err="1"/>
              <a:t>дълбочина</a:t>
            </a:r>
            <a:r>
              <a:rPr lang="en-US" dirty="0"/>
              <a:t> — </a:t>
            </a:r>
            <a:r>
              <a:rPr lang="en-US" dirty="0" err="1"/>
              <a:t>всяка</a:t>
            </a:r>
            <a:r>
              <a:rPr lang="en-US" dirty="0"/>
              <a:t> </a:t>
            </a:r>
            <a:r>
              <a:rPr lang="en-US" dirty="0" err="1"/>
              <a:t>заявка</a:t>
            </a:r>
            <a:r>
              <a:rPr lang="en-US" dirty="0"/>
              <a:t> </a:t>
            </a:r>
            <a:r>
              <a:rPr lang="en-US" dirty="0" err="1"/>
              <a:t>преминава</a:t>
            </a:r>
            <a:r>
              <a:rPr lang="en-US" dirty="0"/>
              <a:t> </a:t>
            </a:r>
            <a:r>
              <a:rPr lang="en-US" dirty="0" err="1"/>
              <a:t>последователно</a:t>
            </a:r>
            <a:r>
              <a:rPr lang="en-US" dirty="0"/>
              <a:t> </a:t>
            </a:r>
            <a:r>
              <a:rPr lang="en-US" dirty="0" err="1"/>
              <a:t>през</a:t>
            </a:r>
            <a:r>
              <a:rPr lang="en-US" dirty="0"/>
              <a:t> HTTP </a:t>
            </a:r>
            <a:r>
              <a:rPr lang="en-US" dirty="0" err="1"/>
              <a:t>проверка</a:t>
            </a:r>
            <a:r>
              <a:rPr lang="en-US" dirty="0"/>
              <a:t>, </a:t>
            </a:r>
            <a:r>
              <a:rPr lang="en-US" dirty="0" err="1"/>
              <a:t>аутентикация</a:t>
            </a:r>
            <a:r>
              <a:rPr lang="en-US" dirty="0"/>
              <a:t>, </a:t>
            </a:r>
            <a:r>
              <a:rPr lang="en-US" dirty="0" err="1"/>
              <a:t>валидиране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сериализатора</a:t>
            </a:r>
            <a:r>
              <a:rPr lang="en-US" dirty="0"/>
              <a:t>, </a:t>
            </a:r>
            <a:r>
              <a:rPr lang="en-US" dirty="0" err="1"/>
              <a:t>проверка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бизнес</a:t>
            </a:r>
            <a:r>
              <a:rPr lang="en-US" dirty="0"/>
              <a:t> </a:t>
            </a:r>
            <a:r>
              <a:rPr lang="en-US" dirty="0" err="1"/>
              <a:t>логиката</a:t>
            </a:r>
            <a:r>
              <a:rPr lang="en-US" dirty="0"/>
              <a:t> и </a:t>
            </a:r>
            <a:r>
              <a:rPr lang="en-US" dirty="0" err="1"/>
              <a:t>накрая</a:t>
            </a:r>
            <a:r>
              <a:rPr lang="en-US" dirty="0"/>
              <a:t> </a:t>
            </a:r>
            <a:r>
              <a:rPr lang="en-US" dirty="0" err="1"/>
              <a:t>ограниченията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базата</a:t>
            </a:r>
            <a:r>
              <a:rPr lang="en-US" dirty="0"/>
              <a:t> </a:t>
            </a:r>
            <a:r>
              <a:rPr lang="en-US" dirty="0" err="1"/>
              <a:t>данни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Дефинирани</a:t>
            </a:r>
            <a:r>
              <a:rPr lang="en-US" dirty="0"/>
              <a:t> </a:t>
            </a:r>
            <a:r>
              <a:rPr lang="en-US" dirty="0" err="1"/>
              <a:t>са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роли</a:t>
            </a:r>
            <a:r>
              <a:rPr lang="en-US" dirty="0"/>
              <a:t>: </a:t>
            </a:r>
            <a:r>
              <a:rPr lang="en-US" dirty="0" err="1"/>
              <a:t>администратор</a:t>
            </a:r>
            <a:r>
              <a:rPr lang="en-US" dirty="0"/>
              <a:t> с </a:t>
            </a:r>
            <a:r>
              <a:rPr lang="en-US" dirty="0" err="1"/>
              <a:t>пълен</a:t>
            </a:r>
            <a:r>
              <a:rPr lang="en-US" dirty="0"/>
              <a:t> </a:t>
            </a:r>
            <a:r>
              <a:rPr lang="en-US" dirty="0" err="1"/>
              <a:t>достъп</a:t>
            </a:r>
            <a:r>
              <a:rPr lang="en-US" dirty="0"/>
              <a:t> и </a:t>
            </a:r>
            <a:r>
              <a:rPr lang="en-US" dirty="0" err="1"/>
              <a:t>оператор</a:t>
            </a:r>
            <a:r>
              <a:rPr lang="en-US" dirty="0"/>
              <a:t> с </a:t>
            </a:r>
            <a:r>
              <a:rPr lang="en-US" dirty="0" err="1"/>
              <a:t>ограничени</a:t>
            </a:r>
            <a:r>
              <a:rPr lang="en-US" dirty="0"/>
              <a:t> </a:t>
            </a:r>
            <a:r>
              <a:rPr lang="en-US" dirty="0" err="1"/>
              <a:t>права</a:t>
            </a:r>
            <a:r>
              <a:rPr lang="en-US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 err="1"/>
              <a:t>Системата</a:t>
            </a:r>
            <a:r>
              <a:rPr lang="en-US" dirty="0"/>
              <a:t> е </a:t>
            </a:r>
            <a:r>
              <a:rPr lang="en-US" dirty="0" err="1"/>
              <a:t>разработена</a:t>
            </a:r>
            <a:r>
              <a:rPr lang="en-US" dirty="0"/>
              <a:t> с Python и Django framework, </a:t>
            </a:r>
            <a:r>
              <a:rPr lang="en-US" dirty="0" err="1"/>
              <a:t>като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интегрирана</a:t>
            </a:r>
            <a:r>
              <a:rPr lang="en-US" dirty="0"/>
              <a:t> </a:t>
            </a:r>
            <a:r>
              <a:rPr lang="en-US" dirty="0" err="1"/>
              <a:t>среда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програмиране</a:t>
            </a:r>
            <a:r>
              <a:rPr lang="en-US" dirty="0"/>
              <a:t> </a:t>
            </a:r>
            <a:r>
              <a:rPr lang="bg-BG" dirty="0" smtClean="0"/>
              <a:t>е</a:t>
            </a:r>
            <a:r>
              <a:rPr lang="bg-BG" baseline="0" dirty="0" smtClean="0"/>
              <a:t> използвано</a:t>
            </a:r>
            <a:r>
              <a:rPr lang="en-US" dirty="0" smtClean="0"/>
              <a:t> </a:t>
            </a:r>
            <a:r>
              <a:rPr lang="en-US" dirty="0" err="1"/>
              <a:t>PyCharm</a:t>
            </a:r>
            <a:r>
              <a:rPr lang="en-US" dirty="0"/>
              <a:t>.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база</a:t>
            </a:r>
            <a:r>
              <a:rPr lang="en-US" dirty="0"/>
              <a:t> </a:t>
            </a:r>
            <a:r>
              <a:rPr lang="en-US" dirty="0" err="1"/>
              <a:t>данни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разработката</a:t>
            </a:r>
            <a:r>
              <a:rPr lang="en-US" dirty="0"/>
              <a:t> </a:t>
            </a:r>
            <a:r>
              <a:rPr lang="bg-BG" dirty="0" smtClean="0"/>
              <a:t>е</a:t>
            </a:r>
            <a:r>
              <a:rPr lang="bg-BG" baseline="0" dirty="0" smtClean="0"/>
              <a:t> използвано</a:t>
            </a:r>
            <a:r>
              <a:rPr lang="en-US" dirty="0" smtClean="0"/>
              <a:t> </a:t>
            </a:r>
            <a:r>
              <a:rPr lang="en-US" dirty="0"/>
              <a:t>XAMPP .</a:t>
            </a:r>
          </a:p>
          <a:p>
            <a:endParaRPr lang="en-US" dirty="0"/>
          </a:p>
          <a:p>
            <a:r>
              <a:rPr lang="en-US" dirty="0" err="1"/>
              <a:t>Проектът</a:t>
            </a:r>
            <a:r>
              <a:rPr lang="en-US" dirty="0"/>
              <a:t> </a:t>
            </a:r>
            <a:r>
              <a:rPr lang="en-US" dirty="0" err="1"/>
              <a:t>следва</a:t>
            </a:r>
            <a:r>
              <a:rPr lang="en-US" dirty="0"/>
              <a:t> </a:t>
            </a:r>
            <a:r>
              <a:rPr lang="en-US" dirty="0" err="1"/>
              <a:t>стандартната</a:t>
            </a:r>
            <a:r>
              <a:rPr lang="en-US" dirty="0"/>
              <a:t> </a:t>
            </a:r>
            <a:r>
              <a:rPr lang="en-US" dirty="0" err="1"/>
              <a:t>структура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Django </a:t>
            </a:r>
            <a:r>
              <a:rPr lang="en-US" dirty="0" err="1"/>
              <a:t>приложение</a:t>
            </a:r>
            <a:r>
              <a:rPr lang="en-US" dirty="0"/>
              <a:t> — models.py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структурата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данните</a:t>
            </a:r>
            <a:r>
              <a:rPr lang="en-US" dirty="0"/>
              <a:t>, views.py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бизнес</a:t>
            </a:r>
            <a:r>
              <a:rPr lang="en-US" dirty="0"/>
              <a:t> </a:t>
            </a:r>
            <a:r>
              <a:rPr lang="en-US" dirty="0" err="1"/>
              <a:t>логиката</a:t>
            </a:r>
            <a:r>
              <a:rPr lang="en-US" dirty="0"/>
              <a:t>, serializers.py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валидирането</a:t>
            </a:r>
            <a:r>
              <a:rPr lang="en-US" dirty="0"/>
              <a:t> и urls.py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маршрутизацията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Административният</a:t>
            </a:r>
            <a:r>
              <a:rPr lang="en-US" dirty="0"/>
              <a:t> </a:t>
            </a:r>
            <a:r>
              <a:rPr lang="en-US" dirty="0" err="1"/>
              <a:t>панел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Django </a:t>
            </a:r>
            <a:r>
              <a:rPr lang="en-US" dirty="0" err="1"/>
              <a:t>дава</a:t>
            </a:r>
            <a:r>
              <a:rPr lang="en-US" dirty="0"/>
              <a:t> </a:t>
            </a:r>
            <a:r>
              <a:rPr lang="en-US" dirty="0" err="1"/>
              <a:t>пълен</a:t>
            </a:r>
            <a:r>
              <a:rPr lang="en-US" dirty="0"/>
              <a:t> </a:t>
            </a:r>
            <a:r>
              <a:rPr lang="en-US" dirty="0" err="1"/>
              <a:t>контрол</a:t>
            </a:r>
            <a:r>
              <a:rPr lang="en-US" dirty="0"/>
              <a:t> </a:t>
            </a:r>
            <a:r>
              <a:rPr lang="en-US" dirty="0" err="1"/>
              <a:t>върху</a:t>
            </a:r>
            <a:r>
              <a:rPr lang="en-US" dirty="0"/>
              <a:t> </a:t>
            </a:r>
            <a:r>
              <a:rPr lang="en-US" dirty="0" err="1"/>
              <a:t>данните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необходимост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директен</a:t>
            </a:r>
            <a:r>
              <a:rPr lang="en-US" dirty="0"/>
              <a:t> </a:t>
            </a:r>
            <a:r>
              <a:rPr lang="en-US" dirty="0" err="1"/>
              <a:t>достъп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базата</a:t>
            </a:r>
            <a:r>
              <a:rPr lang="en-US" dirty="0"/>
              <a:t> </a:t>
            </a:r>
            <a:r>
              <a:rPr lang="en-US" dirty="0" err="1"/>
              <a:t>данни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Системата</a:t>
            </a:r>
            <a:r>
              <a:rPr lang="en-US" dirty="0"/>
              <a:t> е </a:t>
            </a:r>
            <a:r>
              <a:rPr lang="en-US" dirty="0" err="1"/>
              <a:t>тествана</a:t>
            </a:r>
            <a:r>
              <a:rPr lang="en-US" dirty="0"/>
              <a:t> </a:t>
            </a:r>
            <a:r>
              <a:rPr lang="en-US" dirty="0" err="1"/>
              <a:t>практически</a:t>
            </a:r>
            <a:r>
              <a:rPr lang="en-US" dirty="0"/>
              <a:t> в </a:t>
            </a:r>
            <a:r>
              <a:rPr lang="en-US" dirty="0" err="1" smtClean="0"/>
              <a:t>реална</a:t>
            </a:r>
            <a:r>
              <a:rPr lang="en-US" dirty="0" smtClean="0"/>
              <a:t> с</a:t>
            </a:r>
            <a:r>
              <a:rPr lang="bg-BG" dirty="0" smtClean="0"/>
              <a:t>реда</a:t>
            </a:r>
            <a:r>
              <a:rPr lang="en-US" smtClean="0"/>
              <a:t> Резултатите</a:t>
            </a:r>
            <a:r>
              <a:rPr lang="en-US" dirty="0" smtClean="0"/>
              <a:t> </a:t>
            </a:r>
            <a:r>
              <a:rPr lang="en-US" dirty="0" err="1"/>
              <a:t>потвърдиха</a:t>
            </a:r>
            <a:r>
              <a:rPr lang="en-US" dirty="0"/>
              <a:t>, </a:t>
            </a:r>
            <a:r>
              <a:rPr lang="en-US" dirty="0" err="1"/>
              <a:t>че</a:t>
            </a:r>
            <a:r>
              <a:rPr lang="en-US" dirty="0"/>
              <a:t> </a:t>
            </a:r>
            <a:r>
              <a:rPr lang="en-US" dirty="0" err="1"/>
              <a:t>системата</a:t>
            </a:r>
            <a:r>
              <a:rPr lang="en-US" dirty="0"/>
              <a:t> </a:t>
            </a:r>
            <a:r>
              <a:rPr lang="en-US" dirty="0" err="1"/>
              <a:t>работи</a:t>
            </a:r>
            <a:r>
              <a:rPr lang="en-US" dirty="0"/>
              <a:t> </a:t>
            </a:r>
            <a:r>
              <a:rPr lang="en-US" dirty="0" err="1"/>
              <a:t>стабилно</a:t>
            </a:r>
            <a:r>
              <a:rPr lang="en-US" dirty="0"/>
              <a:t> и </a:t>
            </a:r>
            <a:r>
              <a:rPr lang="en-US" dirty="0" err="1"/>
              <a:t>коректно</a:t>
            </a:r>
            <a:r>
              <a:rPr lang="en-US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 err="1"/>
              <a:t>Като</a:t>
            </a:r>
            <a:r>
              <a:rPr lang="en-US" dirty="0"/>
              <a:t> </a:t>
            </a:r>
            <a:r>
              <a:rPr lang="en-US" dirty="0" err="1"/>
              <a:t>цяло</a:t>
            </a:r>
            <a:r>
              <a:rPr lang="en-US" dirty="0"/>
              <a:t> — </a:t>
            </a:r>
            <a:r>
              <a:rPr lang="en-US" dirty="0" err="1"/>
              <a:t>разработената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успешно</a:t>
            </a:r>
            <a:r>
              <a:rPr lang="en-US" dirty="0"/>
              <a:t> </a:t>
            </a:r>
            <a:r>
              <a:rPr lang="en-US" dirty="0" err="1"/>
              <a:t>решава</a:t>
            </a:r>
            <a:r>
              <a:rPr lang="en-US" dirty="0"/>
              <a:t> </a:t>
            </a:r>
            <a:r>
              <a:rPr lang="en-US" dirty="0" err="1"/>
              <a:t>поставените</a:t>
            </a:r>
            <a:r>
              <a:rPr lang="en-US" dirty="0"/>
              <a:t> </a:t>
            </a:r>
            <a:r>
              <a:rPr lang="en-US" dirty="0" err="1"/>
              <a:t>цели</a:t>
            </a:r>
            <a:r>
              <a:rPr lang="en-US" dirty="0"/>
              <a:t>: </a:t>
            </a:r>
            <a:r>
              <a:rPr lang="en-US" dirty="0" err="1"/>
              <a:t>осигурява</a:t>
            </a:r>
            <a:r>
              <a:rPr lang="en-US" dirty="0"/>
              <a:t> </a:t>
            </a:r>
            <a:r>
              <a:rPr lang="en-US" dirty="0" err="1"/>
              <a:t>точна</a:t>
            </a:r>
            <a:r>
              <a:rPr lang="en-US" dirty="0"/>
              <a:t> </a:t>
            </a:r>
            <a:r>
              <a:rPr lang="en-US" dirty="0" err="1"/>
              <a:t>регистрация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участниците</a:t>
            </a:r>
            <a:r>
              <a:rPr lang="en-US" dirty="0"/>
              <a:t>, </a:t>
            </a:r>
            <a:r>
              <a:rPr lang="en-US" dirty="0" err="1"/>
              <a:t>надеждно</a:t>
            </a:r>
            <a:r>
              <a:rPr lang="en-US" dirty="0"/>
              <a:t> и </a:t>
            </a:r>
            <a:r>
              <a:rPr lang="en-US" dirty="0" err="1"/>
              <a:t>обективно</a:t>
            </a:r>
            <a:r>
              <a:rPr lang="en-US" dirty="0"/>
              <a:t> </a:t>
            </a:r>
            <a:r>
              <a:rPr lang="en-US" dirty="0" err="1"/>
              <a:t>времеизмерване</a:t>
            </a:r>
            <a:r>
              <a:rPr lang="en-US" dirty="0"/>
              <a:t> и </a:t>
            </a:r>
            <a:r>
              <a:rPr lang="en-US" dirty="0" err="1"/>
              <a:t>автоматично</a:t>
            </a:r>
            <a:r>
              <a:rPr lang="en-US" dirty="0"/>
              <a:t> </a:t>
            </a:r>
            <a:r>
              <a:rPr lang="en-US" dirty="0" err="1"/>
              <a:t>формиране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класирането</a:t>
            </a:r>
            <a:r>
              <a:rPr lang="en-US" dirty="0"/>
              <a:t>. </a:t>
            </a:r>
          </a:p>
          <a:p>
            <a:r>
              <a:rPr lang="en-US" dirty="0"/>
              <a:t> </a:t>
            </a:r>
          </a:p>
          <a:p>
            <a:r>
              <a:rPr lang="en-US" dirty="0" err="1"/>
              <a:t>Чрез</a:t>
            </a:r>
            <a:r>
              <a:rPr lang="en-US" dirty="0"/>
              <a:t> </a:t>
            </a:r>
            <a:r>
              <a:rPr lang="en-US" dirty="0" err="1"/>
              <a:t>централизираната</a:t>
            </a:r>
            <a:r>
              <a:rPr lang="en-US" dirty="0"/>
              <a:t> </a:t>
            </a:r>
            <a:r>
              <a:rPr lang="en-US" dirty="0" err="1"/>
              <a:t>сървърна</a:t>
            </a:r>
            <a:r>
              <a:rPr lang="en-US" dirty="0"/>
              <a:t> </a:t>
            </a:r>
            <a:r>
              <a:rPr lang="en-US" dirty="0" err="1"/>
              <a:t>логика</a:t>
            </a:r>
            <a:r>
              <a:rPr lang="en-US" dirty="0"/>
              <a:t> и </a:t>
            </a:r>
            <a:r>
              <a:rPr lang="en-US" dirty="0" err="1"/>
              <a:t>принципа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нулево</a:t>
            </a:r>
            <a:r>
              <a:rPr lang="en-US" dirty="0"/>
              <a:t> </a:t>
            </a:r>
            <a:r>
              <a:rPr lang="en-US" dirty="0" err="1"/>
              <a:t>доверие</a:t>
            </a:r>
            <a:r>
              <a:rPr lang="en-US" dirty="0"/>
              <a:t> </a:t>
            </a:r>
            <a:r>
              <a:rPr lang="en-US" dirty="0" err="1"/>
              <a:t>към</a:t>
            </a:r>
            <a:r>
              <a:rPr lang="en-US" dirty="0"/>
              <a:t> </a:t>
            </a:r>
            <a:r>
              <a:rPr lang="en-US" dirty="0" err="1"/>
              <a:t>клиента</a:t>
            </a:r>
            <a:r>
              <a:rPr lang="en-US" dirty="0"/>
              <a:t> е </a:t>
            </a:r>
            <a:r>
              <a:rPr lang="en-US" dirty="0" err="1"/>
              <a:t>постигната</a:t>
            </a:r>
            <a:r>
              <a:rPr lang="en-US" dirty="0"/>
              <a:t> </a:t>
            </a:r>
            <a:r>
              <a:rPr lang="en-US" dirty="0" err="1"/>
              <a:t>висока</a:t>
            </a:r>
            <a:r>
              <a:rPr lang="en-US" dirty="0"/>
              <a:t> </a:t>
            </a:r>
            <a:r>
              <a:rPr lang="en-US" dirty="0" err="1"/>
              <a:t>степен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сигурност</a:t>
            </a:r>
            <a:r>
              <a:rPr lang="en-US" dirty="0"/>
              <a:t> и </a:t>
            </a:r>
            <a:r>
              <a:rPr lang="en-US" dirty="0" err="1"/>
              <a:t>невъзможност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манипулация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резултатите</a:t>
            </a:r>
            <a:r>
              <a:rPr lang="en-US" dirty="0"/>
              <a:t>. </a:t>
            </a:r>
          </a:p>
          <a:p>
            <a:r>
              <a:rPr lang="en-US" dirty="0"/>
              <a:t> </a:t>
            </a:r>
          </a:p>
          <a:p>
            <a:r>
              <a:rPr lang="en-US" dirty="0" err="1"/>
              <a:t>Системата</a:t>
            </a:r>
            <a:r>
              <a:rPr lang="en-US" dirty="0"/>
              <a:t> </a:t>
            </a:r>
            <a:r>
              <a:rPr lang="en-US" dirty="0" err="1"/>
              <a:t>има</a:t>
            </a:r>
            <a:r>
              <a:rPr lang="en-US" dirty="0"/>
              <a:t> </a:t>
            </a:r>
            <a:r>
              <a:rPr lang="en-US" dirty="0" err="1"/>
              <a:t>потенциал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реално</a:t>
            </a:r>
            <a:r>
              <a:rPr lang="en-US" dirty="0"/>
              <a:t> </a:t>
            </a:r>
            <a:r>
              <a:rPr lang="en-US" dirty="0" err="1"/>
              <a:t>приложение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организирането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лекоатлетически</a:t>
            </a:r>
            <a:r>
              <a:rPr lang="en-US" dirty="0"/>
              <a:t> </a:t>
            </a:r>
            <a:r>
              <a:rPr lang="en-US" dirty="0" err="1"/>
              <a:t>прояви</a:t>
            </a:r>
            <a:r>
              <a:rPr lang="en-US" dirty="0"/>
              <a:t>, а </a:t>
            </a:r>
            <a:r>
              <a:rPr lang="en-US" dirty="0" err="1"/>
              <a:t>архитектурата</a:t>
            </a:r>
            <a:r>
              <a:rPr lang="en-US" dirty="0"/>
              <a:t> </a:t>
            </a:r>
            <a:r>
              <a:rPr lang="en-US" dirty="0" err="1"/>
              <a:t>позволява</a:t>
            </a:r>
            <a:r>
              <a:rPr lang="en-US" dirty="0"/>
              <a:t> </a:t>
            </a:r>
            <a:r>
              <a:rPr lang="en-US" dirty="0" err="1"/>
              <a:t>бъдещо</a:t>
            </a:r>
            <a:r>
              <a:rPr lang="en-US" dirty="0"/>
              <a:t> </a:t>
            </a:r>
            <a:r>
              <a:rPr lang="en-US" dirty="0" err="1"/>
              <a:t>разширяване</a:t>
            </a:r>
            <a:r>
              <a:rPr lang="en-US" dirty="0"/>
              <a:t> — </a:t>
            </a:r>
            <a:r>
              <a:rPr lang="en-US" dirty="0" err="1"/>
              <a:t>например</a:t>
            </a:r>
            <a:r>
              <a:rPr lang="en-US" dirty="0"/>
              <a:t> </a:t>
            </a:r>
            <a:r>
              <a:rPr lang="en-US" dirty="0" err="1"/>
              <a:t>интеграция</a:t>
            </a:r>
            <a:r>
              <a:rPr lang="en-US" dirty="0"/>
              <a:t> с </a:t>
            </a:r>
            <a:r>
              <a:rPr lang="en-US" dirty="0" err="1"/>
              <a:t>хардуерни</a:t>
            </a:r>
            <a:r>
              <a:rPr lang="en-US" dirty="0"/>
              <a:t> </a:t>
            </a:r>
            <a:r>
              <a:rPr lang="en-US" dirty="0" err="1"/>
              <a:t>детектори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автоматично</a:t>
            </a:r>
            <a:r>
              <a:rPr lang="en-US" dirty="0"/>
              <a:t> </a:t>
            </a:r>
            <a:r>
              <a:rPr lang="en-US" dirty="0" err="1"/>
              <a:t>отчитане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финиш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генериране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PDF </a:t>
            </a:r>
            <a:r>
              <a:rPr lang="en-US" dirty="0" err="1"/>
              <a:t>протоколи</a:t>
            </a:r>
            <a:r>
              <a:rPr lang="en-US" dirty="0"/>
              <a:t>. </a:t>
            </a:r>
          </a:p>
          <a:p>
            <a:r>
              <a:rPr lang="en-US" dirty="0"/>
              <a:t> </a:t>
            </a:r>
          </a:p>
          <a:p>
            <a:r>
              <a:rPr lang="en-US" dirty="0" err="1"/>
              <a:t>Проектът</a:t>
            </a:r>
            <a:r>
              <a:rPr lang="en-US" dirty="0"/>
              <a:t> </a:t>
            </a:r>
            <a:r>
              <a:rPr lang="en-US" dirty="0" err="1"/>
              <a:t>ми</a:t>
            </a:r>
            <a:r>
              <a:rPr lang="en-US" dirty="0"/>
              <a:t> </a:t>
            </a:r>
            <a:r>
              <a:rPr lang="en-US" dirty="0" err="1"/>
              <a:t>даде</a:t>
            </a:r>
            <a:r>
              <a:rPr lang="en-US" dirty="0"/>
              <a:t> </a:t>
            </a:r>
            <a:r>
              <a:rPr lang="en-US" dirty="0" err="1"/>
              <a:t>възможност</a:t>
            </a:r>
            <a:r>
              <a:rPr lang="en-US" dirty="0"/>
              <a:t> </a:t>
            </a:r>
            <a:r>
              <a:rPr lang="en-US" dirty="0" err="1"/>
              <a:t>да</a:t>
            </a:r>
            <a:r>
              <a:rPr lang="en-US" dirty="0"/>
              <a:t> </a:t>
            </a:r>
            <a:r>
              <a:rPr lang="en-US" dirty="0" err="1"/>
              <a:t>приложа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практика</a:t>
            </a:r>
            <a:r>
              <a:rPr lang="en-US" dirty="0"/>
              <a:t> </a:t>
            </a:r>
            <a:r>
              <a:rPr lang="en-US" dirty="0" err="1"/>
              <a:t>знания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областта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уеб</a:t>
            </a:r>
            <a:r>
              <a:rPr lang="en-US" dirty="0"/>
              <a:t> </a:t>
            </a:r>
            <a:r>
              <a:rPr lang="en-US" dirty="0" err="1"/>
              <a:t>технологиите</a:t>
            </a:r>
            <a:r>
              <a:rPr lang="en-US" dirty="0"/>
              <a:t>, </a:t>
            </a:r>
            <a:r>
              <a:rPr lang="en-US" dirty="0" err="1"/>
              <a:t>алгоритмите</a:t>
            </a:r>
            <a:r>
              <a:rPr lang="en-US" dirty="0"/>
              <a:t>, </a:t>
            </a:r>
            <a:r>
              <a:rPr lang="en-US" dirty="0" err="1"/>
              <a:t>базите</a:t>
            </a:r>
            <a:r>
              <a:rPr lang="en-US" dirty="0"/>
              <a:t> </a:t>
            </a:r>
            <a:r>
              <a:rPr lang="en-US" dirty="0" err="1"/>
              <a:t>данни</a:t>
            </a:r>
            <a:r>
              <a:rPr lang="en-US" dirty="0"/>
              <a:t> и </a:t>
            </a:r>
            <a:r>
              <a:rPr lang="en-US" dirty="0" err="1"/>
              <a:t>информационната</a:t>
            </a:r>
            <a:r>
              <a:rPr lang="en-US" dirty="0"/>
              <a:t> </a:t>
            </a:r>
            <a:r>
              <a:rPr lang="en-US" dirty="0" err="1"/>
              <a:t>сигурност</a:t>
            </a:r>
            <a:r>
              <a:rPr lang="en-US" dirty="0"/>
              <a:t>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Благодаря</a:t>
            </a:r>
            <a:r>
              <a:rPr lang="bg-BG" baseline="0" dirty="0" smtClean="0"/>
              <a:t> ви за вашето вниманието. Ако имате въпроси, аз съм готов да отговоря.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7634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jpe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5.pn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jpe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.jpe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14.png"/><Relationship Id="rId9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240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3416" b="-83416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875565" y="689559"/>
            <a:ext cx="2442811" cy="2448302"/>
          </a:xfrm>
          <a:custGeom>
            <a:avLst/>
            <a:gdLst/>
            <a:ahLst/>
            <a:cxnLst/>
            <a:rect l="l" t="t" r="r" b="b"/>
            <a:pathLst>
              <a:path w="2017422" h="2024978">
                <a:moveTo>
                  <a:pt x="0" y="0"/>
                </a:moveTo>
                <a:lnTo>
                  <a:pt x="2017422" y="0"/>
                </a:lnTo>
                <a:lnTo>
                  <a:pt x="2017422" y="2024978"/>
                </a:lnTo>
                <a:lnTo>
                  <a:pt x="0" y="20249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948117" y="684116"/>
            <a:ext cx="8396283" cy="22241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24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Държавенизпит</a:t>
            </a:r>
            <a:r>
              <a:rPr lang="en-US" sz="24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</a:t>
            </a:r>
            <a:r>
              <a:rPr lang="en-US" sz="24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придобиване</a:t>
            </a:r>
            <a:r>
              <a:rPr lang="en-US" sz="24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</a:t>
            </a:r>
            <a:r>
              <a:rPr lang="en-US" sz="24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трета</a:t>
            </a:r>
            <a:r>
              <a:rPr lang="en-US" sz="24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степен</a:t>
            </a:r>
            <a:r>
              <a:rPr lang="en-US" sz="24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</a:t>
            </a:r>
            <a:r>
              <a:rPr lang="en-US" sz="24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професионална</a:t>
            </a:r>
            <a:r>
              <a:rPr lang="en-US" sz="24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квалификация</a:t>
            </a:r>
            <a:r>
              <a:rPr lang="en-US" sz="24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</a:t>
            </a:r>
            <a:r>
              <a:rPr lang="en-US" sz="24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част</a:t>
            </a:r>
            <a:r>
              <a:rPr lang="en-US" sz="24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</a:t>
            </a:r>
            <a:r>
              <a:rPr lang="en-US" sz="24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теория</a:t>
            </a:r>
            <a:endParaRPr lang="en-US" sz="2400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</a:t>
            </a:r>
            <a:r>
              <a:rPr lang="en-US" sz="24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професията</a:t>
            </a:r>
            <a:endParaRPr lang="en-US" sz="2400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2519"/>
              </a:lnSpc>
              <a:spcBef>
                <a:spcPct val="0"/>
              </a:spcBef>
            </a:pPr>
            <a:endParaRPr lang="en-US" sz="2400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</a:t>
            </a:r>
            <a:r>
              <a:rPr lang="en-US" sz="24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професия</a:t>
            </a:r>
            <a:r>
              <a:rPr lang="en-US" sz="24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код</a:t>
            </a:r>
            <a:r>
              <a:rPr lang="en-US" sz="24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481020 „</a:t>
            </a:r>
            <a:r>
              <a:rPr lang="en-US" sz="24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Системен</a:t>
            </a:r>
            <a:r>
              <a:rPr lang="en-US" sz="24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програмист</a:t>
            </a:r>
            <a:r>
              <a:rPr lang="en-US" sz="24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”</a:t>
            </a:r>
          </a:p>
          <a:p>
            <a:pPr algn="ctr">
              <a:lnSpc>
                <a:spcPts val="2519"/>
              </a:lnSpc>
              <a:spcBef>
                <a:spcPct val="0"/>
              </a:spcBef>
            </a:pPr>
            <a:endParaRPr lang="en-US" sz="2400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24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специалност</a:t>
            </a:r>
            <a:r>
              <a:rPr lang="en-US" sz="24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код</a:t>
            </a:r>
            <a:r>
              <a:rPr lang="en-US" sz="24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4810201 „</a:t>
            </a:r>
            <a:r>
              <a:rPr lang="en-US" sz="24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Системнопрограмиране</a:t>
            </a:r>
            <a:r>
              <a:rPr lang="en-US" sz="24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”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75565" y="4610100"/>
            <a:ext cx="9606111" cy="847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800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Тема</a:t>
            </a:r>
            <a:r>
              <a:rPr lang="en-US" sz="2800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</a:t>
            </a:r>
            <a:r>
              <a:rPr lang="en-US" sz="2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Система</a:t>
            </a:r>
            <a:r>
              <a:rPr lang="en-US" sz="2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</a:t>
            </a:r>
            <a:r>
              <a:rPr lang="en-US" sz="2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времеизмерване</a:t>
            </a:r>
            <a:r>
              <a:rPr lang="en-US" sz="2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</a:t>
            </a:r>
            <a:r>
              <a:rPr lang="en-US" sz="2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масови</a:t>
            </a:r>
            <a:r>
              <a:rPr lang="en-US" sz="2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лекоатлетически</a:t>
            </a:r>
            <a:r>
              <a:rPr lang="en-US" sz="2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състезания</a:t>
            </a:r>
            <a:r>
              <a:rPr lang="en-US" sz="2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506200" y="6219317"/>
            <a:ext cx="3745807" cy="756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800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Дипломант</a:t>
            </a:r>
            <a:r>
              <a:rPr lang="en-US" sz="2800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Виктор</a:t>
            </a:r>
            <a:r>
              <a:rPr lang="en-US" sz="20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Василев</a:t>
            </a:r>
            <a:endParaRPr lang="en-US" sz="2000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586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3416" b="-83416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573316" y="-337895"/>
            <a:ext cx="1785128" cy="1789602"/>
          </a:xfrm>
          <a:custGeom>
            <a:avLst/>
            <a:gdLst/>
            <a:ahLst/>
            <a:cxnLst/>
            <a:rect l="l" t="t" r="r" b="b"/>
            <a:pathLst>
              <a:path w="1785128" h="1789602">
                <a:moveTo>
                  <a:pt x="0" y="0"/>
                </a:moveTo>
                <a:lnTo>
                  <a:pt x="1785128" y="0"/>
                </a:lnTo>
                <a:lnTo>
                  <a:pt x="1785128" y="1789602"/>
                </a:lnTo>
                <a:lnTo>
                  <a:pt x="0" y="17896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534400" y="2369187"/>
            <a:ext cx="8256693" cy="7396754"/>
          </a:xfrm>
          <a:custGeom>
            <a:avLst/>
            <a:gdLst/>
            <a:ahLst/>
            <a:cxnLst/>
            <a:rect l="l" t="t" r="r" b="b"/>
            <a:pathLst>
              <a:path w="7272978" h="7396754">
                <a:moveTo>
                  <a:pt x="0" y="0"/>
                </a:moveTo>
                <a:lnTo>
                  <a:pt x="7272979" y="0"/>
                </a:lnTo>
                <a:lnTo>
                  <a:pt x="7272979" y="7396753"/>
                </a:lnTo>
                <a:lnTo>
                  <a:pt x="0" y="73967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0774" r="-32448"/>
            </a:stretch>
          </a:blipFill>
          <a:ln>
            <a:solidFill>
              <a:schemeClr val="tx1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496906" y="1461232"/>
            <a:ext cx="15294187" cy="1286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71"/>
              </a:lnSpc>
            </a:pPr>
            <a:r>
              <a:rPr lang="en-US" sz="4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ПРОБЛЕМЪТ — ЗАЩО Е НУЖНА ТАКАВА СИСТЕМА?</a:t>
            </a:r>
          </a:p>
          <a:p>
            <a:pPr algn="just">
              <a:lnSpc>
                <a:spcPts val="4971"/>
              </a:lnSpc>
            </a:pPr>
            <a:endParaRPr lang="en-US" sz="4399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496906" y="4878799"/>
            <a:ext cx="6123094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8165" lvl="1" indent="-259082" algn="l">
              <a:lnSpc>
                <a:spcPts val="3360"/>
              </a:lnSpc>
              <a:buFont typeface="Arial"/>
              <a:buChar char="•"/>
            </a:pPr>
            <a:r>
              <a:rPr lang="en-US" sz="28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Проблемът</a:t>
            </a:r>
            <a:r>
              <a:rPr lang="en-US" sz="2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от</a:t>
            </a:r>
            <a:r>
              <a:rPr lang="en-US" sz="2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човешка</a:t>
            </a:r>
            <a:r>
              <a:rPr lang="en-US" sz="2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грешка</a:t>
            </a:r>
            <a:endParaRPr lang="en-US" sz="28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496906" y="5396568"/>
            <a:ext cx="3608494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8165" lvl="1" indent="-259082" algn="l">
              <a:lnSpc>
                <a:spcPts val="3360"/>
              </a:lnSpc>
              <a:buFont typeface="Arial"/>
              <a:buChar char="•"/>
            </a:pPr>
            <a:r>
              <a:rPr lang="en-US" sz="28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По-надежно</a:t>
            </a:r>
            <a:endParaRPr lang="en-US" sz="28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496906" y="5914338"/>
            <a:ext cx="4446694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8165" lvl="1" indent="-259082" algn="l">
              <a:lnSpc>
                <a:spcPts val="3360"/>
              </a:lnSpc>
              <a:buFont typeface="Arial"/>
              <a:buChar char="•"/>
            </a:pPr>
            <a:r>
              <a:rPr lang="en-US" sz="2800" dirty="0" err="1" smtClean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По-практично</a:t>
            </a:r>
            <a:endParaRPr lang="en-US" sz="28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3416" b="-83416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247169" y="-1409700"/>
            <a:ext cx="9353441" cy="6757861"/>
          </a:xfrm>
          <a:custGeom>
            <a:avLst/>
            <a:gdLst/>
            <a:ahLst/>
            <a:cxnLst/>
            <a:rect l="l" t="t" r="r" b="b"/>
            <a:pathLst>
              <a:path w="9353441" h="6757861">
                <a:moveTo>
                  <a:pt x="0" y="0"/>
                </a:moveTo>
                <a:lnTo>
                  <a:pt x="9353442" y="0"/>
                </a:lnTo>
                <a:lnTo>
                  <a:pt x="9353442" y="6757862"/>
                </a:lnTo>
                <a:lnTo>
                  <a:pt x="0" y="67578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2354384">
            <a:off x="14313366" y="8592645"/>
            <a:ext cx="5491802" cy="6646029"/>
          </a:xfrm>
          <a:custGeom>
            <a:avLst/>
            <a:gdLst/>
            <a:ahLst/>
            <a:cxnLst/>
            <a:rect l="l" t="t" r="r" b="b"/>
            <a:pathLst>
              <a:path w="5491802" h="6646029">
                <a:moveTo>
                  <a:pt x="0" y="0"/>
                </a:moveTo>
                <a:lnTo>
                  <a:pt x="5491801" y="0"/>
                </a:lnTo>
                <a:lnTo>
                  <a:pt x="5491801" y="6646028"/>
                </a:lnTo>
                <a:lnTo>
                  <a:pt x="0" y="66460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537020" y="2476501"/>
            <a:ext cx="11559980" cy="7425158"/>
          </a:xfrm>
          <a:custGeom>
            <a:avLst/>
            <a:gdLst/>
            <a:ahLst/>
            <a:cxnLst/>
            <a:rect l="l" t="t" r="r" b="b"/>
            <a:pathLst>
              <a:path w="10264581" h="6158748">
                <a:moveTo>
                  <a:pt x="0" y="0"/>
                </a:moveTo>
                <a:lnTo>
                  <a:pt x="10264580" y="0"/>
                </a:lnTo>
                <a:lnTo>
                  <a:pt x="10264580" y="6158748"/>
                </a:lnTo>
                <a:lnTo>
                  <a:pt x="0" y="61587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543800" y="4941041"/>
            <a:ext cx="1018095" cy="1013296"/>
          </a:xfrm>
          <a:custGeom>
            <a:avLst/>
            <a:gdLst/>
            <a:ahLst/>
            <a:cxnLst/>
            <a:rect l="l" t="t" r="r" b="b"/>
            <a:pathLst>
              <a:path w="732435" h="732435">
                <a:moveTo>
                  <a:pt x="0" y="0"/>
                </a:moveTo>
                <a:lnTo>
                  <a:pt x="732435" y="0"/>
                </a:lnTo>
                <a:lnTo>
                  <a:pt x="732435" y="732435"/>
                </a:lnTo>
                <a:lnTo>
                  <a:pt x="0" y="732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92810" y="515543"/>
            <a:ext cx="1271781" cy="1269468"/>
          </a:xfrm>
          <a:custGeom>
            <a:avLst/>
            <a:gdLst/>
            <a:ahLst/>
            <a:cxnLst/>
            <a:rect l="l" t="t" r="r" b="b"/>
            <a:pathLst>
              <a:path w="1271781" h="1269468">
                <a:moveTo>
                  <a:pt x="0" y="0"/>
                </a:moveTo>
                <a:lnTo>
                  <a:pt x="1271780" y="0"/>
                </a:lnTo>
                <a:lnTo>
                  <a:pt x="1271780" y="1269468"/>
                </a:lnTo>
                <a:lnTo>
                  <a:pt x="0" y="1269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1644935"/>
            <a:ext cx="15294187" cy="1915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71"/>
              </a:lnSpc>
            </a:pPr>
            <a:r>
              <a:rPr lang="en-US" sz="4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ТЕОРЕТИЧНА ОСНОВА</a:t>
            </a:r>
          </a:p>
          <a:p>
            <a:pPr algn="ctr">
              <a:lnSpc>
                <a:spcPts val="4971"/>
              </a:lnSpc>
            </a:pPr>
            <a:endParaRPr lang="en-US" sz="4399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4971"/>
              </a:lnSpc>
            </a:pPr>
            <a:endParaRPr lang="en-US" sz="4399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3416" b="-83416"/>
            </a:stretch>
          </a:blipFill>
        </p:spPr>
      </p:sp>
      <p:sp>
        <p:nvSpPr>
          <p:cNvPr id="4" name="Freeform 4"/>
          <p:cNvSpPr/>
          <p:nvPr/>
        </p:nvSpPr>
        <p:spPr>
          <a:xfrm rot="-1338189">
            <a:off x="2547558" y="6918076"/>
            <a:ext cx="21316171" cy="7274224"/>
          </a:xfrm>
          <a:custGeom>
            <a:avLst/>
            <a:gdLst/>
            <a:ahLst/>
            <a:cxnLst/>
            <a:rect l="l" t="t" r="r" b="b"/>
            <a:pathLst>
              <a:path w="21316171" h="7274224">
                <a:moveTo>
                  <a:pt x="0" y="0"/>
                </a:moveTo>
                <a:lnTo>
                  <a:pt x="21316171" y="0"/>
                </a:lnTo>
                <a:lnTo>
                  <a:pt x="21316171" y="7274224"/>
                </a:lnTo>
                <a:lnTo>
                  <a:pt x="0" y="72742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676155" y="2966390"/>
            <a:ext cx="14878026" cy="6784235"/>
            <a:chOff x="0" y="0"/>
            <a:chExt cx="19275635" cy="8561315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5"/>
            <a:srcRect l="1243" r="1243" b="34923"/>
            <a:stretch>
              <a:fillRect/>
            </a:stretch>
          </p:blipFill>
          <p:spPr>
            <a:xfrm>
              <a:off x="0" y="0"/>
              <a:ext cx="12765757" cy="4217157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6"/>
            <a:srcRect l="28557" r="34258"/>
            <a:stretch>
              <a:fillRect/>
            </a:stretch>
          </p:blipFill>
          <p:spPr>
            <a:xfrm>
              <a:off x="12892757" y="0"/>
              <a:ext cx="6382878" cy="8561315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7"/>
            <a:srcRect t="4015" b="54102"/>
            <a:stretch>
              <a:fillRect/>
            </a:stretch>
          </p:blipFill>
          <p:spPr>
            <a:xfrm>
              <a:off x="0" y="4344157"/>
              <a:ext cx="12765757" cy="4217157"/>
            </a:xfrm>
            <a:prstGeom prst="rect">
              <a:avLst/>
            </a:prstGeom>
          </p:spPr>
        </p:pic>
      </p:grpSp>
      <p:sp>
        <p:nvSpPr>
          <p:cNvPr id="9" name="Freeform 9"/>
          <p:cNvSpPr/>
          <p:nvPr/>
        </p:nvSpPr>
        <p:spPr>
          <a:xfrm rot="1133710">
            <a:off x="-2855299" y="-4381249"/>
            <a:ext cx="8225491" cy="8229600"/>
          </a:xfrm>
          <a:custGeom>
            <a:avLst/>
            <a:gdLst/>
            <a:ahLst/>
            <a:cxnLst/>
            <a:rect l="l" t="t" r="r" b="b"/>
            <a:pathLst>
              <a:path w="8225491" h="8229600">
                <a:moveTo>
                  <a:pt x="0" y="0"/>
                </a:moveTo>
                <a:lnTo>
                  <a:pt x="8225492" y="0"/>
                </a:lnTo>
                <a:lnTo>
                  <a:pt x="822549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496906" y="1400030"/>
            <a:ext cx="15294187" cy="658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71"/>
              </a:lnSpc>
            </a:pPr>
            <a:r>
              <a:rPr lang="en-US" sz="4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АРХИТЕКТУРА НА СИСТЕМАТА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6155" y="5607070"/>
            <a:ext cx="5874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4400" dirty="0" smtClean="0">
                <a:latin typeface="Arial Black" panose="020B0A04020102020204" pitchFamily="34" charset="0"/>
              </a:rPr>
              <a:t>1</a:t>
            </a:r>
            <a:endParaRPr lang="bg-BG" sz="4400" dirty="0">
              <a:latin typeface="Arial Black" panose="020B0A040201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040081" y="6401565"/>
            <a:ext cx="5874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4400" dirty="0" smtClean="0">
                <a:latin typeface="Arial Black" panose="020B0A04020102020204" pitchFamily="34" charset="0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984677" y="2883744"/>
            <a:ext cx="5874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4400" dirty="0" smtClean="0">
                <a:latin typeface="Arial Black" panose="020B0A04020102020204" pitchFamily="34" charset="0"/>
              </a:rPr>
              <a:t>3</a:t>
            </a:r>
          </a:p>
          <a:p>
            <a:endParaRPr lang="bg-BG" sz="28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09" y="-1229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3416" b="-83416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362200" y="3086100"/>
            <a:ext cx="13198621" cy="4350929"/>
            <a:chOff x="0" y="0"/>
            <a:chExt cx="16551626" cy="5372176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 l="7415" r="7415" b="73076"/>
            <a:stretch>
              <a:fillRect/>
            </a:stretch>
          </p:blipFill>
          <p:spPr>
            <a:xfrm>
              <a:off x="0" y="0"/>
              <a:ext cx="16551626" cy="2609559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5"/>
            <a:srcRect t="7327" b="51223"/>
            <a:stretch>
              <a:fillRect/>
            </a:stretch>
          </p:blipFill>
          <p:spPr>
            <a:xfrm>
              <a:off x="0" y="2762616"/>
              <a:ext cx="16551626" cy="2609559"/>
            </a:xfrm>
            <a:prstGeom prst="rect">
              <a:avLst/>
            </a:prstGeom>
          </p:spPr>
        </p:pic>
      </p:grpSp>
      <p:sp>
        <p:nvSpPr>
          <p:cNvPr id="11" name="Freeform 11"/>
          <p:cNvSpPr/>
          <p:nvPr/>
        </p:nvSpPr>
        <p:spPr>
          <a:xfrm>
            <a:off x="16340706" y="8225724"/>
            <a:ext cx="2048982" cy="2048982"/>
          </a:xfrm>
          <a:custGeom>
            <a:avLst/>
            <a:gdLst/>
            <a:ahLst/>
            <a:cxnLst/>
            <a:rect l="l" t="t" r="r" b="b"/>
            <a:pathLst>
              <a:path w="2048982" h="2048982">
                <a:moveTo>
                  <a:pt x="0" y="0"/>
                </a:moveTo>
                <a:lnTo>
                  <a:pt x="2048982" y="0"/>
                </a:lnTo>
                <a:lnTo>
                  <a:pt x="2048982" y="2048982"/>
                </a:lnTo>
                <a:lnTo>
                  <a:pt x="0" y="20489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362200" y="7776209"/>
            <a:ext cx="13198621" cy="1482091"/>
          </a:xfrm>
          <a:custGeom>
            <a:avLst/>
            <a:gdLst/>
            <a:ahLst/>
            <a:cxnLst/>
            <a:rect l="l" t="t" r="r" b="b"/>
            <a:pathLst>
              <a:path w="12413719" h="843253">
                <a:moveTo>
                  <a:pt x="0" y="0"/>
                </a:moveTo>
                <a:lnTo>
                  <a:pt x="12413719" y="0"/>
                </a:lnTo>
                <a:lnTo>
                  <a:pt x="12413719" y="843253"/>
                </a:lnTo>
                <a:lnTo>
                  <a:pt x="0" y="8432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5225" t="-11814" b="-11814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496906" y="1678572"/>
            <a:ext cx="15294187" cy="658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71"/>
              </a:lnSpc>
            </a:pPr>
            <a:r>
              <a:rPr lang="en-US" sz="43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БАЗА ДАННИ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73575" y="7747813"/>
            <a:ext cx="33855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4400" dirty="0">
                <a:latin typeface="Arial Black" panose="020B0A04020102020204" pitchFamily="34" charset="0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10917" y="5224847"/>
            <a:ext cx="33855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4400" dirty="0" smtClean="0">
                <a:latin typeface="Arial Black" panose="020B0A04020102020204" pitchFamily="34" charset="0"/>
              </a:rPr>
              <a:t>2</a:t>
            </a:r>
            <a:endParaRPr lang="bg-BG" sz="4400" dirty="0">
              <a:latin typeface="Arial Black" panose="020B0A040201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310917" y="2974339"/>
            <a:ext cx="33855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4400" dirty="0" smtClean="0">
                <a:latin typeface="Arial Black" panose="020B0A04020102020204" pitchFamily="34" charset="0"/>
              </a:rPr>
              <a:t>3</a:t>
            </a:r>
            <a:endParaRPr lang="bg-BG" sz="44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3416" b="-83416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296400" y="5525779"/>
            <a:ext cx="8421794" cy="4534798"/>
          </a:xfrm>
          <a:custGeom>
            <a:avLst/>
            <a:gdLst/>
            <a:ahLst/>
            <a:cxnLst/>
            <a:rect l="l" t="t" r="r" b="b"/>
            <a:pathLst>
              <a:path w="7774094" h="4213828">
                <a:moveTo>
                  <a:pt x="0" y="0"/>
                </a:moveTo>
                <a:lnTo>
                  <a:pt x="7774094" y="0"/>
                </a:lnTo>
                <a:lnTo>
                  <a:pt x="7774094" y="4213828"/>
                </a:lnTo>
                <a:lnTo>
                  <a:pt x="0" y="4213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2755"/>
            </a:stretch>
          </a:blipFill>
          <a:ln>
            <a:solidFill>
              <a:schemeClr val="tx1"/>
            </a:solidFill>
          </a:ln>
        </p:spPr>
      </p:sp>
      <p:sp>
        <p:nvSpPr>
          <p:cNvPr id="6" name="Freeform 6"/>
          <p:cNvSpPr/>
          <p:nvPr/>
        </p:nvSpPr>
        <p:spPr>
          <a:xfrm>
            <a:off x="4114800" y="1998034"/>
            <a:ext cx="9829800" cy="3373168"/>
          </a:xfrm>
          <a:custGeom>
            <a:avLst/>
            <a:gdLst/>
            <a:ahLst/>
            <a:cxnLst/>
            <a:rect l="l" t="t" r="r" b="b"/>
            <a:pathLst>
              <a:path w="7988300" h="2661977">
                <a:moveTo>
                  <a:pt x="0" y="0"/>
                </a:moveTo>
                <a:lnTo>
                  <a:pt x="7988300" y="0"/>
                </a:lnTo>
                <a:lnTo>
                  <a:pt x="7988300" y="2661977"/>
                </a:lnTo>
                <a:lnTo>
                  <a:pt x="0" y="26619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30" t="-16926" b="-89381"/>
            </a:stretch>
          </a:blipFill>
          <a:ln>
            <a:solidFill>
              <a:schemeClr val="tx1"/>
            </a:solidFill>
          </a:ln>
        </p:spPr>
      </p:sp>
      <p:sp>
        <p:nvSpPr>
          <p:cNvPr id="7" name="Freeform 7"/>
          <p:cNvSpPr/>
          <p:nvPr/>
        </p:nvSpPr>
        <p:spPr>
          <a:xfrm>
            <a:off x="549840" y="5525779"/>
            <a:ext cx="8473329" cy="4534798"/>
          </a:xfrm>
          <a:custGeom>
            <a:avLst/>
            <a:gdLst/>
            <a:ahLst/>
            <a:cxnLst/>
            <a:rect l="l" t="t" r="r" b="b"/>
            <a:pathLst>
              <a:path w="7776507" h="4268748">
                <a:moveTo>
                  <a:pt x="0" y="0"/>
                </a:moveTo>
                <a:lnTo>
                  <a:pt x="7776506" y="0"/>
                </a:lnTo>
                <a:lnTo>
                  <a:pt x="7776506" y="4268748"/>
                </a:lnTo>
                <a:lnTo>
                  <a:pt x="0" y="42687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286" r="-2723"/>
            </a:stretch>
          </a:blipFill>
          <a:ln>
            <a:solidFill>
              <a:schemeClr val="tx1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382622" y="1075358"/>
            <a:ext cx="15294187" cy="658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71"/>
              </a:lnSpc>
            </a:pPr>
            <a:r>
              <a:rPr lang="en-US" sz="43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КРАЕН АВТОМАТ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3416" b="-83416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147087" y="-1614361"/>
            <a:ext cx="9353441" cy="6757861"/>
          </a:xfrm>
          <a:custGeom>
            <a:avLst/>
            <a:gdLst/>
            <a:ahLst/>
            <a:cxnLst/>
            <a:rect l="l" t="t" r="r" b="b"/>
            <a:pathLst>
              <a:path w="9353441" h="6757861">
                <a:moveTo>
                  <a:pt x="0" y="0"/>
                </a:moveTo>
                <a:lnTo>
                  <a:pt x="9353441" y="0"/>
                </a:lnTo>
                <a:lnTo>
                  <a:pt x="9353441" y="6757861"/>
                </a:lnTo>
                <a:lnTo>
                  <a:pt x="0" y="67578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4468839" y="8983173"/>
            <a:ext cx="8708571" cy="8229600"/>
          </a:xfrm>
          <a:custGeom>
            <a:avLst/>
            <a:gdLst/>
            <a:ahLst/>
            <a:cxnLst/>
            <a:rect l="l" t="t" r="r" b="b"/>
            <a:pathLst>
              <a:path w="8708571" h="8229600">
                <a:moveTo>
                  <a:pt x="0" y="0"/>
                </a:moveTo>
                <a:lnTo>
                  <a:pt x="8708572" y="0"/>
                </a:lnTo>
                <a:lnTo>
                  <a:pt x="870857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78425" y="2679071"/>
            <a:ext cx="4470472" cy="6579229"/>
          </a:xfrm>
          <a:custGeom>
            <a:avLst/>
            <a:gdLst/>
            <a:ahLst/>
            <a:cxnLst/>
            <a:rect l="l" t="t" r="r" b="b"/>
            <a:pathLst>
              <a:path w="4470472" h="6579229">
                <a:moveTo>
                  <a:pt x="0" y="0"/>
                </a:moveTo>
                <a:lnTo>
                  <a:pt x="4470472" y="0"/>
                </a:lnTo>
                <a:lnTo>
                  <a:pt x="4470472" y="6579229"/>
                </a:lnTo>
                <a:lnTo>
                  <a:pt x="0" y="65792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7238" r="-80391"/>
            </a:stretch>
          </a:blipFill>
          <a:ln>
            <a:solidFill>
              <a:schemeClr val="tx1"/>
            </a:solidFill>
          </a:ln>
        </p:spPr>
      </p:sp>
      <p:sp>
        <p:nvSpPr>
          <p:cNvPr id="7" name="Freeform 7"/>
          <p:cNvSpPr/>
          <p:nvPr/>
        </p:nvSpPr>
        <p:spPr>
          <a:xfrm>
            <a:off x="6531291" y="4303058"/>
            <a:ext cx="3626780" cy="3278842"/>
          </a:xfrm>
          <a:custGeom>
            <a:avLst/>
            <a:gdLst/>
            <a:ahLst/>
            <a:cxnLst/>
            <a:rect l="l" t="t" r="r" b="b"/>
            <a:pathLst>
              <a:path w="2605554" h="2174241">
                <a:moveTo>
                  <a:pt x="0" y="0"/>
                </a:moveTo>
                <a:lnTo>
                  <a:pt x="2605553" y="0"/>
                </a:lnTo>
                <a:lnTo>
                  <a:pt x="2605553" y="2174241"/>
                </a:lnTo>
                <a:lnTo>
                  <a:pt x="0" y="21742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40715" t="-62253" r="-14418"/>
            </a:stretch>
          </a:blipFill>
          <a:ln>
            <a:solidFill>
              <a:schemeClr val="tx1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10440465" y="2937898"/>
            <a:ext cx="7542733" cy="2662801"/>
          </a:xfrm>
          <a:custGeom>
            <a:avLst/>
            <a:gdLst/>
            <a:ahLst/>
            <a:cxnLst/>
            <a:rect l="l" t="t" r="r" b="b"/>
            <a:pathLst>
              <a:path w="4766089" h="1202669">
                <a:moveTo>
                  <a:pt x="0" y="0"/>
                </a:moveTo>
                <a:lnTo>
                  <a:pt x="4766089" y="0"/>
                </a:lnTo>
                <a:lnTo>
                  <a:pt x="4766089" y="1202670"/>
                </a:lnTo>
                <a:lnTo>
                  <a:pt x="0" y="12026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r="-41168"/>
            </a:stretch>
          </a:blipFill>
          <a:ln>
            <a:solidFill>
              <a:schemeClr val="tx1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10363722" y="6412364"/>
            <a:ext cx="7619477" cy="3455535"/>
          </a:xfrm>
          <a:custGeom>
            <a:avLst/>
            <a:gdLst/>
            <a:ahLst/>
            <a:cxnLst/>
            <a:rect l="l" t="t" r="r" b="b"/>
            <a:pathLst>
              <a:path w="4504821" h="2132717">
                <a:moveTo>
                  <a:pt x="0" y="0"/>
                </a:moveTo>
                <a:lnTo>
                  <a:pt x="4504821" y="0"/>
                </a:lnTo>
                <a:lnTo>
                  <a:pt x="4504821" y="2132717"/>
                </a:lnTo>
                <a:lnTo>
                  <a:pt x="0" y="213271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  <a:ln>
            <a:solidFill>
              <a:schemeClr val="tx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496906" y="1440211"/>
            <a:ext cx="15294187" cy="658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71"/>
              </a:lnSpc>
            </a:pPr>
            <a:r>
              <a:rPr lang="en-US" sz="43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АЛГОРИТМИ</a:t>
            </a:r>
          </a:p>
        </p:txBody>
      </p:sp>
      <p:sp>
        <p:nvSpPr>
          <p:cNvPr id="11" name="AutoShape 11"/>
          <p:cNvSpPr/>
          <p:nvPr/>
        </p:nvSpPr>
        <p:spPr>
          <a:xfrm>
            <a:off x="5961463" y="5968686"/>
            <a:ext cx="1201337" cy="0"/>
          </a:xfrm>
          <a:prstGeom prst="line">
            <a:avLst/>
          </a:prstGeom>
          <a:ln w="38100" cap="flat">
            <a:solidFill>
              <a:srgbClr val="38B6FF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2" name="AutoShape 12"/>
          <p:cNvSpPr/>
          <p:nvPr/>
        </p:nvSpPr>
        <p:spPr>
          <a:xfrm flipV="1">
            <a:off x="9601201" y="5143499"/>
            <a:ext cx="1092006" cy="29515"/>
          </a:xfrm>
          <a:prstGeom prst="line">
            <a:avLst/>
          </a:prstGeom>
          <a:ln w="38100" cap="flat">
            <a:solidFill>
              <a:srgbClr val="38B6FF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3" name="AutoShape 13"/>
          <p:cNvSpPr/>
          <p:nvPr/>
        </p:nvSpPr>
        <p:spPr>
          <a:xfrm>
            <a:off x="14884775" y="4992575"/>
            <a:ext cx="29862" cy="1605781"/>
          </a:xfrm>
          <a:prstGeom prst="line">
            <a:avLst/>
          </a:prstGeom>
          <a:ln w="38100" cap="flat">
            <a:solidFill>
              <a:srgbClr val="38B6FF"/>
            </a:solidFill>
            <a:prstDash val="solid"/>
            <a:headEnd type="none" w="sm" len="sm"/>
            <a:tailEnd type="triangle" w="lg" len="med"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3416" b="-83416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187074" y="-3852028"/>
            <a:ext cx="6453726" cy="6469900"/>
          </a:xfrm>
          <a:custGeom>
            <a:avLst/>
            <a:gdLst/>
            <a:ahLst/>
            <a:cxnLst/>
            <a:rect l="l" t="t" r="r" b="b"/>
            <a:pathLst>
              <a:path w="6453726" h="6469900">
                <a:moveTo>
                  <a:pt x="0" y="0"/>
                </a:moveTo>
                <a:lnTo>
                  <a:pt x="6453726" y="0"/>
                </a:lnTo>
                <a:lnTo>
                  <a:pt x="6453726" y="6469900"/>
                </a:lnTo>
                <a:lnTo>
                  <a:pt x="0" y="64699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352800" y="-2476500"/>
            <a:ext cx="5591917" cy="6012814"/>
          </a:xfrm>
          <a:custGeom>
            <a:avLst/>
            <a:gdLst/>
            <a:ahLst/>
            <a:cxnLst/>
            <a:rect l="l" t="t" r="r" b="b"/>
            <a:pathLst>
              <a:path w="5591917" h="6012814">
                <a:moveTo>
                  <a:pt x="0" y="0"/>
                </a:moveTo>
                <a:lnTo>
                  <a:pt x="5591916" y="0"/>
                </a:lnTo>
                <a:lnTo>
                  <a:pt x="5591916" y="6012814"/>
                </a:lnTo>
                <a:lnTo>
                  <a:pt x="0" y="60128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629181" y="2976461"/>
            <a:ext cx="5029637" cy="1912443"/>
          </a:xfrm>
          <a:custGeom>
            <a:avLst/>
            <a:gdLst/>
            <a:ahLst/>
            <a:cxnLst/>
            <a:rect l="l" t="t" r="r" b="b"/>
            <a:pathLst>
              <a:path w="5029637" h="1912443">
                <a:moveTo>
                  <a:pt x="0" y="0"/>
                </a:moveTo>
                <a:lnTo>
                  <a:pt x="5029638" y="0"/>
                </a:lnTo>
                <a:lnTo>
                  <a:pt x="5029638" y="1912443"/>
                </a:lnTo>
                <a:lnTo>
                  <a:pt x="0" y="1912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710" r="-4710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04800" y="5859704"/>
            <a:ext cx="9448799" cy="3613540"/>
          </a:xfrm>
          <a:custGeom>
            <a:avLst/>
            <a:gdLst/>
            <a:ahLst/>
            <a:cxnLst/>
            <a:rect l="l" t="t" r="r" b="b"/>
            <a:pathLst>
              <a:path w="6945819" h="2248709">
                <a:moveTo>
                  <a:pt x="0" y="0"/>
                </a:moveTo>
                <a:lnTo>
                  <a:pt x="6945819" y="0"/>
                </a:lnTo>
                <a:lnTo>
                  <a:pt x="6945819" y="2248709"/>
                </a:lnTo>
                <a:lnTo>
                  <a:pt x="0" y="224870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  <a:ln>
            <a:solidFill>
              <a:schemeClr val="tx1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10498017" y="5989113"/>
            <a:ext cx="7090389" cy="1419819"/>
          </a:xfrm>
          <a:custGeom>
            <a:avLst/>
            <a:gdLst/>
            <a:ahLst/>
            <a:cxnLst/>
            <a:rect l="l" t="t" r="r" b="b"/>
            <a:pathLst>
              <a:path w="5691866" h="998573">
                <a:moveTo>
                  <a:pt x="0" y="0"/>
                </a:moveTo>
                <a:lnTo>
                  <a:pt x="5691866" y="0"/>
                </a:lnTo>
                <a:lnTo>
                  <a:pt x="5691866" y="998573"/>
                </a:lnTo>
                <a:lnTo>
                  <a:pt x="0" y="9985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  <a:ln>
            <a:solidFill>
              <a:schemeClr val="tx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496906" y="1913507"/>
            <a:ext cx="15294187" cy="658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71"/>
              </a:lnSpc>
            </a:pPr>
            <a:r>
              <a:rPr lang="en-US" sz="43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СИГУРНОСТ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56755" y="5057775"/>
            <a:ext cx="6620339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Защитата срещу SQL инжекции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154444" y="5139503"/>
            <a:ext cx="6620339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Защитата</a:t>
            </a:r>
            <a:r>
              <a:rPr lang="en-US" sz="33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99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срещу</a:t>
            </a:r>
            <a:r>
              <a:rPr lang="en-US" sz="33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CSRF </a:t>
            </a:r>
            <a:r>
              <a:rPr lang="en-US" sz="3399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атаки</a:t>
            </a:r>
            <a:endParaRPr lang="en-US" sz="3399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3416" b="-83416"/>
            </a:stretch>
          </a:blipFill>
        </p:spPr>
      </p:sp>
      <p:sp>
        <p:nvSpPr>
          <p:cNvPr id="6" name="Freeform 6"/>
          <p:cNvSpPr/>
          <p:nvPr/>
        </p:nvSpPr>
        <p:spPr>
          <a:xfrm rot="1133710">
            <a:off x="-717875" y="-4920050"/>
            <a:ext cx="8225491" cy="8229600"/>
          </a:xfrm>
          <a:custGeom>
            <a:avLst/>
            <a:gdLst/>
            <a:ahLst/>
            <a:cxnLst/>
            <a:rect l="l" t="t" r="r" b="b"/>
            <a:pathLst>
              <a:path w="8225491" h="8229600">
                <a:moveTo>
                  <a:pt x="0" y="0"/>
                </a:moveTo>
                <a:lnTo>
                  <a:pt x="8225491" y="0"/>
                </a:lnTo>
                <a:lnTo>
                  <a:pt x="822549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07675" y="4492826"/>
            <a:ext cx="2094366" cy="2094366"/>
          </a:xfrm>
          <a:custGeom>
            <a:avLst/>
            <a:gdLst/>
            <a:ahLst/>
            <a:cxnLst/>
            <a:rect l="l" t="t" r="r" b="b"/>
            <a:pathLst>
              <a:path w="2094366" h="2094366">
                <a:moveTo>
                  <a:pt x="0" y="0"/>
                </a:moveTo>
                <a:lnTo>
                  <a:pt x="2094366" y="0"/>
                </a:lnTo>
                <a:lnTo>
                  <a:pt x="2094366" y="2094367"/>
                </a:lnTo>
                <a:lnTo>
                  <a:pt x="0" y="20943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394871" y="4199035"/>
            <a:ext cx="1482810" cy="1888930"/>
          </a:xfrm>
          <a:custGeom>
            <a:avLst/>
            <a:gdLst/>
            <a:ahLst/>
            <a:cxnLst/>
            <a:rect l="l" t="t" r="r" b="b"/>
            <a:pathLst>
              <a:path w="1482810" h="1888930">
                <a:moveTo>
                  <a:pt x="0" y="0"/>
                </a:moveTo>
                <a:lnTo>
                  <a:pt x="1482810" y="0"/>
                </a:lnTo>
                <a:lnTo>
                  <a:pt x="1482810" y="1888930"/>
                </a:lnTo>
                <a:lnTo>
                  <a:pt x="0" y="18889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499205" y="6269502"/>
            <a:ext cx="1762079" cy="2234014"/>
          </a:xfrm>
          <a:custGeom>
            <a:avLst/>
            <a:gdLst/>
            <a:ahLst/>
            <a:cxnLst/>
            <a:rect l="l" t="t" r="r" b="b"/>
            <a:pathLst>
              <a:path w="1762079" h="2234014">
                <a:moveTo>
                  <a:pt x="0" y="0"/>
                </a:moveTo>
                <a:lnTo>
                  <a:pt x="1762079" y="0"/>
                </a:lnTo>
                <a:lnTo>
                  <a:pt x="1762079" y="2234014"/>
                </a:lnTo>
                <a:lnTo>
                  <a:pt x="0" y="22340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835447" y="4595366"/>
            <a:ext cx="3572224" cy="4654133"/>
          </a:xfrm>
          <a:custGeom>
            <a:avLst/>
            <a:gdLst/>
            <a:ahLst/>
            <a:cxnLst/>
            <a:rect l="l" t="t" r="r" b="b"/>
            <a:pathLst>
              <a:path w="2607282" h="3826306">
                <a:moveTo>
                  <a:pt x="0" y="0"/>
                </a:moveTo>
                <a:lnTo>
                  <a:pt x="2607282" y="0"/>
                </a:lnTo>
                <a:lnTo>
                  <a:pt x="2607282" y="3826306"/>
                </a:lnTo>
                <a:lnTo>
                  <a:pt x="0" y="38263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b="-5420"/>
            </a:stretch>
          </a:blipFill>
          <a:ln>
            <a:solidFill>
              <a:schemeClr val="tx1"/>
            </a:solidFill>
          </a:ln>
        </p:spPr>
      </p:sp>
      <p:sp>
        <p:nvSpPr>
          <p:cNvPr id="11" name="Freeform 11"/>
          <p:cNvSpPr/>
          <p:nvPr/>
        </p:nvSpPr>
        <p:spPr>
          <a:xfrm>
            <a:off x="12257673" y="4261932"/>
            <a:ext cx="5001627" cy="4756673"/>
          </a:xfrm>
          <a:custGeom>
            <a:avLst/>
            <a:gdLst/>
            <a:ahLst/>
            <a:cxnLst/>
            <a:rect l="l" t="t" r="r" b="b"/>
            <a:pathLst>
              <a:path w="4866247" h="4533766">
                <a:moveTo>
                  <a:pt x="0" y="0"/>
                </a:moveTo>
                <a:lnTo>
                  <a:pt x="4866247" y="0"/>
                </a:lnTo>
                <a:lnTo>
                  <a:pt x="4866247" y="4533766"/>
                </a:lnTo>
                <a:lnTo>
                  <a:pt x="0" y="45337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9751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594849" y="4595366"/>
            <a:ext cx="3303160" cy="4654802"/>
          </a:xfrm>
          <a:custGeom>
            <a:avLst/>
            <a:gdLst/>
            <a:ahLst/>
            <a:cxnLst/>
            <a:rect l="l" t="t" r="r" b="b"/>
            <a:pathLst>
              <a:path w="2387765" h="3826306">
                <a:moveTo>
                  <a:pt x="0" y="0"/>
                </a:moveTo>
                <a:lnTo>
                  <a:pt x="2387765" y="0"/>
                </a:lnTo>
                <a:lnTo>
                  <a:pt x="2387765" y="3826306"/>
                </a:lnTo>
                <a:lnTo>
                  <a:pt x="0" y="382630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9638" r="-4434"/>
            </a:stretch>
          </a:blipFill>
          <a:ln>
            <a:solidFill>
              <a:schemeClr val="tx1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1496906" y="1913507"/>
            <a:ext cx="15294187" cy="658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71"/>
              </a:lnSpc>
            </a:pPr>
            <a:r>
              <a:rPr lang="en-US" sz="43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РЕАЛИЗАЦИЯ И ТЕСТВАНЕ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54858" y="3317538"/>
            <a:ext cx="2224832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Ползвано</a:t>
            </a:r>
            <a:r>
              <a:rPr lang="en-US" sz="33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е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36718" y="3893386"/>
            <a:ext cx="5001627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Структура и Django панел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257673" y="3418620"/>
            <a:ext cx="5001627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Истински тествано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3416" b="-8341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526000" y="2552700"/>
            <a:ext cx="9353441" cy="6757861"/>
          </a:xfrm>
          <a:custGeom>
            <a:avLst/>
            <a:gdLst/>
            <a:ahLst/>
            <a:cxnLst/>
            <a:rect l="l" t="t" r="r" b="b"/>
            <a:pathLst>
              <a:path w="9353441" h="6757861">
                <a:moveTo>
                  <a:pt x="0" y="0"/>
                </a:moveTo>
                <a:lnTo>
                  <a:pt x="9353442" y="0"/>
                </a:lnTo>
                <a:lnTo>
                  <a:pt x="9353442" y="6757861"/>
                </a:lnTo>
                <a:lnTo>
                  <a:pt x="0" y="67578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8362842" y="1764569"/>
            <a:ext cx="9353441" cy="6757861"/>
          </a:xfrm>
          <a:custGeom>
            <a:avLst/>
            <a:gdLst/>
            <a:ahLst/>
            <a:cxnLst/>
            <a:rect l="l" t="t" r="r" b="b"/>
            <a:pathLst>
              <a:path w="9353441" h="6757861">
                <a:moveTo>
                  <a:pt x="0" y="0"/>
                </a:moveTo>
                <a:lnTo>
                  <a:pt x="9353442" y="0"/>
                </a:lnTo>
                <a:lnTo>
                  <a:pt x="9353442" y="6757862"/>
                </a:lnTo>
                <a:lnTo>
                  <a:pt x="0" y="67578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66800" y="495300"/>
            <a:ext cx="16306799" cy="9296400"/>
          </a:xfrm>
          <a:custGeom>
            <a:avLst/>
            <a:gdLst/>
            <a:ahLst/>
            <a:cxnLst/>
            <a:rect l="l" t="t" r="r" b="b"/>
            <a:pathLst>
              <a:path w="11301259" h="6159186">
                <a:moveTo>
                  <a:pt x="0" y="0"/>
                </a:moveTo>
                <a:lnTo>
                  <a:pt x="11301258" y="0"/>
                </a:lnTo>
                <a:lnTo>
                  <a:pt x="11301258" y="6159186"/>
                </a:lnTo>
                <a:lnTo>
                  <a:pt x="0" y="61591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3416" b="-83416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65281" y="6822428"/>
            <a:ext cx="3324374" cy="3464572"/>
          </a:xfrm>
          <a:custGeom>
            <a:avLst/>
            <a:gdLst/>
            <a:ahLst/>
            <a:cxnLst/>
            <a:rect l="l" t="t" r="r" b="b"/>
            <a:pathLst>
              <a:path w="3324374" h="3464572">
                <a:moveTo>
                  <a:pt x="0" y="0"/>
                </a:moveTo>
                <a:lnTo>
                  <a:pt x="3324374" y="0"/>
                </a:lnTo>
                <a:lnTo>
                  <a:pt x="3324374" y="3464572"/>
                </a:lnTo>
                <a:lnTo>
                  <a:pt x="0" y="3464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108" r="-2108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496906" y="3856609"/>
            <a:ext cx="15294187" cy="1286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71"/>
              </a:lnSpc>
            </a:pPr>
            <a:r>
              <a:rPr lang="en-US" sz="4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БЛАГОДАРЯ ВИ </a:t>
            </a:r>
          </a:p>
          <a:p>
            <a:pPr algn="ctr">
              <a:lnSpc>
                <a:spcPts val="4971"/>
              </a:lnSpc>
            </a:pPr>
            <a:r>
              <a:rPr lang="en-US" sz="4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 ВАШЕТО ВНИМАНИЕ!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801600" y="8176405"/>
            <a:ext cx="4229664" cy="7566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800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Дипломант</a:t>
            </a:r>
            <a:r>
              <a:rPr lang="en-US" sz="2800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</a:t>
            </a:r>
            <a:r>
              <a:rPr lang="en-US" sz="24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Виктор</a:t>
            </a:r>
            <a:r>
              <a:rPr lang="en-US" sz="24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Василев</a:t>
            </a:r>
            <a:endParaRPr lang="en-US" sz="2400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1186</Words>
  <Application>Microsoft Office PowerPoint</Application>
  <PresentationFormat>Custom</PresentationFormat>
  <Paragraphs>126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Times New Roman</vt:lpstr>
      <vt:lpstr>Arial Black</vt:lpstr>
      <vt:lpstr>Arial</vt:lpstr>
      <vt:lpstr>Open Sans</vt:lpstr>
      <vt:lpstr>Calibri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 Company</dc:title>
  <cp:lastModifiedBy>Admin</cp:lastModifiedBy>
  <cp:revision>27</cp:revision>
  <dcterms:created xsi:type="dcterms:W3CDTF">2006-08-16T00:00:00Z</dcterms:created>
  <dcterms:modified xsi:type="dcterms:W3CDTF">2026-05-11T09:58:42Z</dcterms:modified>
  <dc:identifier>DAHHpVcMLG8</dc:identifier>
</cp:coreProperties>
</file>