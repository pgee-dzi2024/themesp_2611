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Arial Black" panose="020B0A04020102020204" pitchFamily="34" charset="0"/>
      <p:bold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  <p:embeddedFont>
      <p:font typeface="Times New Roman Bold" panose="02020803070505020304" pitchFamily="18" charset="0"/>
      <p:regular r:id="rId19"/>
      <p:bold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AD026F-A402-E16A-24E3-59C62AB42C4F}" v="12" dt="2026-04-29T17:19:56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14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384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Уважаема</a:t>
            </a:r>
            <a:r>
              <a:rPr lang="en-US" dirty="0"/>
              <a:t> г-</a:t>
            </a:r>
            <a:r>
              <a:rPr lang="en-US" dirty="0" err="1"/>
              <a:t>жо</a:t>
            </a:r>
            <a:r>
              <a:rPr lang="en-US" dirty="0"/>
              <a:t> </a:t>
            </a:r>
            <a:r>
              <a:rPr lang="en-US" dirty="0" err="1"/>
              <a:t>Директор</a:t>
            </a:r>
            <a:r>
              <a:rPr lang="en-US" dirty="0"/>
              <a:t>, </a:t>
            </a:r>
            <a:r>
              <a:rPr lang="en-US" dirty="0" err="1"/>
              <a:t>Уважаема</a:t>
            </a:r>
            <a:r>
              <a:rPr lang="en-US" dirty="0"/>
              <a:t> </a:t>
            </a:r>
            <a:r>
              <a:rPr lang="en-US" dirty="0" err="1" smtClean="0"/>
              <a:t>комисия</a:t>
            </a:r>
            <a:r>
              <a:rPr lang="en-US" dirty="0" smtClean="0"/>
              <a:t>. </a:t>
            </a:r>
            <a:r>
              <a:rPr lang="en-US" dirty="0" err="1"/>
              <a:t>Аз</a:t>
            </a:r>
            <a:r>
              <a:rPr lang="en-US" dirty="0"/>
              <a:t> </a:t>
            </a:r>
            <a:r>
              <a:rPr lang="en-US" dirty="0" err="1"/>
              <a:t>съм</a:t>
            </a:r>
            <a:r>
              <a:rPr lang="en-US" dirty="0"/>
              <a:t> </a:t>
            </a:r>
            <a:r>
              <a:rPr lang="en-US" dirty="0" err="1"/>
              <a:t>Виктор</a:t>
            </a:r>
            <a:r>
              <a:rPr lang="en-US" dirty="0"/>
              <a:t> </a:t>
            </a:r>
            <a:r>
              <a:rPr lang="en-US" dirty="0" err="1"/>
              <a:t>Василев</a:t>
            </a:r>
            <a:r>
              <a:rPr lang="en-US" dirty="0"/>
              <a:t>. </a:t>
            </a:r>
            <a:r>
              <a:rPr lang="en-US" dirty="0" err="1"/>
              <a:t>Темата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моя</a:t>
            </a:r>
            <a:r>
              <a:rPr lang="en-US" dirty="0"/>
              <a:t> </a:t>
            </a:r>
            <a:r>
              <a:rPr lang="en-US" dirty="0" err="1"/>
              <a:t>дипломен</a:t>
            </a:r>
            <a:r>
              <a:rPr lang="en-US" dirty="0"/>
              <a:t> </a:t>
            </a:r>
            <a:r>
              <a:rPr lang="en-US" dirty="0" err="1"/>
              <a:t>проект</a:t>
            </a:r>
            <a:r>
              <a:rPr lang="en-US" dirty="0"/>
              <a:t> е „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състезания</a:t>
            </a:r>
            <a:r>
              <a:rPr lang="en-US" dirty="0"/>
              <a:t>".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искам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покажа</a:t>
            </a:r>
            <a:r>
              <a:rPr lang="en-US" dirty="0"/>
              <a:t> </a:t>
            </a:r>
            <a:r>
              <a:rPr lang="en-US" dirty="0" err="1"/>
              <a:t>защо</a:t>
            </a:r>
            <a:r>
              <a:rPr lang="en-US" dirty="0"/>
              <a:t> </a:t>
            </a:r>
            <a:r>
              <a:rPr lang="en-US" dirty="0" err="1"/>
              <a:t>тя</a:t>
            </a:r>
            <a:r>
              <a:rPr lang="en-US" dirty="0"/>
              <a:t> е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традиционните</a:t>
            </a:r>
            <a:r>
              <a:rPr lang="en-US" dirty="0"/>
              <a:t> </a:t>
            </a:r>
            <a:r>
              <a:rPr lang="en-US" dirty="0" err="1"/>
              <a:t>методи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използват</a:t>
            </a:r>
            <a:r>
              <a:rPr lang="en-US" dirty="0"/>
              <a:t> </a:t>
            </a:r>
            <a:r>
              <a:rPr lang="en-US" dirty="0" err="1"/>
              <a:t>хартиени</a:t>
            </a:r>
            <a:r>
              <a:rPr lang="en-US" dirty="0"/>
              <a:t> </a:t>
            </a:r>
            <a:r>
              <a:rPr lang="en-US" dirty="0" err="1"/>
              <a:t>протоколи</a:t>
            </a:r>
            <a:r>
              <a:rPr lang="en-US" dirty="0"/>
              <a:t> и </a:t>
            </a:r>
            <a:r>
              <a:rPr lang="en-US" dirty="0" err="1"/>
              <a:t>ръчно</a:t>
            </a:r>
            <a:r>
              <a:rPr lang="en-US" dirty="0"/>
              <a:t> </a:t>
            </a:r>
            <a:r>
              <a:rPr lang="en-US" dirty="0" err="1"/>
              <a:t>хронометриране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носи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сериозни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Първо</a:t>
            </a:r>
            <a:r>
              <a:rPr lang="en-US" dirty="0"/>
              <a:t> — </a:t>
            </a:r>
            <a:r>
              <a:rPr lang="en-US" dirty="0" err="1"/>
              <a:t>рискът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човешка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е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висок</a:t>
            </a:r>
            <a:r>
              <a:rPr lang="en-US" dirty="0"/>
              <a:t>, </a:t>
            </a:r>
            <a:r>
              <a:rPr lang="en-US" dirty="0" err="1"/>
              <a:t>особено</a:t>
            </a:r>
            <a:r>
              <a:rPr lang="en-US" dirty="0"/>
              <a:t> </a:t>
            </a:r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няколко</a:t>
            </a:r>
            <a:r>
              <a:rPr lang="en-US" dirty="0"/>
              <a:t> </a:t>
            </a:r>
            <a:r>
              <a:rPr lang="en-US" dirty="0" err="1"/>
              <a:t>участника</a:t>
            </a:r>
            <a:r>
              <a:rPr lang="en-US" dirty="0"/>
              <a:t> </a:t>
            </a:r>
            <a:r>
              <a:rPr lang="en-US" dirty="0" err="1"/>
              <a:t>финишират</a:t>
            </a:r>
            <a:r>
              <a:rPr lang="en-US" dirty="0"/>
              <a:t> </a:t>
            </a:r>
            <a:r>
              <a:rPr lang="en-US" dirty="0" err="1"/>
              <a:t>едновременно</a:t>
            </a:r>
            <a:r>
              <a:rPr lang="en-US" dirty="0"/>
              <a:t>. </a:t>
            </a:r>
            <a:r>
              <a:rPr lang="en-US" dirty="0" err="1"/>
              <a:t>Второ</a:t>
            </a:r>
            <a:r>
              <a:rPr lang="en-US" dirty="0"/>
              <a:t> — </a:t>
            </a:r>
            <a:r>
              <a:rPr lang="en-US" dirty="0" err="1"/>
              <a:t>ръчното</a:t>
            </a:r>
            <a:r>
              <a:rPr lang="en-US" dirty="0"/>
              <a:t> </a:t>
            </a:r>
            <a:r>
              <a:rPr lang="en-US" dirty="0" err="1"/>
              <a:t>изчисляване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отнема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повече</a:t>
            </a:r>
            <a:r>
              <a:rPr lang="en-US" dirty="0"/>
              <a:t> </a:t>
            </a:r>
            <a:r>
              <a:rPr lang="en-US" dirty="0" err="1"/>
              <a:t>персонал</a:t>
            </a:r>
            <a:r>
              <a:rPr lang="en-US" dirty="0"/>
              <a:t> и </a:t>
            </a:r>
            <a:r>
              <a:rPr lang="en-US" dirty="0" err="1"/>
              <a:t>забавя</a:t>
            </a:r>
            <a:r>
              <a:rPr lang="en-US" dirty="0"/>
              <a:t> </a:t>
            </a:r>
            <a:r>
              <a:rPr lang="en-US" dirty="0" err="1"/>
              <a:t>обявяването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И </a:t>
            </a:r>
            <a:r>
              <a:rPr lang="en-US" dirty="0" err="1"/>
              <a:t>трето</a:t>
            </a:r>
            <a:r>
              <a:rPr lang="en-US" dirty="0"/>
              <a:t> —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спорна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е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невъзможно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провери</a:t>
            </a:r>
            <a:r>
              <a:rPr lang="en-US" dirty="0"/>
              <a:t> </a:t>
            </a:r>
            <a:r>
              <a:rPr lang="en-US" dirty="0" err="1"/>
              <a:t>кой</a:t>
            </a:r>
            <a:r>
              <a:rPr lang="en-US" dirty="0"/>
              <a:t> е </a:t>
            </a:r>
            <a:r>
              <a:rPr lang="en-US" dirty="0" err="1"/>
              <a:t>направил</a:t>
            </a:r>
            <a:r>
              <a:rPr lang="en-US" dirty="0"/>
              <a:t> </a:t>
            </a:r>
            <a:r>
              <a:rPr lang="en-US" dirty="0" err="1"/>
              <a:t>каква</a:t>
            </a:r>
            <a:r>
              <a:rPr lang="en-US" dirty="0"/>
              <a:t> </a:t>
            </a:r>
            <a:r>
              <a:rPr lang="en-US" dirty="0" err="1"/>
              <a:t>промяна</a:t>
            </a:r>
            <a:r>
              <a:rPr lang="en-US" dirty="0"/>
              <a:t> и </a:t>
            </a:r>
            <a:r>
              <a:rPr lang="en-US" dirty="0" err="1"/>
              <a:t>кога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тези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ме</a:t>
            </a:r>
            <a:r>
              <a:rPr lang="en-US" dirty="0"/>
              <a:t> </a:t>
            </a:r>
            <a:r>
              <a:rPr lang="en-US" dirty="0" err="1"/>
              <a:t>накараха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разработя</a:t>
            </a:r>
            <a:r>
              <a:rPr lang="en-US" dirty="0"/>
              <a:t> </a:t>
            </a:r>
            <a:r>
              <a:rPr lang="en-US" dirty="0" err="1"/>
              <a:t>централизирана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всички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— </a:t>
            </a:r>
            <a:r>
              <a:rPr lang="en-US" dirty="0" err="1"/>
              <a:t>включително</a:t>
            </a:r>
            <a:r>
              <a:rPr lang="en-US" dirty="0"/>
              <a:t> </a:t>
            </a:r>
            <a:r>
              <a:rPr lang="en-US" dirty="0" err="1"/>
              <a:t>измерването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—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могат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бъдат</a:t>
            </a:r>
            <a:r>
              <a:rPr lang="en-US" dirty="0"/>
              <a:t> </a:t>
            </a:r>
            <a:r>
              <a:rPr lang="en-US" dirty="0" err="1"/>
              <a:t>манипулирани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разберем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изясним</a:t>
            </a:r>
            <a:r>
              <a:rPr lang="en-US" dirty="0"/>
              <a:t> </a:t>
            </a:r>
            <a:r>
              <a:rPr lang="en-US" dirty="0" err="1"/>
              <a:t>теоретичната</a:t>
            </a:r>
            <a:r>
              <a:rPr lang="en-US" dirty="0"/>
              <a:t> </a:t>
            </a:r>
            <a:r>
              <a:rPr lang="en-US" dirty="0" err="1"/>
              <a:t>основа</a:t>
            </a:r>
            <a:r>
              <a:rPr lang="en-US" dirty="0"/>
              <a:t>,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е </a:t>
            </a:r>
            <a:r>
              <a:rPr lang="en-US" dirty="0" err="1"/>
              <a:t>изградена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използва</a:t>
            </a:r>
            <a:r>
              <a:rPr lang="en-US" dirty="0"/>
              <a:t> </a:t>
            </a:r>
            <a:r>
              <a:rPr lang="en-US" dirty="0" err="1"/>
              <a:t>клиент</a:t>
            </a:r>
            <a:r>
              <a:rPr lang="en-US" dirty="0"/>
              <a:t>–</a:t>
            </a:r>
            <a:r>
              <a:rPr lang="en-US" dirty="0" err="1"/>
              <a:t>сървър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—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е </a:t>
            </a:r>
            <a:r>
              <a:rPr lang="en-US" dirty="0" err="1"/>
              <a:t>клиентът</a:t>
            </a:r>
            <a:r>
              <a:rPr lang="en-US" dirty="0"/>
              <a:t>, а Django </a:t>
            </a:r>
            <a:r>
              <a:rPr lang="en-US" dirty="0" err="1"/>
              <a:t>приложението</a:t>
            </a:r>
            <a:r>
              <a:rPr lang="en-US" dirty="0"/>
              <a:t>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Комуникацията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осъществява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HTTP </a:t>
            </a:r>
            <a:r>
              <a:rPr lang="en-US" dirty="0" err="1"/>
              <a:t>протокола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заявки</a:t>
            </a:r>
            <a:r>
              <a:rPr lang="en-US" dirty="0"/>
              <a:t> и </a:t>
            </a:r>
            <a:r>
              <a:rPr lang="en-US" dirty="0" err="1"/>
              <a:t>получава</a:t>
            </a:r>
            <a:r>
              <a:rPr lang="en-US" dirty="0"/>
              <a:t> </a:t>
            </a:r>
            <a:r>
              <a:rPr lang="en-US" dirty="0" err="1"/>
              <a:t>отговори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REST е </a:t>
            </a:r>
            <a:r>
              <a:rPr lang="en-US" dirty="0" err="1"/>
              <a:t>архитектурен</a:t>
            </a:r>
            <a:r>
              <a:rPr lang="en-US" dirty="0"/>
              <a:t> </a:t>
            </a:r>
            <a:r>
              <a:rPr lang="en-US" dirty="0" err="1"/>
              <a:t>стил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е </a:t>
            </a:r>
            <a:r>
              <a:rPr lang="en-US" dirty="0" err="1" smtClean="0"/>
              <a:t>проектиран</a:t>
            </a:r>
            <a:r>
              <a:rPr lang="en-US" dirty="0" smtClean="0"/>
              <a:t> </a:t>
            </a:r>
            <a:r>
              <a:rPr lang="en-US" dirty="0"/>
              <a:t>API-я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—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обект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е </a:t>
            </a:r>
            <a:r>
              <a:rPr lang="en-US" dirty="0" err="1"/>
              <a:t>достъпен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ресурс</a:t>
            </a:r>
            <a:r>
              <a:rPr lang="en-US" dirty="0"/>
              <a:t> с </a:t>
            </a:r>
            <a:r>
              <a:rPr lang="en-US" dirty="0" err="1"/>
              <a:t>уникален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съхраняват</a:t>
            </a:r>
            <a:r>
              <a:rPr lang="en-US" dirty="0"/>
              <a:t> в </a:t>
            </a:r>
            <a:r>
              <a:rPr lang="en-US" dirty="0" err="1"/>
              <a:t>релационна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с ACID </a:t>
            </a:r>
            <a:r>
              <a:rPr lang="en-US" dirty="0" err="1"/>
              <a:t>гаранции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консистентност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би</a:t>
            </a:r>
            <a:r>
              <a:rPr lang="en-US" dirty="0"/>
              <a:t> </a:t>
            </a:r>
            <a:r>
              <a:rPr lang="en-US" dirty="0" err="1"/>
              <a:t>най-важната</a:t>
            </a:r>
            <a:r>
              <a:rPr lang="en-US" dirty="0"/>
              <a:t> </a:t>
            </a:r>
            <a:r>
              <a:rPr lang="en-US" dirty="0" err="1"/>
              <a:t>теоретична</a:t>
            </a:r>
            <a:r>
              <a:rPr lang="en-US" dirty="0"/>
              <a:t> </a:t>
            </a:r>
            <a:r>
              <a:rPr lang="en-US" dirty="0" err="1"/>
              <a:t>концепция</a:t>
            </a:r>
            <a:r>
              <a:rPr lang="en-US" dirty="0"/>
              <a:t> е </a:t>
            </a:r>
            <a:r>
              <a:rPr lang="en-US" dirty="0" err="1"/>
              <a:t>централизираното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— </a:t>
            </a:r>
            <a:r>
              <a:rPr lang="en-US" dirty="0" err="1"/>
              <a:t>единственият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, </a:t>
            </a:r>
            <a:r>
              <a:rPr lang="en-US" dirty="0" err="1"/>
              <a:t>определящ</a:t>
            </a:r>
            <a:r>
              <a:rPr lang="en-US" dirty="0"/>
              <a:t> </a:t>
            </a:r>
            <a:r>
              <a:rPr lang="en-US" dirty="0" err="1"/>
              <a:t>официалното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. </a:t>
            </a:r>
            <a:r>
              <a:rPr lang="en-US" dirty="0" err="1"/>
              <a:t>Така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бъде</a:t>
            </a:r>
            <a:r>
              <a:rPr lang="en-US" dirty="0"/>
              <a:t> </a:t>
            </a:r>
            <a:r>
              <a:rPr lang="en-US" dirty="0" err="1"/>
              <a:t>манипулирано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Системата е логически разделена на три слоя.</a:t>
            </a:r>
          </a:p>
          <a:p>
            <a:endParaRPr lang="en-US"/>
          </a:p>
          <a:p>
            <a:r>
              <a:rPr lang="en-US"/>
              <a:t>Първият е представителният слой — това е всичко, което потребителят вижда: HTML страниците, изградени с Django шаблони.</a:t>
            </a:r>
          </a:p>
          <a:p>
            <a:endParaRPr lang="en-US"/>
          </a:p>
          <a:p>
            <a:r>
              <a:rPr lang="en-US"/>
              <a:t>Вторият е приложният слой — там се извършва цялата работа. Той приема заявките, проверява правата на достъп, валидира данните и изпълнява бизнес операциите.</a:t>
            </a:r>
          </a:p>
          <a:p>
            <a:endParaRPr lang="en-US"/>
          </a:p>
          <a:p>
            <a:r>
              <a:rPr lang="en-US"/>
              <a:t>Третият е слоят за данни — Django ORM, който превежда Python операциите в SQL заявки към базата данни.</a:t>
            </a:r>
          </a:p>
          <a:p>
            <a:endParaRPr lang="en-US"/>
          </a:p>
          <a:p>
            <a:r>
              <a:rPr lang="en-US"/>
              <a:t>Ключово архитектурно решение е принципът на нулево доверие към клиента: дори данни, изпратени от легитимния потребителски интерфейс, преминават през пълна проверка на сървъра. Системата никога не приема за даденост, че клиентът е изпратил коректни данни.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състои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основни</a:t>
            </a:r>
            <a:r>
              <a:rPr lang="en-US" dirty="0"/>
              <a:t> </a:t>
            </a:r>
            <a:r>
              <a:rPr lang="en-US" dirty="0" err="1"/>
              <a:t>таблици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main_competition</a:t>
            </a:r>
            <a:r>
              <a:rPr lang="en-US" dirty="0"/>
              <a:t> </a:t>
            </a:r>
            <a:r>
              <a:rPr lang="en-US" dirty="0" err="1"/>
              <a:t>пази</a:t>
            </a:r>
            <a:r>
              <a:rPr lang="en-US" dirty="0"/>
              <a:t> </a:t>
            </a:r>
            <a:r>
              <a:rPr lang="en-US" dirty="0" err="1"/>
              <a:t>информацията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самото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— </a:t>
            </a:r>
            <a:r>
              <a:rPr lang="en-US" dirty="0" err="1"/>
              <a:t>неговото</a:t>
            </a:r>
            <a:r>
              <a:rPr lang="en-US" dirty="0"/>
              <a:t> </a:t>
            </a:r>
            <a:r>
              <a:rPr lang="en-US" dirty="0" err="1"/>
              <a:t>наименование</a:t>
            </a:r>
            <a:r>
              <a:rPr lang="en-US" dirty="0"/>
              <a:t>, </a:t>
            </a:r>
            <a:r>
              <a:rPr lang="en-US" dirty="0" err="1"/>
              <a:t>текущото</a:t>
            </a:r>
            <a:r>
              <a:rPr lang="en-US" dirty="0"/>
              <a:t> </a:t>
            </a:r>
            <a:r>
              <a:rPr lang="en-US" dirty="0" err="1"/>
              <a:t>му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 и </a:t>
            </a:r>
            <a:r>
              <a:rPr lang="en-US" dirty="0" err="1"/>
              <a:t>най-важното</a:t>
            </a:r>
            <a:r>
              <a:rPr lang="en-US" dirty="0"/>
              <a:t> — </a:t>
            </a:r>
            <a:r>
              <a:rPr lang="en-US" dirty="0" err="1"/>
              <a:t>официалния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main_group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категориите</a:t>
            </a:r>
            <a:r>
              <a:rPr lang="en-US" dirty="0"/>
              <a:t>, в </a:t>
            </a:r>
            <a:r>
              <a:rPr lang="en-US" dirty="0" err="1"/>
              <a:t>които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разпределят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деца</a:t>
            </a:r>
            <a:r>
              <a:rPr lang="en-US" dirty="0"/>
              <a:t>, </a:t>
            </a:r>
            <a:r>
              <a:rPr lang="en-US" dirty="0" err="1"/>
              <a:t>ученици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ветерани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main_athlete</a:t>
            </a:r>
            <a:r>
              <a:rPr lang="en-US" dirty="0"/>
              <a:t> е </a:t>
            </a:r>
            <a:r>
              <a:rPr lang="en-US" dirty="0" err="1"/>
              <a:t>основната</a:t>
            </a:r>
            <a:r>
              <a:rPr lang="en-US" dirty="0"/>
              <a:t> </a:t>
            </a:r>
            <a:r>
              <a:rPr lang="en-US" dirty="0" err="1"/>
              <a:t>оперативна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записват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, </a:t>
            </a:r>
            <a:r>
              <a:rPr lang="en-US" dirty="0" err="1"/>
              <a:t>неговият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, </a:t>
            </a:r>
            <a:r>
              <a:rPr lang="en-US" dirty="0" err="1"/>
              <a:t>категория</a:t>
            </a:r>
            <a:r>
              <a:rPr lang="en-US" dirty="0"/>
              <a:t>, </a:t>
            </a:r>
            <a:r>
              <a:rPr lang="en-US" dirty="0" err="1"/>
              <a:t>статус</a:t>
            </a:r>
            <a:r>
              <a:rPr lang="en-US" dirty="0"/>
              <a:t> и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 smtClean="0"/>
              <a:t>времe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управлява</a:t>
            </a:r>
            <a:r>
              <a:rPr lang="en-US" dirty="0"/>
              <a:t> </a:t>
            </a:r>
            <a:r>
              <a:rPr lang="en-US" dirty="0" err="1"/>
              <a:t>жизнения</a:t>
            </a:r>
            <a:r>
              <a:rPr lang="en-US" dirty="0"/>
              <a:t> </a:t>
            </a:r>
            <a:r>
              <a:rPr lang="en-US" dirty="0" err="1"/>
              <a:t>цикъл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и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модела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крайния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намира</a:t>
            </a:r>
            <a:r>
              <a:rPr lang="en-US" dirty="0"/>
              <a:t> в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стояния</a:t>
            </a:r>
            <a:r>
              <a:rPr lang="en-US" dirty="0" smtClean="0"/>
              <a:t>: </a:t>
            </a:r>
            <a:r>
              <a:rPr lang="en-US" dirty="0"/>
              <a:t>REGISTER 0 </a:t>
            </a:r>
            <a:r>
              <a:rPr lang="en-US" dirty="0" err="1"/>
              <a:t>регистриране</a:t>
            </a:r>
            <a:r>
              <a:rPr lang="en-US" dirty="0"/>
              <a:t> CREATED 1 — </a:t>
            </a:r>
            <a:r>
              <a:rPr lang="bg-BG" dirty="0" smtClean="0"/>
              <a:t>създаден</a:t>
            </a:r>
            <a:r>
              <a:rPr lang="bg-BG" baseline="0" dirty="0" smtClean="0"/>
              <a:t> и в </a:t>
            </a:r>
            <a:r>
              <a:rPr lang="en-US" dirty="0" err="1" smtClean="0"/>
              <a:t>очакване</a:t>
            </a:r>
            <a:r>
              <a:rPr lang="en-US" dirty="0"/>
              <a:t>, STARTED 2 — </a:t>
            </a:r>
            <a:r>
              <a:rPr lang="en-US" dirty="0" err="1"/>
              <a:t>активно</a:t>
            </a:r>
            <a:r>
              <a:rPr lang="en-US" dirty="0"/>
              <a:t>, и FINISHED 3 — </a:t>
            </a:r>
            <a:r>
              <a:rPr lang="en-US" dirty="0" err="1"/>
              <a:t>приключено</a:t>
            </a:r>
            <a:r>
              <a:rPr lang="en-US" dirty="0"/>
              <a:t>. </a:t>
            </a:r>
            <a:r>
              <a:rPr lang="en-US" dirty="0" err="1"/>
              <a:t>Преходите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еднопосочни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Участникът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в </a:t>
            </a:r>
            <a:r>
              <a:rPr lang="en-US" dirty="0" err="1"/>
              <a:t>едно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</a:t>
            </a:r>
            <a:r>
              <a:rPr lang="en-US" dirty="0" err="1" smtClean="0"/>
              <a:t>ния</a:t>
            </a:r>
            <a:r>
              <a:rPr lang="en-US" dirty="0"/>
              <a:t>: REGISTERED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, FINISHED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, DQ </a:t>
            </a:r>
            <a:r>
              <a:rPr lang="en-US" dirty="0" err="1"/>
              <a:t>ако</a:t>
            </a:r>
            <a:r>
              <a:rPr lang="en-US" dirty="0"/>
              <a:t> е </a:t>
            </a:r>
            <a:r>
              <a:rPr lang="en-US" dirty="0" err="1"/>
              <a:t>дисквалифициран</a:t>
            </a:r>
            <a:r>
              <a:rPr lang="en-US" dirty="0"/>
              <a:t>, и NS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Ключовото</a:t>
            </a:r>
            <a:r>
              <a:rPr lang="en-US" dirty="0"/>
              <a:t> е,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допустимостта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преход</a:t>
            </a:r>
            <a:r>
              <a:rPr lang="en-US" dirty="0"/>
              <a:t>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го</a:t>
            </a:r>
            <a:r>
              <a:rPr lang="en-US" dirty="0"/>
              <a:t> </a:t>
            </a:r>
            <a:r>
              <a:rPr lang="en-US" dirty="0" err="1"/>
              <a:t>изпълни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запише</a:t>
            </a:r>
            <a:r>
              <a:rPr lang="en-US" dirty="0"/>
              <a:t> </a:t>
            </a:r>
            <a:r>
              <a:rPr lang="en-US" dirty="0" err="1"/>
              <a:t>финишно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стартирало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невалидна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връща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и </a:t>
            </a:r>
            <a:r>
              <a:rPr lang="en-US" dirty="0" err="1"/>
              <a:t>отказва</a:t>
            </a:r>
            <a:r>
              <a:rPr lang="en-US" dirty="0"/>
              <a:t> </a:t>
            </a:r>
            <a:r>
              <a:rPr lang="en-US" dirty="0" err="1"/>
              <a:t>операцията</a:t>
            </a:r>
            <a:r>
              <a:rPr lang="en-US" dirty="0"/>
              <a:t>.</a:t>
            </a:r>
          </a:p>
          <a:p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винаги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коректно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Нека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най-важният</a:t>
            </a:r>
            <a:r>
              <a:rPr lang="en-US" dirty="0"/>
              <a:t> </a:t>
            </a:r>
            <a:r>
              <a:rPr lang="en-US" dirty="0" err="1"/>
              <a:t>алгоритъм</a:t>
            </a:r>
            <a:r>
              <a:rPr lang="en-US" dirty="0"/>
              <a:t> — </a:t>
            </a:r>
            <a:r>
              <a:rPr lang="en-US" dirty="0" err="1"/>
              <a:t>отчитането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прекоси</a:t>
            </a:r>
            <a:r>
              <a:rPr lang="en-US" dirty="0"/>
              <a:t> </a:t>
            </a:r>
            <a:r>
              <a:rPr lang="en-US" dirty="0" err="1"/>
              <a:t>финалната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, </a:t>
            </a:r>
            <a:r>
              <a:rPr lang="en-US" dirty="0" err="1"/>
              <a:t>операторът</a:t>
            </a:r>
            <a:r>
              <a:rPr lang="en-US" dirty="0"/>
              <a:t> </a:t>
            </a:r>
            <a:r>
              <a:rPr lang="en-US" dirty="0" err="1"/>
              <a:t>натиска</a:t>
            </a:r>
            <a:r>
              <a:rPr lang="en-US" dirty="0"/>
              <a:t> </a:t>
            </a:r>
            <a:r>
              <a:rPr lang="en-US" dirty="0" err="1"/>
              <a:t>бутон</a:t>
            </a:r>
            <a:r>
              <a:rPr lang="en-US" dirty="0"/>
              <a:t> в </a:t>
            </a:r>
            <a:r>
              <a:rPr lang="en-US" dirty="0" err="1"/>
              <a:t>интерфейса</a:t>
            </a:r>
            <a:r>
              <a:rPr lang="en-US" dirty="0"/>
              <a:t>.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HTTP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абсолютно</a:t>
            </a:r>
            <a:r>
              <a:rPr lang="en-US" dirty="0"/>
              <a:t> </a:t>
            </a:r>
            <a:r>
              <a:rPr lang="en-US" dirty="0" err="1"/>
              <a:t>първа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—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каквито</a:t>
            </a:r>
            <a:r>
              <a:rPr lang="en-US" dirty="0"/>
              <a:t> и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проверки</a:t>
            </a:r>
            <a:r>
              <a:rPr lang="en-US" dirty="0"/>
              <a:t> — </a:t>
            </a:r>
            <a:r>
              <a:rPr lang="en-US" dirty="0" err="1"/>
              <a:t>захваща</a:t>
            </a:r>
            <a:r>
              <a:rPr lang="en-US" dirty="0"/>
              <a:t> </a:t>
            </a:r>
            <a:r>
              <a:rPr lang="en-US" dirty="0" err="1"/>
              <a:t>текущото</a:t>
            </a:r>
            <a:r>
              <a:rPr lang="en-US" dirty="0"/>
              <a:t> UTC </a:t>
            </a:r>
            <a:r>
              <a:rPr lang="en-US" dirty="0" err="1"/>
              <a:t>сървърно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официалният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.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изчислява</a:t>
            </a:r>
            <a:r>
              <a:rPr lang="en-US" dirty="0"/>
              <a:t> </a:t>
            </a:r>
            <a:r>
              <a:rPr lang="en-US" dirty="0" err="1"/>
              <a:t>резултатното</a:t>
            </a:r>
            <a:r>
              <a:rPr lang="en-US" dirty="0"/>
              <a:t> </a:t>
            </a:r>
            <a:r>
              <a:rPr lang="en-US" dirty="0" err="1" smtClean="0"/>
              <a:t>врем</a:t>
            </a:r>
            <a:r>
              <a:rPr lang="bg-BG" dirty="0" smtClean="0"/>
              <a:t>е</a:t>
            </a:r>
            <a:r>
              <a:rPr lang="en-US" dirty="0" smtClean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разлика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 и </a:t>
            </a:r>
            <a:r>
              <a:rPr lang="en-US" dirty="0" err="1"/>
              <a:t>стартовия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участва</a:t>
            </a:r>
            <a:r>
              <a:rPr lang="en-US" dirty="0"/>
              <a:t> в </a:t>
            </a:r>
            <a:r>
              <a:rPr lang="en-US" dirty="0" err="1"/>
              <a:t>изчислението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никакъв</a:t>
            </a:r>
            <a:r>
              <a:rPr lang="en-US" dirty="0"/>
              <a:t> </a:t>
            </a:r>
            <a:r>
              <a:rPr lang="en-US" dirty="0" err="1"/>
              <a:t>начин</a:t>
            </a:r>
            <a:r>
              <a:rPr lang="en-US" dirty="0"/>
              <a:t> —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генерира</a:t>
            </a:r>
            <a:r>
              <a:rPr lang="en-US" dirty="0"/>
              <a:t> </a:t>
            </a:r>
            <a:r>
              <a:rPr lang="en-US" dirty="0" err="1"/>
              <a:t>динамично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всяко</a:t>
            </a:r>
            <a:r>
              <a:rPr lang="en-US" dirty="0"/>
              <a:t> </a:t>
            </a:r>
            <a:r>
              <a:rPr lang="en-US" dirty="0" err="1"/>
              <a:t>извличане</a:t>
            </a:r>
            <a:r>
              <a:rPr lang="en-US" dirty="0"/>
              <a:t> —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сортират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равенство</a:t>
            </a:r>
            <a:r>
              <a:rPr lang="en-US" dirty="0"/>
              <a:t> —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реда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пристигане</a:t>
            </a:r>
            <a:r>
              <a:rPr lang="en-US" dirty="0"/>
              <a:t>. </a:t>
            </a:r>
            <a:r>
              <a:rPr lang="en-US" dirty="0" err="1"/>
              <a:t>Използвам</a:t>
            </a:r>
            <a:r>
              <a:rPr lang="en-US" dirty="0"/>
              <a:t> </a:t>
            </a:r>
            <a:r>
              <a:rPr lang="en-US" dirty="0" err="1"/>
              <a:t>транзакционно</a:t>
            </a:r>
            <a:r>
              <a:rPr lang="en-US" dirty="0"/>
              <a:t> </a:t>
            </a:r>
            <a:r>
              <a:rPr lang="en-US" dirty="0" err="1"/>
              <a:t>записване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непълно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Сигурността е разработена съгласно препоръките на организацията OWASP, която поддържа списък на най-критичните уязвимости в уеб приложенията.</a:t>
            </a:r>
          </a:p>
          <a:p>
            <a:endParaRPr lang="en-US"/>
          </a:p>
          <a:p>
            <a:r>
              <a:rPr lang="en-US"/>
              <a:t>Защитата срещу SQL инжекции е постигната чрез изключителното използване на Django ORM — никога не конкатенирам потребителски данни директно в SQL заявка.</a:t>
            </a:r>
          </a:p>
          <a:p>
            <a:endParaRPr lang="en-US"/>
          </a:p>
          <a:p>
            <a:r>
              <a:rPr lang="en-US"/>
              <a:t> е осигурена от вградения механизъм на Django с CSRF токени — всяка модифицираща заявка трябва да съдържа валиден токен, който злонамерена страница не може да знае.</a:t>
            </a:r>
          </a:p>
          <a:p>
            <a:endParaRPr lang="en-US"/>
          </a:p>
          <a:p>
            <a:r>
              <a:rPr lang="en-US"/>
              <a:t>Системата прилага принципа на защитата в дълбочина — всяка заявка преминава последователно през HTTP проверка, аутентикация, валидиране от сериализатора, проверка на бизнес логиката и накрая ограниченията на базата данни.</a:t>
            </a:r>
          </a:p>
          <a:p>
            <a:endParaRPr lang="en-US"/>
          </a:p>
          <a:p>
            <a:r>
              <a:rPr lang="en-US"/>
              <a:t>Дефинирани са две роли: администратор с пълен достъп и оператор с ограничени права.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с Python и Django framework,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интегрирана</a:t>
            </a:r>
            <a:r>
              <a:rPr lang="en-US" dirty="0"/>
              <a:t> </a:t>
            </a:r>
            <a:r>
              <a:rPr lang="en-US" dirty="0" err="1"/>
              <a:t>среда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програмиране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 err="1"/>
              <a:t>PyCharm</a:t>
            </a:r>
            <a:r>
              <a:rPr lang="en-US" dirty="0"/>
              <a:t>.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разработката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/>
              <a:t>XAMPP .</a:t>
            </a:r>
          </a:p>
          <a:p>
            <a:endParaRPr lang="en-US" dirty="0"/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следва</a:t>
            </a:r>
            <a:r>
              <a:rPr lang="en-US" dirty="0"/>
              <a:t> </a:t>
            </a:r>
            <a:r>
              <a:rPr lang="en-US" dirty="0" err="1"/>
              <a:t>стандартната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приложение</a:t>
            </a:r>
            <a:r>
              <a:rPr lang="en-US" dirty="0"/>
              <a:t> — models.py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структурата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, views.py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, serializers.py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валидирането</a:t>
            </a:r>
            <a:r>
              <a:rPr lang="en-US" dirty="0"/>
              <a:t> и urls.py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маршрутизацията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Административният</a:t>
            </a:r>
            <a:r>
              <a:rPr lang="en-US" dirty="0"/>
              <a:t> </a:t>
            </a:r>
            <a:r>
              <a:rPr lang="en-US" dirty="0" err="1"/>
              <a:t>панел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дава</a:t>
            </a:r>
            <a:r>
              <a:rPr lang="en-US" dirty="0"/>
              <a:t>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контрол</a:t>
            </a:r>
            <a:r>
              <a:rPr lang="en-US" dirty="0"/>
              <a:t>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директен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тествана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реална</a:t>
            </a:r>
            <a:r>
              <a:rPr lang="en-US" dirty="0"/>
              <a:t> </a:t>
            </a:r>
            <a:r>
              <a:rPr lang="en-US" dirty="0" err="1"/>
              <a:t>работна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— </a:t>
            </a:r>
            <a:r>
              <a:rPr lang="en-US" dirty="0" err="1"/>
              <a:t>регистрирани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участници</a:t>
            </a:r>
            <a:r>
              <a:rPr lang="en-US" dirty="0"/>
              <a:t>, </a:t>
            </a:r>
            <a:r>
              <a:rPr lang="en-US" dirty="0" err="1"/>
              <a:t>стартирано</a:t>
            </a:r>
            <a:r>
              <a:rPr lang="en-US" dirty="0"/>
              <a:t> е </a:t>
            </a:r>
            <a:r>
              <a:rPr lang="en-US" dirty="0" err="1"/>
              <a:t>събитие</a:t>
            </a:r>
            <a:r>
              <a:rPr lang="en-US" dirty="0"/>
              <a:t>, </a:t>
            </a:r>
            <a:r>
              <a:rPr lang="en-US" dirty="0" err="1"/>
              <a:t>маркирани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финишни</a:t>
            </a:r>
            <a:r>
              <a:rPr lang="en-US" dirty="0"/>
              <a:t> </a:t>
            </a:r>
            <a:r>
              <a:rPr lang="en-US" dirty="0" err="1"/>
              <a:t>времена</a:t>
            </a:r>
            <a:r>
              <a:rPr lang="en-US" dirty="0"/>
              <a:t> и е </a:t>
            </a:r>
            <a:r>
              <a:rPr lang="en-US" dirty="0" err="1"/>
              <a:t>проверено</a:t>
            </a:r>
            <a:r>
              <a:rPr lang="en-US" dirty="0"/>
              <a:t> </a:t>
            </a:r>
            <a:r>
              <a:rPr lang="en-US" dirty="0" err="1"/>
              <a:t>правилното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  <a:r>
              <a:rPr lang="en-US" dirty="0" err="1"/>
              <a:t>Резултатите</a:t>
            </a:r>
            <a:r>
              <a:rPr lang="en-US" dirty="0"/>
              <a:t> </a:t>
            </a:r>
            <a:r>
              <a:rPr lang="en-US" dirty="0" err="1"/>
              <a:t>потвърдиха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стабилно</a:t>
            </a:r>
            <a:r>
              <a:rPr lang="en-US" dirty="0"/>
              <a:t> и </a:t>
            </a:r>
            <a:r>
              <a:rPr lang="en-US" dirty="0" err="1"/>
              <a:t>коректно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цяло</a:t>
            </a:r>
            <a:r>
              <a:rPr lang="en-US" dirty="0"/>
              <a:t> — </a:t>
            </a:r>
            <a:r>
              <a:rPr lang="en-US" dirty="0" err="1"/>
              <a:t>разработената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успешно</a:t>
            </a:r>
            <a:r>
              <a:rPr lang="en-US" dirty="0"/>
              <a:t> </a:t>
            </a:r>
            <a:r>
              <a:rPr lang="en-US" dirty="0" err="1"/>
              <a:t>решава</a:t>
            </a:r>
            <a:r>
              <a:rPr lang="en-US" dirty="0"/>
              <a:t> </a:t>
            </a:r>
            <a:r>
              <a:rPr lang="en-US" dirty="0" err="1"/>
              <a:t>поставените</a:t>
            </a:r>
            <a:r>
              <a:rPr lang="en-US" dirty="0"/>
              <a:t> </a:t>
            </a:r>
            <a:r>
              <a:rPr lang="en-US" dirty="0" err="1"/>
              <a:t>цели</a:t>
            </a:r>
            <a:r>
              <a:rPr lang="en-US" dirty="0"/>
              <a:t>: </a:t>
            </a:r>
            <a:r>
              <a:rPr lang="en-US" dirty="0" err="1"/>
              <a:t>осигурява</a:t>
            </a:r>
            <a:r>
              <a:rPr lang="en-US" dirty="0"/>
              <a:t> </a:t>
            </a:r>
            <a:r>
              <a:rPr lang="en-US" dirty="0" err="1"/>
              <a:t>точна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, </a:t>
            </a:r>
            <a:r>
              <a:rPr lang="en-US" dirty="0" err="1"/>
              <a:t>надеждно</a:t>
            </a:r>
            <a:r>
              <a:rPr lang="en-US" dirty="0"/>
              <a:t> и </a:t>
            </a:r>
            <a:r>
              <a:rPr lang="en-US" dirty="0" err="1"/>
              <a:t>обективно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и </a:t>
            </a:r>
            <a:r>
              <a:rPr lang="en-US" dirty="0" err="1"/>
              <a:t>автоматично</a:t>
            </a:r>
            <a:r>
              <a:rPr lang="en-US" dirty="0"/>
              <a:t> </a:t>
            </a:r>
            <a:r>
              <a:rPr lang="en-US" dirty="0" err="1"/>
              <a:t>формиране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Чрез</a:t>
            </a:r>
            <a:r>
              <a:rPr lang="en-US" dirty="0"/>
              <a:t> </a:t>
            </a:r>
            <a:r>
              <a:rPr lang="en-US" dirty="0" err="1"/>
              <a:t>централизираната</a:t>
            </a:r>
            <a:r>
              <a:rPr lang="en-US" dirty="0"/>
              <a:t> </a:t>
            </a:r>
            <a:r>
              <a:rPr lang="en-US" dirty="0" err="1"/>
              <a:t>сървърна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и </a:t>
            </a:r>
            <a:r>
              <a:rPr lang="en-US" dirty="0" err="1"/>
              <a:t>принципа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нулево</a:t>
            </a:r>
            <a:r>
              <a:rPr lang="en-US" dirty="0"/>
              <a:t> </a:t>
            </a:r>
            <a:r>
              <a:rPr lang="en-US" dirty="0" err="1"/>
              <a:t>доверие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 е </a:t>
            </a:r>
            <a:r>
              <a:rPr lang="en-US" dirty="0" err="1"/>
              <a:t>постигната</a:t>
            </a:r>
            <a:r>
              <a:rPr lang="en-US" dirty="0"/>
              <a:t> </a:t>
            </a:r>
            <a:r>
              <a:rPr lang="en-US" dirty="0" err="1"/>
              <a:t>висока</a:t>
            </a:r>
            <a:r>
              <a:rPr lang="en-US" dirty="0"/>
              <a:t> </a:t>
            </a:r>
            <a:r>
              <a:rPr lang="en-US" dirty="0" err="1"/>
              <a:t>степен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сигурност</a:t>
            </a:r>
            <a:r>
              <a:rPr lang="en-US" dirty="0"/>
              <a:t> и </a:t>
            </a:r>
            <a:r>
              <a:rPr lang="en-US" dirty="0" err="1"/>
              <a:t>невъзможност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манипулация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има</a:t>
            </a:r>
            <a:r>
              <a:rPr lang="en-US" dirty="0"/>
              <a:t> </a:t>
            </a:r>
            <a:r>
              <a:rPr lang="en-US" dirty="0" err="1"/>
              <a:t>потенциал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реално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организирането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а </a:t>
            </a:r>
            <a:r>
              <a:rPr lang="en-US" dirty="0" err="1"/>
              <a:t>архитектурата</a:t>
            </a:r>
            <a:r>
              <a:rPr lang="en-US" dirty="0"/>
              <a:t> </a:t>
            </a:r>
            <a:r>
              <a:rPr lang="en-US" dirty="0" err="1"/>
              <a:t>позволява</a:t>
            </a:r>
            <a:r>
              <a:rPr lang="en-US" dirty="0"/>
              <a:t> </a:t>
            </a:r>
            <a:r>
              <a:rPr lang="en-US" dirty="0" err="1"/>
              <a:t>бъдещо</a:t>
            </a:r>
            <a:r>
              <a:rPr lang="en-US" dirty="0"/>
              <a:t> </a:t>
            </a:r>
            <a:r>
              <a:rPr lang="en-US" dirty="0" err="1"/>
              <a:t>разширяване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интеграция</a:t>
            </a:r>
            <a:r>
              <a:rPr lang="en-US" dirty="0"/>
              <a:t> с </a:t>
            </a:r>
            <a:r>
              <a:rPr lang="en-US" dirty="0" err="1"/>
              <a:t>хардуерни</a:t>
            </a:r>
            <a:r>
              <a:rPr lang="en-US" dirty="0"/>
              <a:t> </a:t>
            </a:r>
            <a:r>
              <a:rPr lang="en-US" dirty="0" err="1"/>
              <a:t>детектори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автоматично</a:t>
            </a:r>
            <a:r>
              <a:rPr lang="en-US" dirty="0"/>
              <a:t> </a:t>
            </a:r>
            <a:r>
              <a:rPr lang="en-US" dirty="0" err="1"/>
              <a:t>отчитане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PDF </a:t>
            </a:r>
            <a:r>
              <a:rPr lang="en-US" dirty="0" err="1"/>
              <a:t>протоколи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ми</a:t>
            </a:r>
            <a:r>
              <a:rPr lang="en-US" dirty="0"/>
              <a:t> </a:t>
            </a:r>
            <a:r>
              <a:rPr lang="en-US" dirty="0" err="1"/>
              <a:t>даде</a:t>
            </a:r>
            <a:r>
              <a:rPr lang="en-US" dirty="0"/>
              <a:t> </a:t>
            </a:r>
            <a:r>
              <a:rPr lang="en-US" dirty="0" err="1"/>
              <a:t>възможност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приложа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практика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областта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уеб</a:t>
            </a:r>
            <a:r>
              <a:rPr lang="en-US" dirty="0"/>
              <a:t> </a:t>
            </a:r>
            <a:r>
              <a:rPr lang="en-US" dirty="0" err="1"/>
              <a:t>технологиите</a:t>
            </a:r>
            <a:r>
              <a:rPr lang="en-US" dirty="0"/>
              <a:t>, </a:t>
            </a:r>
            <a:r>
              <a:rPr lang="en-US" dirty="0" err="1"/>
              <a:t>алгоритмите</a:t>
            </a:r>
            <a:r>
              <a:rPr lang="en-US" dirty="0"/>
              <a:t>, </a:t>
            </a:r>
            <a:r>
              <a:rPr lang="en-US" dirty="0" err="1"/>
              <a:t>базите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и </a:t>
            </a:r>
            <a:r>
              <a:rPr lang="en-US" dirty="0" err="1"/>
              <a:t>информационната</a:t>
            </a:r>
            <a:r>
              <a:rPr lang="en-US" dirty="0"/>
              <a:t> </a:t>
            </a:r>
            <a:r>
              <a:rPr lang="en-US" dirty="0" err="1"/>
              <a:t>сигурност</a:t>
            </a:r>
            <a:r>
              <a:rPr lang="en-US" dirty="0"/>
              <a:t>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ви за вашето вниманието. Ако имате въпроси, аз съм готов да отговоря.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7634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5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40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875565" y="689559"/>
            <a:ext cx="2442811" cy="2448302"/>
          </a:xfrm>
          <a:custGeom>
            <a:avLst/>
            <a:gdLst/>
            <a:ahLst/>
            <a:cxnLst/>
            <a:rect l="l" t="t" r="r" b="b"/>
            <a:pathLst>
              <a:path w="2017422" h="2024978">
                <a:moveTo>
                  <a:pt x="0" y="0"/>
                </a:moveTo>
                <a:lnTo>
                  <a:pt x="2017422" y="0"/>
                </a:lnTo>
                <a:lnTo>
                  <a:pt x="2017422" y="2024978"/>
                </a:lnTo>
                <a:lnTo>
                  <a:pt x="0" y="20249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948117" y="684116"/>
            <a:ext cx="8396283" cy="22241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Държавенизпит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придобиване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трета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степен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професионална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квалификация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част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теория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професията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програмист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специалност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4810201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Системнопрограмиране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75565" y="4610100"/>
            <a:ext cx="9606111" cy="847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Тема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Система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времеизмерване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масови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лекоатлетически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състезания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506200" y="6219317"/>
            <a:ext cx="3745807" cy="756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Виктор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Василев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58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573316" y="-337895"/>
            <a:ext cx="1785128" cy="1789602"/>
          </a:xfrm>
          <a:custGeom>
            <a:avLst/>
            <a:gdLst/>
            <a:ahLst/>
            <a:cxnLst/>
            <a:rect l="l" t="t" r="r" b="b"/>
            <a:pathLst>
              <a:path w="1785128" h="1789602">
                <a:moveTo>
                  <a:pt x="0" y="0"/>
                </a:moveTo>
                <a:lnTo>
                  <a:pt x="1785128" y="0"/>
                </a:lnTo>
                <a:lnTo>
                  <a:pt x="1785128" y="1789602"/>
                </a:lnTo>
                <a:lnTo>
                  <a:pt x="0" y="1789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534400" y="2369187"/>
            <a:ext cx="8256693" cy="7396754"/>
          </a:xfrm>
          <a:custGeom>
            <a:avLst/>
            <a:gdLst/>
            <a:ahLst/>
            <a:cxnLst/>
            <a:rect l="l" t="t" r="r" b="b"/>
            <a:pathLst>
              <a:path w="7272978" h="7396754">
                <a:moveTo>
                  <a:pt x="0" y="0"/>
                </a:moveTo>
                <a:lnTo>
                  <a:pt x="7272979" y="0"/>
                </a:lnTo>
                <a:lnTo>
                  <a:pt x="7272979" y="7396753"/>
                </a:lnTo>
                <a:lnTo>
                  <a:pt x="0" y="7396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0774" r="-32448"/>
            </a:stretch>
          </a:blipFill>
          <a:ln>
            <a:solidFill>
              <a:schemeClr val="tx1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496906" y="1461232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ПРОБЛЕМЪТ — ЗАЩО Е НУЖНА ТАКАВА СИСТЕМА?</a:t>
            </a:r>
          </a:p>
          <a:p>
            <a:pPr algn="just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96906" y="4878799"/>
            <a:ext cx="61230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Проблемът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от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човешка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грешка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96906" y="5396568"/>
            <a:ext cx="36084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По-надежно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96906" y="5914338"/>
            <a:ext cx="44466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По-практично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247169" y="-1409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354384">
            <a:off x="14313366" y="8592645"/>
            <a:ext cx="5491802" cy="6646029"/>
          </a:xfrm>
          <a:custGeom>
            <a:avLst/>
            <a:gdLst/>
            <a:ahLst/>
            <a:cxnLst/>
            <a:rect l="l" t="t" r="r" b="b"/>
            <a:pathLst>
              <a:path w="5491802" h="6646029">
                <a:moveTo>
                  <a:pt x="0" y="0"/>
                </a:moveTo>
                <a:lnTo>
                  <a:pt x="5491801" y="0"/>
                </a:lnTo>
                <a:lnTo>
                  <a:pt x="5491801" y="6646028"/>
                </a:lnTo>
                <a:lnTo>
                  <a:pt x="0" y="66460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537020" y="2476501"/>
            <a:ext cx="11559980" cy="7425158"/>
          </a:xfrm>
          <a:custGeom>
            <a:avLst/>
            <a:gdLst/>
            <a:ahLst/>
            <a:cxnLst/>
            <a:rect l="l" t="t" r="r" b="b"/>
            <a:pathLst>
              <a:path w="10264581" h="6158748">
                <a:moveTo>
                  <a:pt x="0" y="0"/>
                </a:moveTo>
                <a:lnTo>
                  <a:pt x="10264580" y="0"/>
                </a:lnTo>
                <a:lnTo>
                  <a:pt x="10264580" y="6158748"/>
                </a:lnTo>
                <a:lnTo>
                  <a:pt x="0" y="615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543800" y="4941041"/>
            <a:ext cx="1018095" cy="1013296"/>
          </a:xfrm>
          <a:custGeom>
            <a:avLst/>
            <a:gdLst/>
            <a:ahLst/>
            <a:cxnLst/>
            <a:rect l="l" t="t" r="r" b="b"/>
            <a:pathLst>
              <a:path w="732435" h="732435">
                <a:moveTo>
                  <a:pt x="0" y="0"/>
                </a:moveTo>
                <a:lnTo>
                  <a:pt x="732435" y="0"/>
                </a:lnTo>
                <a:lnTo>
                  <a:pt x="732435" y="732435"/>
                </a:lnTo>
                <a:lnTo>
                  <a:pt x="0" y="732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92810" y="515543"/>
            <a:ext cx="1271781" cy="1269468"/>
          </a:xfrm>
          <a:custGeom>
            <a:avLst/>
            <a:gdLst/>
            <a:ahLst/>
            <a:cxnLst/>
            <a:rect l="l" t="t" r="r" b="b"/>
            <a:pathLst>
              <a:path w="1271781" h="1269468">
                <a:moveTo>
                  <a:pt x="0" y="0"/>
                </a:moveTo>
                <a:lnTo>
                  <a:pt x="1271780" y="0"/>
                </a:lnTo>
                <a:lnTo>
                  <a:pt x="1271780" y="1269468"/>
                </a:lnTo>
                <a:lnTo>
                  <a:pt x="0" y="12694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1644935"/>
            <a:ext cx="15294187" cy="1915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ТЕОРЕТИЧНА ОСНОВА</a:t>
            </a: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 rot="-1338189">
            <a:off x="2547558" y="6918076"/>
            <a:ext cx="21316171" cy="7274224"/>
          </a:xfrm>
          <a:custGeom>
            <a:avLst/>
            <a:gdLst/>
            <a:ahLst/>
            <a:cxnLst/>
            <a:rect l="l" t="t" r="r" b="b"/>
            <a:pathLst>
              <a:path w="21316171" h="7274224">
                <a:moveTo>
                  <a:pt x="0" y="0"/>
                </a:moveTo>
                <a:lnTo>
                  <a:pt x="21316171" y="0"/>
                </a:lnTo>
                <a:lnTo>
                  <a:pt x="21316171" y="7274224"/>
                </a:lnTo>
                <a:lnTo>
                  <a:pt x="0" y="72742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676155" y="2966390"/>
            <a:ext cx="14878026" cy="6784235"/>
            <a:chOff x="0" y="0"/>
            <a:chExt cx="19275635" cy="8561315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1243" r="1243" b="34923"/>
            <a:stretch>
              <a:fillRect/>
            </a:stretch>
          </p:blipFill>
          <p:spPr>
            <a:xfrm>
              <a:off x="0" y="0"/>
              <a:ext cx="12765757" cy="421715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6"/>
            <a:srcRect l="28557" r="34258"/>
            <a:stretch>
              <a:fillRect/>
            </a:stretch>
          </p:blipFill>
          <p:spPr>
            <a:xfrm>
              <a:off x="12892757" y="0"/>
              <a:ext cx="6382878" cy="8561315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7"/>
            <a:srcRect t="4015" b="54102"/>
            <a:stretch>
              <a:fillRect/>
            </a:stretch>
          </p:blipFill>
          <p:spPr>
            <a:xfrm>
              <a:off x="0" y="4344157"/>
              <a:ext cx="12765757" cy="4217157"/>
            </a:xfrm>
            <a:prstGeom prst="rect">
              <a:avLst/>
            </a:prstGeom>
          </p:spPr>
        </p:pic>
      </p:grpSp>
      <p:sp>
        <p:nvSpPr>
          <p:cNvPr id="9" name="Freeform 9"/>
          <p:cNvSpPr/>
          <p:nvPr/>
        </p:nvSpPr>
        <p:spPr>
          <a:xfrm rot="1133710">
            <a:off x="-2855299" y="-4381249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2" y="0"/>
                </a:lnTo>
                <a:lnTo>
                  <a:pt x="822549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400030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НА СИСТЕМАТА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6155" y="5607070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1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040081" y="6401565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84677" y="2883744"/>
            <a:ext cx="587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</a:p>
          <a:p>
            <a:endParaRPr lang="bg-BG" sz="28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09" y="-12294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362200" y="3086100"/>
            <a:ext cx="13198621" cy="4350929"/>
            <a:chOff x="0" y="0"/>
            <a:chExt cx="16551626" cy="5372176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7415" r="7415" b="73076"/>
            <a:stretch>
              <a:fillRect/>
            </a:stretch>
          </p:blipFill>
          <p:spPr>
            <a:xfrm>
              <a:off x="0" y="0"/>
              <a:ext cx="16551626" cy="2609559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7327" b="51223"/>
            <a:stretch>
              <a:fillRect/>
            </a:stretch>
          </p:blipFill>
          <p:spPr>
            <a:xfrm>
              <a:off x="0" y="2762616"/>
              <a:ext cx="16551626" cy="2609559"/>
            </a:xfrm>
            <a:prstGeom prst="rect">
              <a:avLst/>
            </a:prstGeom>
          </p:spPr>
        </p:pic>
      </p:grpSp>
      <p:sp>
        <p:nvSpPr>
          <p:cNvPr id="11" name="Freeform 11"/>
          <p:cNvSpPr/>
          <p:nvPr/>
        </p:nvSpPr>
        <p:spPr>
          <a:xfrm>
            <a:off x="16340706" y="8225724"/>
            <a:ext cx="2048982" cy="2048982"/>
          </a:xfrm>
          <a:custGeom>
            <a:avLst/>
            <a:gdLst/>
            <a:ahLst/>
            <a:cxnLst/>
            <a:rect l="l" t="t" r="r" b="b"/>
            <a:pathLst>
              <a:path w="2048982" h="2048982">
                <a:moveTo>
                  <a:pt x="0" y="0"/>
                </a:moveTo>
                <a:lnTo>
                  <a:pt x="2048982" y="0"/>
                </a:lnTo>
                <a:lnTo>
                  <a:pt x="2048982" y="2048982"/>
                </a:lnTo>
                <a:lnTo>
                  <a:pt x="0" y="20489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362200" y="7776209"/>
            <a:ext cx="13198621" cy="1482091"/>
          </a:xfrm>
          <a:custGeom>
            <a:avLst/>
            <a:gdLst/>
            <a:ahLst/>
            <a:cxnLst/>
            <a:rect l="l" t="t" r="r" b="b"/>
            <a:pathLst>
              <a:path w="12413719" h="843253">
                <a:moveTo>
                  <a:pt x="0" y="0"/>
                </a:moveTo>
                <a:lnTo>
                  <a:pt x="12413719" y="0"/>
                </a:lnTo>
                <a:lnTo>
                  <a:pt x="12413719" y="843253"/>
                </a:lnTo>
                <a:lnTo>
                  <a:pt x="0" y="843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5225" t="-11814" b="-11814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96906" y="1678572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БАЗА ДАННИ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3575" y="7747813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>
                <a:latin typeface="Arial Black" panose="020B0A04020102020204" pitchFamily="34" charset="0"/>
              </a:rPr>
              <a:t>1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10917" y="5224847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10917" y="2974339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  <a:endParaRPr lang="bg-BG" sz="44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296400" y="5525779"/>
            <a:ext cx="8421794" cy="4534798"/>
          </a:xfrm>
          <a:custGeom>
            <a:avLst/>
            <a:gdLst/>
            <a:ahLst/>
            <a:cxnLst/>
            <a:rect l="l" t="t" r="r" b="b"/>
            <a:pathLst>
              <a:path w="7774094" h="4213828">
                <a:moveTo>
                  <a:pt x="0" y="0"/>
                </a:moveTo>
                <a:lnTo>
                  <a:pt x="7774094" y="0"/>
                </a:lnTo>
                <a:lnTo>
                  <a:pt x="7774094" y="4213828"/>
                </a:lnTo>
                <a:lnTo>
                  <a:pt x="0" y="4213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755"/>
            </a:stretch>
          </a:blipFill>
          <a:ln>
            <a:solidFill>
              <a:schemeClr val="tx1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4114800" y="1998034"/>
            <a:ext cx="9829800" cy="3373168"/>
          </a:xfrm>
          <a:custGeom>
            <a:avLst/>
            <a:gdLst/>
            <a:ahLst/>
            <a:cxnLst/>
            <a:rect l="l" t="t" r="r" b="b"/>
            <a:pathLst>
              <a:path w="7988300" h="2661977">
                <a:moveTo>
                  <a:pt x="0" y="0"/>
                </a:moveTo>
                <a:lnTo>
                  <a:pt x="7988300" y="0"/>
                </a:lnTo>
                <a:lnTo>
                  <a:pt x="7988300" y="2661977"/>
                </a:lnTo>
                <a:lnTo>
                  <a:pt x="0" y="26619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30" t="-16926" b="-89381"/>
            </a:stretch>
          </a:blipFill>
          <a:ln>
            <a:solidFill>
              <a:schemeClr val="tx1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549840" y="5525779"/>
            <a:ext cx="8473329" cy="4534798"/>
          </a:xfrm>
          <a:custGeom>
            <a:avLst/>
            <a:gdLst/>
            <a:ahLst/>
            <a:cxnLst/>
            <a:rect l="l" t="t" r="r" b="b"/>
            <a:pathLst>
              <a:path w="7776507" h="4268748">
                <a:moveTo>
                  <a:pt x="0" y="0"/>
                </a:moveTo>
                <a:lnTo>
                  <a:pt x="7776506" y="0"/>
                </a:lnTo>
                <a:lnTo>
                  <a:pt x="7776506" y="4268748"/>
                </a:lnTo>
                <a:lnTo>
                  <a:pt x="0" y="426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286" r="-2723"/>
            </a:stretch>
          </a:blipFill>
          <a:ln>
            <a:solidFill>
              <a:schemeClr val="tx1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382622" y="1075358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КРАЕН АВТОМАТ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147087" y="-1614361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1" y="0"/>
                </a:lnTo>
                <a:lnTo>
                  <a:pt x="9353441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468839" y="8983173"/>
            <a:ext cx="8708571" cy="8229600"/>
          </a:xfrm>
          <a:custGeom>
            <a:avLst/>
            <a:gdLst/>
            <a:ahLst/>
            <a:cxnLst/>
            <a:rect l="l" t="t" r="r" b="b"/>
            <a:pathLst>
              <a:path w="8708571" h="8229600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8425" y="2679071"/>
            <a:ext cx="4470472" cy="6579229"/>
          </a:xfrm>
          <a:custGeom>
            <a:avLst/>
            <a:gdLst/>
            <a:ahLst/>
            <a:cxnLst/>
            <a:rect l="l" t="t" r="r" b="b"/>
            <a:pathLst>
              <a:path w="4470472" h="6579229">
                <a:moveTo>
                  <a:pt x="0" y="0"/>
                </a:moveTo>
                <a:lnTo>
                  <a:pt x="4470472" y="0"/>
                </a:lnTo>
                <a:lnTo>
                  <a:pt x="4470472" y="6579229"/>
                </a:lnTo>
                <a:lnTo>
                  <a:pt x="0" y="65792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7238" r="-80391"/>
            </a:stretch>
          </a:blipFill>
          <a:ln>
            <a:solidFill>
              <a:schemeClr val="tx1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6531291" y="4303058"/>
            <a:ext cx="3626780" cy="3278842"/>
          </a:xfrm>
          <a:custGeom>
            <a:avLst/>
            <a:gdLst/>
            <a:ahLst/>
            <a:cxnLst/>
            <a:rect l="l" t="t" r="r" b="b"/>
            <a:pathLst>
              <a:path w="2605554" h="2174241">
                <a:moveTo>
                  <a:pt x="0" y="0"/>
                </a:moveTo>
                <a:lnTo>
                  <a:pt x="2605553" y="0"/>
                </a:lnTo>
                <a:lnTo>
                  <a:pt x="2605553" y="2174241"/>
                </a:lnTo>
                <a:lnTo>
                  <a:pt x="0" y="21742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40715" t="-62253" r="-14418"/>
            </a:stretch>
          </a:blipFill>
          <a:ln>
            <a:solidFill>
              <a:schemeClr val="tx1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0440465" y="2937898"/>
            <a:ext cx="7542733" cy="2662801"/>
          </a:xfrm>
          <a:custGeom>
            <a:avLst/>
            <a:gdLst/>
            <a:ahLst/>
            <a:cxnLst/>
            <a:rect l="l" t="t" r="r" b="b"/>
            <a:pathLst>
              <a:path w="4766089" h="1202669">
                <a:moveTo>
                  <a:pt x="0" y="0"/>
                </a:moveTo>
                <a:lnTo>
                  <a:pt x="4766089" y="0"/>
                </a:lnTo>
                <a:lnTo>
                  <a:pt x="4766089" y="1202670"/>
                </a:lnTo>
                <a:lnTo>
                  <a:pt x="0" y="1202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1168"/>
            </a:stretch>
          </a:blipFill>
          <a:ln>
            <a:solidFill>
              <a:schemeClr val="tx1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363722" y="6412364"/>
            <a:ext cx="7619477" cy="3455535"/>
          </a:xfrm>
          <a:custGeom>
            <a:avLst/>
            <a:gdLst/>
            <a:ahLst/>
            <a:cxnLst/>
            <a:rect l="l" t="t" r="r" b="b"/>
            <a:pathLst>
              <a:path w="4504821" h="2132717">
                <a:moveTo>
                  <a:pt x="0" y="0"/>
                </a:moveTo>
                <a:lnTo>
                  <a:pt x="4504821" y="0"/>
                </a:lnTo>
                <a:lnTo>
                  <a:pt x="4504821" y="2132717"/>
                </a:lnTo>
                <a:lnTo>
                  <a:pt x="0" y="2132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496906" y="144021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АЛГОРИТМИ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1463" y="5968686"/>
            <a:ext cx="1201337" cy="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2" name="AutoShape 12"/>
          <p:cNvSpPr/>
          <p:nvPr/>
        </p:nvSpPr>
        <p:spPr>
          <a:xfrm flipV="1">
            <a:off x="9601201" y="5143499"/>
            <a:ext cx="1092006" cy="29515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3" name="AutoShape 13"/>
          <p:cNvSpPr/>
          <p:nvPr/>
        </p:nvSpPr>
        <p:spPr>
          <a:xfrm>
            <a:off x="14884775" y="4992575"/>
            <a:ext cx="29862" cy="1605781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187074" y="-3852028"/>
            <a:ext cx="6453726" cy="6469900"/>
          </a:xfrm>
          <a:custGeom>
            <a:avLst/>
            <a:gdLst/>
            <a:ahLst/>
            <a:cxnLst/>
            <a:rect l="l" t="t" r="r" b="b"/>
            <a:pathLst>
              <a:path w="6453726" h="6469900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3352800" y="-2476500"/>
            <a:ext cx="5591917" cy="6012814"/>
          </a:xfrm>
          <a:custGeom>
            <a:avLst/>
            <a:gdLst/>
            <a:ahLst/>
            <a:cxnLst/>
            <a:rect l="l" t="t" r="r" b="b"/>
            <a:pathLst>
              <a:path w="5591917" h="6012814">
                <a:moveTo>
                  <a:pt x="0" y="0"/>
                </a:moveTo>
                <a:lnTo>
                  <a:pt x="5591916" y="0"/>
                </a:lnTo>
                <a:lnTo>
                  <a:pt x="5591916" y="6012814"/>
                </a:lnTo>
                <a:lnTo>
                  <a:pt x="0" y="60128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629181" y="2976461"/>
            <a:ext cx="5029637" cy="1912443"/>
          </a:xfrm>
          <a:custGeom>
            <a:avLst/>
            <a:gdLst/>
            <a:ahLst/>
            <a:cxnLst/>
            <a:rect l="l" t="t" r="r" b="b"/>
            <a:pathLst>
              <a:path w="5029637" h="1912443">
                <a:moveTo>
                  <a:pt x="0" y="0"/>
                </a:moveTo>
                <a:lnTo>
                  <a:pt x="5029638" y="0"/>
                </a:lnTo>
                <a:lnTo>
                  <a:pt x="5029638" y="1912443"/>
                </a:lnTo>
                <a:lnTo>
                  <a:pt x="0" y="1912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710" r="-471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04800" y="5859704"/>
            <a:ext cx="9448799" cy="3613540"/>
          </a:xfrm>
          <a:custGeom>
            <a:avLst/>
            <a:gdLst/>
            <a:ahLst/>
            <a:cxnLst/>
            <a:rect l="l" t="t" r="r" b="b"/>
            <a:pathLst>
              <a:path w="6945819" h="2248709">
                <a:moveTo>
                  <a:pt x="0" y="0"/>
                </a:moveTo>
                <a:lnTo>
                  <a:pt x="6945819" y="0"/>
                </a:lnTo>
                <a:lnTo>
                  <a:pt x="6945819" y="2248709"/>
                </a:lnTo>
                <a:lnTo>
                  <a:pt x="0" y="22487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498017" y="5989113"/>
            <a:ext cx="7090389" cy="1419819"/>
          </a:xfrm>
          <a:custGeom>
            <a:avLst/>
            <a:gdLst/>
            <a:ahLst/>
            <a:cxnLst/>
            <a:rect l="l" t="t" r="r" b="b"/>
            <a:pathLst>
              <a:path w="5691866" h="998573">
                <a:moveTo>
                  <a:pt x="0" y="0"/>
                </a:moveTo>
                <a:lnTo>
                  <a:pt x="5691866" y="0"/>
                </a:lnTo>
                <a:lnTo>
                  <a:pt x="5691866" y="998573"/>
                </a:lnTo>
                <a:lnTo>
                  <a:pt x="0" y="9985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СИГУРНОСТ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675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SQL инжекции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54444" y="5139503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срещу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CSRF </a:t>
            </a: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атаки</a:t>
            </a:r>
            <a:endParaRPr lang="en-US" sz="33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 rot="1133710">
            <a:off x="-717875" y="-4920050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1" y="0"/>
                </a:lnTo>
                <a:lnTo>
                  <a:pt x="822549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07675" y="4492826"/>
            <a:ext cx="2094366" cy="2094366"/>
          </a:xfrm>
          <a:custGeom>
            <a:avLst/>
            <a:gdLst/>
            <a:ahLst/>
            <a:cxnLst/>
            <a:rect l="l" t="t" r="r" b="b"/>
            <a:pathLst>
              <a:path w="2094366" h="2094366">
                <a:moveTo>
                  <a:pt x="0" y="0"/>
                </a:moveTo>
                <a:lnTo>
                  <a:pt x="2094366" y="0"/>
                </a:lnTo>
                <a:lnTo>
                  <a:pt x="2094366" y="2094367"/>
                </a:lnTo>
                <a:lnTo>
                  <a:pt x="0" y="20943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394871" y="4199035"/>
            <a:ext cx="1482810" cy="1888930"/>
          </a:xfrm>
          <a:custGeom>
            <a:avLst/>
            <a:gdLst/>
            <a:ahLst/>
            <a:cxnLst/>
            <a:rect l="l" t="t" r="r" b="b"/>
            <a:pathLst>
              <a:path w="1482810" h="1888930">
                <a:moveTo>
                  <a:pt x="0" y="0"/>
                </a:moveTo>
                <a:lnTo>
                  <a:pt x="1482810" y="0"/>
                </a:lnTo>
                <a:lnTo>
                  <a:pt x="1482810" y="1888930"/>
                </a:lnTo>
                <a:lnTo>
                  <a:pt x="0" y="18889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499205" y="6269502"/>
            <a:ext cx="1762079" cy="2234014"/>
          </a:xfrm>
          <a:custGeom>
            <a:avLst/>
            <a:gdLst/>
            <a:ahLst/>
            <a:cxnLst/>
            <a:rect l="l" t="t" r="r" b="b"/>
            <a:pathLst>
              <a:path w="1762079" h="2234014">
                <a:moveTo>
                  <a:pt x="0" y="0"/>
                </a:moveTo>
                <a:lnTo>
                  <a:pt x="1762079" y="0"/>
                </a:lnTo>
                <a:lnTo>
                  <a:pt x="1762079" y="2234014"/>
                </a:lnTo>
                <a:lnTo>
                  <a:pt x="0" y="223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835447" y="4595366"/>
            <a:ext cx="3572224" cy="4654133"/>
          </a:xfrm>
          <a:custGeom>
            <a:avLst/>
            <a:gdLst/>
            <a:ahLst/>
            <a:cxnLst/>
            <a:rect l="l" t="t" r="r" b="b"/>
            <a:pathLst>
              <a:path w="2607282" h="3826306">
                <a:moveTo>
                  <a:pt x="0" y="0"/>
                </a:moveTo>
                <a:lnTo>
                  <a:pt x="2607282" y="0"/>
                </a:lnTo>
                <a:lnTo>
                  <a:pt x="2607282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420"/>
            </a:stretch>
          </a:blipFill>
          <a:ln>
            <a:solidFill>
              <a:schemeClr val="tx1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2257673" y="4261932"/>
            <a:ext cx="5001627" cy="4756673"/>
          </a:xfrm>
          <a:custGeom>
            <a:avLst/>
            <a:gdLst/>
            <a:ahLst/>
            <a:cxnLst/>
            <a:rect l="l" t="t" r="r" b="b"/>
            <a:pathLst>
              <a:path w="4866247" h="4533766">
                <a:moveTo>
                  <a:pt x="0" y="0"/>
                </a:moveTo>
                <a:lnTo>
                  <a:pt x="4866247" y="0"/>
                </a:lnTo>
                <a:lnTo>
                  <a:pt x="4866247" y="4533766"/>
                </a:lnTo>
                <a:lnTo>
                  <a:pt x="0" y="45337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975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594849" y="4595366"/>
            <a:ext cx="3303160" cy="4654802"/>
          </a:xfrm>
          <a:custGeom>
            <a:avLst/>
            <a:gdLst/>
            <a:ahLst/>
            <a:cxnLst/>
            <a:rect l="l" t="t" r="r" b="b"/>
            <a:pathLst>
              <a:path w="2387765" h="3826306">
                <a:moveTo>
                  <a:pt x="0" y="0"/>
                </a:moveTo>
                <a:lnTo>
                  <a:pt x="2387765" y="0"/>
                </a:lnTo>
                <a:lnTo>
                  <a:pt x="2387765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9638" r="-4434"/>
            </a:stretch>
          </a:blipFill>
          <a:ln>
            <a:solidFill>
              <a:schemeClr val="tx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 И ТЕСТВАНЕ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54858" y="3317538"/>
            <a:ext cx="222483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Ползвано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36718" y="3893386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Структура и Django панел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57673" y="3418620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Истински тествано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526000" y="2552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8362842" y="176456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66800" y="495300"/>
            <a:ext cx="16306799" cy="9296400"/>
          </a:xfrm>
          <a:custGeom>
            <a:avLst/>
            <a:gdLst/>
            <a:ahLst/>
            <a:cxnLst/>
            <a:rect l="l" t="t" r="r" b="b"/>
            <a:pathLst>
              <a:path w="11301259" h="6159186">
                <a:moveTo>
                  <a:pt x="0" y="0"/>
                </a:moveTo>
                <a:lnTo>
                  <a:pt x="11301258" y="0"/>
                </a:lnTo>
                <a:lnTo>
                  <a:pt x="11301258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65281" y="6822428"/>
            <a:ext cx="3324374" cy="3464572"/>
          </a:xfrm>
          <a:custGeom>
            <a:avLst/>
            <a:gdLst/>
            <a:ahLst/>
            <a:cxnLst/>
            <a:rect l="l" t="t" r="r" b="b"/>
            <a:pathLst>
              <a:path w="3324374" h="3464572">
                <a:moveTo>
                  <a:pt x="0" y="0"/>
                </a:moveTo>
                <a:lnTo>
                  <a:pt x="3324374" y="0"/>
                </a:lnTo>
                <a:lnTo>
                  <a:pt x="3324374" y="3464572"/>
                </a:lnTo>
                <a:lnTo>
                  <a:pt x="0" y="3464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08" r="-210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6906" y="3856609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БЛАГОДАРЯ ВИ </a:t>
            </a:r>
          </a:p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 ВАШЕТО ВНИМАНИЕ!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01600" y="8176405"/>
            <a:ext cx="4229664" cy="7566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Виктор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Василев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1225</Words>
  <Application>Microsoft Office PowerPoint</Application>
  <PresentationFormat>Custom</PresentationFormat>
  <Paragraphs>128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Times New Roman</vt:lpstr>
      <vt:lpstr>Arial Black</vt:lpstr>
      <vt:lpstr>Arial</vt:lpstr>
      <vt:lpstr>Open Sans</vt:lpstr>
      <vt:lpstr>Times New Roman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Company</dc:title>
  <cp:lastModifiedBy>Admin</cp:lastModifiedBy>
  <cp:revision>24</cp:revision>
  <dcterms:created xsi:type="dcterms:W3CDTF">2006-08-16T00:00:00Z</dcterms:created>
  <dcterms:modified xsi:type="dcterms:W3CDTF">2026-04-30T07:41:10Z</dcterms:modified>
  <dc:identifier>DAHHpVcMLG8</dc:identifier>
</cp:coreProperties>
</file>