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8288000" cy="10287000"/>
  <p:notesSz cx="6858000" cy="9144000"/>
  <p:embeddedFontLst>
    <p:embeddedFont>
      <p:font typeface="Open Sans" panose="020B0606030504020204" pitchFamily="34" charset="0"/>
      <p:regular r:id="rId14"/>
      <p:bold r:id="rId15"/>
      <p:italic r:id="rId16"/>
      <p:boldItalic r:id="rId17"/>
    </p:embeddedFont>
    <p:embeddedFont>
      <p:font typeface="Times New Roman Bold" panose="02020803070505020304" pitchFamily="18" charset="0"/>
      <p:regular r:id="rId18"/>
      <p:bold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0AD026F-A402-E16A-24E3-59C62AB42C4F}" v="12" dt="2026-04-29T17:19:56.19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29.04.2026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Уважаема г-жо Директор, Уважаема комисия, уважаеми гости. Аз съм Виктор Василев. Темата на моя дипломен проект е „Система за времеизмерване при масови лекоатлетически състезания".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Преди да обясня как работи системата, искам да покажа защо тя е необходима.</a:t>
            </a:r>
          </a:p>
          <a:p>
            <a:endParaRPr lang="en-US"/>
          </a:p>
          <a:p>
            <a:r>
              <a:rPr lang="en-US"/>
              <a:t>При традиционните методи за организация на масови лекоатлетически прояви, се използват хартиени протоколи и ръчно хронометриране. Това носи три сериозни проблема.</a:t>
            </a:r>
          </a:p>
          <a:p>
            <a:endParaRPr lang="en-US"/>
          </a:p>
          <a:p>
            <a:r>
              <a:rPr lang="en-US"/>
              <a:t>Първо — рискът от човешка грешка е много висок, особено когато няколко участника финишират едновременно. Второ — ръчното изчисляване на класирането отнема много повече персонал и забавя обявяването на резултатите. И трето — при спорна ситуация е практически невъзможно да се провери кой е направил каква промяна и кога.</a:t>
            </a:r>
          </a:p>
          <a:p>
            <a:endParaRPr lang="en-US"/>
          </a:p>
          <a:p>
            <a:r>
              <a:rPr lang="en-US"/>
              <a:t>Именно тези ограничения ме накараха да разработя централизирана система, при която всички операции — включително измерването на времето — се извършват на сървъра и не могат да бъдат манипулирани от клиента.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За да разберем как работи системата, трябва да изясним теоретичната основа, върху която е изградена.</a:t>
            </a:r>
          </a:p>
          <a:p>
            <a:endParaRPr lang="en-US"/>
          </a:p>
          <a:p>
            <a:r>
              <a:rPr lang="en-US"/>
              <a:t>Системата използва клиент–сървър архитектура — браузърът на оператора е клиентът, а Django приложението е сървърът. Комуникацията между тях се осъществява чрез HTTP протокола, при който клиентът изпраща заявки и получава отговори.</a:t>
            </a:r>
          </a:p>
          <a:p>
            <a:endParaRPr lang="en-US"/>
          </a:p>
          <a:p>
            <a:r>
              <a:rPr lang="en-US"/>
              <a:t>REST е архитектурен стил, по който е проектирано API-я на системата — всеки обект като участник или събитие е достъпен като ресурс с уникален адрес.</a:t>
            </a:r>
          </a:p>
          <a:p>
            <a:endParaRPr lang="en-US"/>
          </a:p>
          <a:p>
            <a:r>
              <a:rPr lang="en-US"/>
              <a:t>Данните се съхраняват в релационна база данни с ACID гаранции за консистентност.</a:t>
            </a:r>
          </a:p>
          <a:p>
            <a:endParaRPr lang="en-US"/>
          </a:p>
          <a:p>
            <a:r>
              <a:rPr lang="en-US"/>
              <a:t>Може би най-важната теоретична концепция е централизираното времеизмерване — единственият компонент, определящ официалното време, е сървърът. Клиентът само изпраща сигнал. Така времето не може да бъде манипулирано.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логически разделена на три слоя.</a:t>
            </a:r>
          </a:p>
          <a:p>
            <a:endParaRPr lang="en-US"/>
          </a:p>
          <a:p>
            <a:r>
              <a:rPr lang="en-US"/>
              <a:t>Първият е представителният слой — това е всичко, което потребителят вижда: HTML страниците, изградени с Django шаблони.</a:t>
            </a:r>
          </a:p>
          <a:p>
            <a:endParaRPr lang="en-US"/>
          </a:p>
          <a:p>
            <a:r>
              <a:rPr lang="en-US"/>
              <a:t>Вторият е приложният слой — там се извършва цялата работа. Той приема заявките, проверява правата на достъп, валидира данните и изпълнява бизнес операциите.</a:t>
            </a:r>
          </a:p>
          <a:p>
            <a:endParaRPr lang="en-US"/>
          </a:p>
          <a:p>
            <a:r>
              <a:rPr lang="en-US"/>
              <a:t>Третият е слоят за данни — Django ORM, който превежда Python операциите в SQL заявки към базата данни.</a:t>
            </a:r>
          </a:p>
          <a:p>
            <a:endParaRPr lang="en-US"/>
          </a:p>
          <a:p>
            <a:r>
              <a:rPr lang="en-US"/>
              <a:t>Ключово архитектурно решение е принципът на нулево доверие към клиента: дори данни, изпратени от легитимния потребителски интерфейс, преминават през пълна проверка на сървъра. Системата никога не приема за даденост, че клиентът е изпратил коректни данни.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Базата данни се състои от три основни таблици.</a:t>
            </a:r>
          </a:p>
          <a:p>
            <a:endParaRPr lang="en-US"/>
          </a:p>
          <a:p>
            <a:r>
              <a:rPr lang="en-US"/>
              <a:t>Таблицата main_competition пази информацията за самото събитие — неговото наименование, текущото му съдържание и най-важното — официалния стартов момент.</a:t>
            </a:r>
          </a:p>
          <a:p>
            <a:endParaRPr lang="en-US"/>
          </a:p>
          <a:p>
            <a:r>
              <a:rPr lang="en-US"/>
              <a:t>Таблицата main_group съдържа категориите, в които се разпределят участниците — например деца, ученици или ветерани.</a:t>
            </a:r>
          </a:p>
          <a:p>
            <a:endParaRPr lang="en-US"/>
          </a:p>
          <a:p>
            <a:r>
              <a:rPr lang="en-US"/>
              <a:t>Таблицата main_athlete е основната оперативна таблица — там се записват данните на всеки участник, неговият стартов номер, категория, статус и резултатно время.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управлява жизнения цикъл на събитието и участниците по модела на крайния автомат.</a:t>
            </a:r>
          </a:p>
          <a:p>
            <a:endParaRPr lang="en-US"/>
          </a:p>
          <a:p>
            <a:r>
              <a:rPr lang="en-US"/>
              <a:t>Събитието може да се намира в четири съдържания: REGISTER 0 регистриране CREATED 1 — очакване, STARTED 2 — активно, и FINISHED 3 — приключено. Преходите между тях са строго еднопосочни.</a:t>
            </a:r>
          </a:p>
          <a:p>
            <a:endParaRPr lang="en-US"/>
          </a:p>
          <a:p>
            <a:r>
              <a:rPr lang="en-US"/>
              <a:t>Участникът може да е в едно от четири съдържания: REGISTERED след регистрация, FINISHED след финиш, DQ ако е дисквалифициран, и NS ако не е стартирал.</a:t>
            </a:r>
          </a:p>
          <a:p>
            <a:endParaRPr lang="en-US"/>
          </a:p>
          <a:p>
            <a:r>
              <a:rPr lang="en-US"/>
              <a:t>Ключовото е, че системата проверява допустимостта на всеки преход преди да го изпълни. Например — не може да се запише финишно време, ако събитието все още не е стартирало. При невалидна заявка сървърът връща грешка и отказва операцията.</a:t>
            </a:r>
          </a:p>
          <a:p>
            <a:r>
              <a:rPr lang="en-US"/>
              <a:t>Това гарантира, че данните винаги остават в логически коректно съдържание.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Нека обясня как работи най-важният алгоритъм — отчитането на финиш.</a:t>
            </a:r>
          </a:p>
          <a:p>
            <a:endParaRPr lang="en-US"/>
          </a:p>
          <a:p>
            <a:r>
              <a:rPr lang="en-US"/>
              <a:t>Когато участник прекоси финалната линия, операторът натиска бутон в интерфейса. Браузърът изпраща HTTP заявка до сървъра. Сървърът като абсолютно първа операция — преди каквито и да е проверки — захваща текущото UTC сървърно време. Това е официалният момент на финиша. След това изчислява резултатното время като разлика между момента на финиша и стартовия момент за да е точно.</a:t>
            </a:r>
          </a:p>
          <a:p>
            <a:endParaRPr lang="en-US"/>
          </a:p>
          <a:p>
            <a:r>
              <a:rPr lang="en-US"/>
              <a:t>Клиентът не участва в изчислението по никакъв начин — той само изпраща сигнала.</a:t>
            </a:r>
          </a:p>
          <a:p>
            <a:endParaRPr lang="en-US"/>
          </a:p>
          <a:p>
            <a:r>
              <a:rPr lang="en-US"/>
              <a:t>Класирането се генерира динамично при всяко извличане — участниците се сортират по резултатно време, а при равенство — по реда на пристигане. Използвам транзакционно записване, което гарантира, че при грешка данните не остават в непълно съдържание.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Сигурността е разработена съгласно препоръките на организацията OWASP, която поддържа списък на най-критичните уязвимости в уеб приложенията.</a:t>
            </a:r>
          </a:p>
          <a:p>
            <a:endParaRPr lang="en-US"/>
          </a:p>
          <a:p>
            <a:r>
              <a:rPr lang="en-US"/>
              <a:t>Защитата срещу SQL инжекции е постигната чрез изключителното използване на Django ORM — никога не конкатенирам потребителски данни директно в SQL заявка.</a:t>
            </a:r>
          </a:p>
          <a:p>
            <a:endParaRPr lang="en-US"/>
          </a:p>
          <a:p>
            <a:r>
              <a:rPr lang="en-US"/>
              <a:t> е осигурена от вградения механизъм на Django с CSRF токени — всяка модифицираща заявка трябва да съдържа валиден токен, който злонамерена страница не може да знае.</a:t>
            </a:r>
          </a:p>
          <a:p>
            <a:endParaRPr lang="en-US"/>
          </a:p>
          <a:p>
            <a:r>
              <a:rPr lang="en-US"/>
              <a:t>Системата прилага принципа на защитата в дълбочина — всяка заявка преминава последователно през HTTP проверка, аутентикация, валидиране от сериализатора, проверка на бизнес логиката и накрая ограниченията на базата данни.</a:t>
            </a:r>
          </a:p>
          <a:p>
            <a:endParaRPr lang="en-US"/>
          </a:p>
          <a:p>
            <a:r>
              <a:rPr lang="en-US"/>
              <a:t>Дефинирани са две роли: администратор с пълен достъп и оператор с ограничени права.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Системата е разработена с Python и Django framework, като за интегрирана среда за програмиране съм използвал PyCharm. За база данни при разработката използвах XAMPP .</a:t>
            </a:r>
          </a:p>
          <a:p>
            <a:endParaRPr lang="en-US"/>
          </a:p>
          <a:p>
            <a:r>
              <a:rPr lang="en-US"/>
              <a:t>Проектът следва стандартната структура на Django приложение — models.py за структурата на данните, views.py за бизнес логиката, serializers.py за валидирането и urls.py за маршрутизацията.</a:t>
            </a:r>
          </a:p>
          <a:p>
            <a:endParaRPr lang="en-US"/>
          </a:p>
          <a:p>
            <a:r>
              <a:rPr lang="en-US"/>
              <a:t>Административният панел на Django дава пълен контрол върху данните без необходимост от директен достъп до базата данни.</a:t>
            </a:r>
          </a:p>
          <a:p>
            <a:endParaRPr lang="en-US"/>
          </a:p>
          <a:p>
            <a:r>
              <a:rPr lang="en-US"/>
              <a:t>Системата е тествана практически в реална работна ситуация — регистрирани са множество участници, стартирано е събитие, маркирани са финишни времена и е проверено правилното генериране на класирането. Резултатите потвърдиха, че системата работи стабилно и коректно.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Като цяло — разработената система успешно решава поставените цели: осигурява точна регистрация на участниците, надеждно и обективно времеизмерване и автоматично формиране на класирането. </a:t>
            </a:r>
          </a:p>
          <a:p>
            <a:r>
              <a:rPr lang="en-US"/>
              <a:t> </a:t>
            </a:r>
          </a:p>
          <a:p>
            <a:r>
              <a:rPr lang="en-US"/>
              <a:t>Чрез централизираната сървърна логика и принципа на нулево доверие към клиента е постигната висока степен на сигурност и невъзможност за манипулация на резултатите. </a:t>
            </a:r>
          </a:p>
          <a:p>
            <a:r>
              <a:rPr lang="en-US"/>
              <a:t> </a:t>
            </a:r>
          </a:p>
          <a:p>
            <a:r>
              <a:rPr lang="en-US"/>
              <a:t>Системата има потенциал за реално приложение при организирането на лекоатлетически прояви, а архитектурата позволява бъдещо разширяване — например интеграция с хардуерни детектори за автоматично отчитане на финиш или генериране на PDF протоколи. </a:t>
            </a:r>
          </a:p>
          <a:p>
            <a:r>
              <a:rPr lang="en-US"/>
              <a:t> </a:t>
            </a:r>
          </a:p>
          <a:p>
            <a:r>
              <a:rPr lang="en-US"/>
              <a:t>Проектът ми даде възможност да приложа на практика знания от областта на уеб технологиите, алгоритмите, базите данни и информационната сигурност. 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7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png"/><Relationship Id="rId4" Type="http://schemas.openxmlformats.org/officeDocument/2006/relationships/image" Target="../media/image2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1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svg"/><Relationship Id="rId9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jpeg"/><Relationship Id="rId7" Type="http://schemas.openxmlformats.org/officeDocument/2006/relationships/image" Target="../media/image15.pn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11" Type="http://schemas.openxmlformats.org/officeDocument/2006/relationships/image" Target="../media/image19.svg"/><Relationship Id="rId5" Type="http://schemas.openxmlformats.org/officeDocument/2006/relationships/image" Target="../media/image13.png"/><Relationship Id="rId10" Type="http://schemas.openxmlformats.org/officeDocument/2006/relationships/image" Target="../media/image18.svg"/><Relationship Id="rId4" Type="http://schemas.openxmlformats.org/officeDocument/2006/relationships/image" Target="../media/image2.svg"/><Relationship Id="rId9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.jpeg"/><Relationship Id="rId7" Type="http://schemas.openxmlformats.org/officeDocument/2006/relationships/image" Target="../media/image3.svg"/><Relationship Id="rId12" Type="http://schemas.openxmlformats.org/officeDocument/2006/relationships/image" Target="../media/image20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11" Type="http://schemas.openxmlformats.org/officeDocument/2006/relationships/image" Target="../media/image19.svg"/><Relationship Id="rId5" Type="http://schemas.openxmlformats.org/officeDocument/2006/relationships/image" Target="../media/image15.png"/><Relationship Id="rId10" Type="http://schemas.openxmlformats.org/officeDocument/2006/relationships/image" Target="../media/image18.svg"/><Relationship Id="rId4" Type="http://schemas.openxmlformats.org/officeDocument/2006/relationships/image" Target="../media/image21.sv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1.jpe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8.png"/><Relationship Id="rId5" Type="http://schemas.openxmlformats.org/officeDocument/2006/relationships/image" Target="../media/image8.png"/><Relationship Id="rId10" Type="http://schemas.openxmlformats.org/officeDocument/2006/relationships/image" Target="../media/image32.png"/><Relationship Id="rId4" Type="http://schemas.openxmlformats.org/officeDocument/2006/relationships/image" Target="../media/image2.svg"/><Relationship Id="rId9" Type="http://schemas.openxmlformats.org/officeDocument/2006/relationships/image" Target="../media/image3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.png"/><Relationship Id="rId3" Type="http://schemas.openxmlformats.org/officeDocument/2006/relationships/image" Target="../media/image1.jpeg"/><Relationship Id="rId7" Type="http://schemas.openxmlformats.org/officeDocument/2006/relationships/image" Target="../media/image3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5.png"/><Relationship Id="rId4" Type="http://schemas.openxmlformats.org/officeDocument/2006/relationships/image" Target="../media/image2.svg"/><Relationship Id="rId9" Type="http://schemas.openxmlformats.org/officeDocument/2006/relationships/image" Target="../media/image3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1.jpe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7.png"/><Relationship Id="rId11" Type="http://schemas.openxmlformats.org/officeDocument/2006/relationships/image" Target="../media/image42.png"/><Relationship Id="rId5" Type="http://schemas.openxmlformats.org/officeDocument/2006/relationships/image" Target="../media/image17.png"/><Relationship Id="rId10" Type="http://schemas.openxmlformats.org/officeDocument/2006/relationships/image" Target="../media/image41.png"/><Relationship Id="rId4" Type="http://schemas.openxmlformats.org/officeDocument/2006/relationships/image" Target="../media/image2.svg"/><Relationship Id="rId9" Type="http://schemas.openxmlformats.org/officeDocument/2006/relationships/image" Target="../media/image4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3.png"/><Relationship Id="rId4" Type="http://schemas.openxmlformats.org/officeDocument/2006/relationships/image" Target="../media/image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119211" y="239233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5" y="0"/>
                </a:lnTo>
                <a:lnTo>
                  <a:pt x="9808535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2567860" y="6357974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0" y="0"/>
                </a:moveTo>
                <a:lnTo>
                  <a:pt x="11356720" y="0"/>
                </a:lnTo>
                <a:lnTo>
                  <a:pt x="11356720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flipH="1">
            <a:off x="8660404" y="6357974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11356719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19" y="5141496"/>
                </a:lnTo>
                <a:lnTo>
                  <a:pt x="11356719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2101789" y="332998"/>
            <a:ext cx="2017422" cy="2024978"/>
          </a:xfrm>
          <a:custGeom>
            <a:avLst/>
            <a:gdLst/>
            <a:ahLst/>
            <a:cxnLst/>
            <a:rect l="l" t="t" r="r" b="b"/>
            <a:pathLst>
              <a:path w="2017422" h="2024978">
                <a:moveTo>
                  <a:pt x="0" y="0"/>
                </a:moveTo>
                <a:lnTo>
                  <a:pt x="2017422" y="0"/>
                </a:lnTo>
                <a:lnTo>
                  <a:pt x="2017422" y="2024978"/>
                </a:lnTo>
                <a:lnTo>
                  <a:pt x="0" y="202497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3948117" y="684116"/>
            <a:ext cx="9606111" cy="1897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Държавенизпит за придобиване на трета степен на професионална квалификация – част по теория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на професията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17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по професия код 481020 „Системен програмист”</a:t>
            </a:r>
          </a:p>
          <a:p>
            <a:pPr algn="ctr">
              <a:lnSpc>
                <a:spcPts val="2519"/>
              </a:lnSpc>
              <a:spcBef>
                <a:spcPct val="0"/>
              </a:spcBef>
            </a:pPr>
            <a:endParaRPr lang="en-US" sz="17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2519"/>
              </a:lnSpc>
              <a:spcBef>
                <a:spcPct val="0"/>
              </a:spcBef>
            </a:pPr>
            <a:r>
              <a:rPr lang="en-US" sz="17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специалност код 4810201 „Системнопрограмиране”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875565" y="4006901"/>
            <a:ext cx="9606111" cy="834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9"/>
              </a:lnSpc>
              <a:spcBef>
                <a:spcPct val="0"/>
              </a:spcBef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Тема:</a:t>
            </a:r>
            <a:r>
              <a:rPr lang="en-US" sz="2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Система за времеизмерване при масови лекоатлетически състезания.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2766852" y="596078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556755" y="271714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573316" y="-337895"/>
            <a:ext cx="1785128" cy="1789602"/>
          </a:xfrm>
          <a:custGeom>
            <a:avLst/>
            <a:gdLst/>
            <a:ahLst/>
            <a:cxnLst/>
            <a:rect l="l" t="t" r="r" b="b"/>
            <a:pathLst>
              <a:path w="1785128" h="1789602">
                <a:moveTo>
                  <a:pt x="0" y="0"/>
                </a:moveTo>
                <a:lnTo>
                  <a:pt x="1785128" y="0"/>
                </a:lnTo>
                <a:lnTo>
                  <a:pt x="1785128" y="1789602"/>
                </a:lnTo>
                <a:lnTo>
                  <a:pt x="0" y="178960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518115" y="2369187"/>
            <a:ext cx="7272978" cy="7396754"/>
          </a:xfrm>
          <a:custGeom>
            <a:avLst/>
            <a:gdLst/>
            <a:ahLst/>
            <a:cxnLst/>
            <a:rect l="l" t="t" r="r" b="b"/>
            <a:pathLst>
              <a:path w="7272978" h="7396754">
                <a:moveTo>
                  <a:pt x="0" y="0"/>
                </a:moveTo>
                <a:lnTo>
                  <a:pt x="7272979" y="0"/>
                </a:lnTo>
                <a:lnTo>
                  <a:pt x="7272979" y="7396753"/>
                </a:lnTo>
                <a:lnTo>
                  <a:pt x="0" y="739675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20774" r="-32448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6964731" y="1028700"/>
            <a:ext cx="1474550" cy="1195726"/>
          </a:xfrm>
          <a:custGeom>
            <a:avLst/>
            <a:gdLst/>
            <a:ahLst/>
            <a:cxnLst/>
            <a:rect l="l" t="t" r="r" b="b"/>
            <a:pathLst>
              <a:path w="1474550" h="1195726">
                <a:moveTo>
                  <a:pt x="0" y="0"/>
                </a:moveTo>
                <a:lnTo>
                  <a:pt x="1474550" y="0"/>
                </a:lnTo>
                <a:lnTo>
                  <a:pt x="1474550" y="1195726"/>
                </a:lnTo>
                <a:lnTo>
                  <a:pt x="0" y="119572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TextBox 7"/>
          <p:cNvSpPr txBox="1"/>
          <p:nvPr/>
        </p:nvSpPr>
        <p:spPr>
          <a:xfrm>
            <a:off x="1496906" y="1461232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ПРОБЛЕМЪТ — ЗАЩО Е НУЖНА ТАКАВА СИСТЕМА?</a:t>
            </a:r>
          </a:p>
          <a:p>
            <a:pPr algn="just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8" name="TextBox 8"/>
          <p:cNvSpPr txBox="1"/>
          <p:nvPr/>
        </p:nvSpPr>
        <p:spPr>
          <a:xfrm>
            <a:off x="1496906" y="4878799"/>
            <a:ext cx="5179963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Проблемът от човешка грешка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496906" y="5396568"/>
            <a:ext cx="2331988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По-надежно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496906" y="5914338"/>
            <a:ext cx="2624286" cy="3962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18165" lvl="1" indent="-259082" algn="l">
              <a:lnSpc>
                <a:spcPts val="3360"/>
              </a:lnSpc>
              <a:buFont typeface="Arial"/>
              <a:buChar char="•"/>
            </a:pPr>
            <a:r>
              <a:rPr lang="en-US" sz="2400"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</a:rPr>
              <a:t>По-практично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2959069" y="1635410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5" y="0"/>
                </a:lnTo>
                <a:lnTo>
                  <a:pt x="9808535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3611279" y="-1244975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 rot="2354384">
            <a:off x="14313366" y="8592645"/>
            <a:ext cx="5491802" cy="6646029"/>
          </a:xfrm>
          <a:custGeom>
            <a:avLst/>
            <a:gdLst/>
            <a:ahLst/>
            <a:cxnLst/>
            <a:rect l="l" t="t" r="r" b="b"/>
            <a:pathLst>
              <a:path w="5491802" h="6646029">
                <a:moveTo>
                  <a:pt x="0" y="0"/>
                </a:moveTo>
                <a:lnTo>
                  <a:pt x="5491801" y="0"/>
                </a:lnTo>
                <a:lnTo>
                  <a:pt x="5491801" y="6646028"/>
                </a:lnTo>
                <a:lnTo>
                  <a:pt x="0" y="664602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680763" y="-4665035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4" y="0"/>
                </a:lnTo>
                <a:lnTo>
                  <a:pt x="9808534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3346699" y="3235705"/>
            <a:ext cx="10264581" cy="6158748"/>
          </a:xfrm>
          <a:custGeom>
            <a:avLst/>
            <a:gdLst/>
            <a:ahLst/>
            <a:cxnLst/>
            <a:rect l="l" t="t" r="r" b="b"/>
            <a:pathLst>
              <a:path w="10264581" h="6158748">
                <a:moveTo>
                  <a:pt x="0" y="0"/>
                </a:moveTo>
                <a:lnTo>
                  <a:pt x="10264580" y="0"/>
                </a:lnTo>
                <a:lnTo>
                  <a:pt x="10264580" y="6158748"/>
                </a:lnTo>
                <a:lnTo>
                  <a:pt x="0" y="61587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7837462" y="5313079"/>
            <a:ext cx="732435" cy="732435"/>
          </a:xfrm>
          <a:custGeom>
            <a:avLst/>
            <a:gdLst/>
            <a:ahLst/>
            <a:cxnLst/>
            <a:rect l="l" t="t" r="r" b="b"/>
            <a:pathLst>
              <a:path w="732435" h="732435">
                <a:moveTo>
                  <a:pt x="0" y="0"/>
                </a:moveTo>
                <a:lnTo>
                  <a:pt x="732435" y="0"/>
                </a:lnTo>
                <a:lnTo>
                  <a:pt x="732435" y="732435"/>
                </a:lnTo>
                <a:lnTo>
                  <a:pt x="0" y="732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392810" y="515543"/>
            <a:ext cx="1271781" cy="1269468"/>
          </a:xfrm>
          <a:custGeom>
            <a:avLst/>
            <a:gdLst/>
            <a:ahLst/>
            <a:cxnLst/>
            <a:rect l="l" t="t" r="r" b="b"/>
            <a:pathLst>
              <a:path w="1271781" h="1269468">
                <a:moveTo>
                  <a:pt x="0" y="0"/>
                </a:moveTo>
                <a:lnTo>
                  <a:pt x="1271780" y="0"/>
                </a:lnTo>
                <a:lnTo>
                  <a:pt x="1271780" y="1269468"/>
                </a:lnTo>
                <a:lnTo>
                  <a:pt x="0" y="126946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028700" y="1644935"/>
            <a:ext cx="15294187" cy="19155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ТЕОРЕТИЧНА ОСНОВА</a:t>
            </a: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algn="ctr">
              <a:lnSpc>
                <a:spcPts val="4971"/>
              </a:lnSpc>
            </a:pPr>
            <a:endParaRPr lang="en-US" sz="4399">
              <a:solidFill>
                <a:srgbClr val="FFFFFF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239733" y="239233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4" y="0"/>
                </a:lnTo>
                <a:lnTo>
                  <a:pt x="9808534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 rot="-1338189">
            <a:off x="2281532" y="6246787"/>
            <a:ext cx="21316171" cy="7274224"/>
          </a:xfrm>
          <a:custGeom>
            <a:avLst/>
            <a:gdLst/>
            <a:ahLst/>
            <a:cxnLst/>
            <a:rect l="l" t="t" r="r" b="b"/>
            <a:pathLst>
              <a:path w="21316171" h="7274224">
                <a:moveTo>
                  <a:pt x="0" y="0"/>
                </a:moveTo>
                <a:lnTo>
                  <a:pt x="21316171" y="0"/>
                </a:lnTo>
                <a:lnTo>
                  <a:pt x="21316171" y="7274224"/>
                </a:lnTo>
                <a:lnTo>
                  <a:pt x="0" y="72742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grpSp>
        <p:nvGrpSpPr>
          <p:cNvPr id="5" name="Group 5"/>
          <p:cNvGrpSpPr/>
          <p:nvPr/>
        </p:nvGrpSpPr>
        <p:grpSpPr>
          <a:xfrm>
            <a:off x="2119866" y="2837314"/>
            <a:ext cx="14456726" cy="6420986"/>
            <a:chOff x="0" y="0"/>
            <a:chExt cx="19275635" cy="8561315"/>
          </a:xfrm>
        </p:grpSpPr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6"/>
            <a:srcRect l="1243" r="1243" b="34923"/>
            <a:stretch>
              <a:fillRect/>
            </a:stretch>
          </p:blipFill>
          <p:spPr>
            <a:xfrm>
              <a:off x="0" y="0"/>
              <a:ext cx="12765757" cy="4217157"/>
            </a:xfrm>
            <a:prstGeom prst="rect">
              <a:avLst/>
            </a:prstGeom>
          </p:spPr>
        </p:pic>
        <p:pic>
          <p:nvPicPr>
            <p:cNvPr id="7" name="Picture 7"/>
            <p:cNvPicPr>
              <a:picLocks noChangeAspect="1"/>
            </p:cNvPicPr>
            <p:nvPr/>
          </p:nvPicPr>
          <p:blipFill>
            <a:blip r:embed="rId7"/>
            <a:srcRect l="28557" r="34258"/>
            <a:stretch>
              <a:fillRect/>
            </a:stretch>
          </p:blipFill>
          <p:spPr>
            <a:xfrm>
              <a:off x="12892757" y="0"/>
              <a:ext cx="6382878" cy="8561315"/>
            </a:xfrm>
            <a:prstGeom prst="rect">
              <a:avLst/>
            </a:prstGeom>
          </p:spPr>
        </p:pic>
        <p:pic>
          <p:nvPicPr>
            <p:cNvPr id="8" name="Picture 8"/>
            <p:cNvPicPr>
              <a:picLocks noChangeAspect="1"/>
            </p:cNvPicPr>
            <p:nvPr/>
          </p:nvPicPr>
          <p:blipFill>
            <a:blip r:embed="rId8"/>
            <a:srcRect t="4015" b="54102"/>
            <a:stretch>
              <a:fillRect/>
            </a:stretch>
          </p:blipFill>
          <p:spPr>
            <a:xfrm>
              <a:off x="0" y="4344157"/>
              <a:ext cx="12765757" cy="4217157"/>
            </a:xfrm>
            <a:prstGeom prst="rect">
              <a:avLst/>
            </a:prstGeom>
          </p:spPr>
        </p:pic>
      </p:grpSp>
      <p:sp>
        <p:nvSpPr>
          <p:cNvPr id="9" name="Freeform 9"/>
          <p:cNvSpPr/>
          <p:nvPr/>
        </p:nvSpPr>
        <p:spPr>
          <a:xfrm rot="1133710">
            <a:off x="-2855299" y="-4381249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2" y="0"/>
                </a:lnTo>
                <a:lnTo>
                  <a:pt x="822549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2242185" y="5367079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4" y="0"/>
                </a:lnTo>
                <a:lnTo>
                  <a:pt x="278604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1128686" y="865248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40" y="0"/>
                </a:lnTo>
                <a:lnTo>
                  <a:pt x="442940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6137981" y="2837314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2" y="0"/>
                </a:lnTo>
                <a:lnTo>
                  <a:pt x="438612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400030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АРХИТЕКТУРА НА СИСТЕМАТА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525436" y="1278621"/>
            <a:ext cx="8996085" cy="8996085"/>
          </a:xfrm>
          <a:custGeom>
            <a:avLst/>
            <a:gdLst/>
            <a:ahLst/>
            <a:cxnLst/>
            <a:rect l="l" t="t" r="r" b="b"/>
            <a:pathLst>
              <a:path w="8996085" h="8996085">
                <a:moveTo>
                  <a:pt x="0" y="0"/>
                </a:moveTo>
                <a:lnTo>
                  <a:pt x="8996085" y="0"/>
                </a:lnTo>
                <a:lnTo>
                  <a:pt x="8996085" y="8996085"/>
                </a:lnTo>
                <a:lnTo>
                  <a:pt x="0" y="8996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grpSp>
        <p:nvGrpSpPr>
          <p:cNvPr id="4" name="Group 4"/>
          <p:cNvGrpSpPr/>
          <p:nvPr/>
        </p:nvGrpSpPr>
        <p:grpSpPr>
          <a:xfrm>
            <a:off x="2650713" y="3647342"/>
            <a:ext cx="12413719" cy="4029132"/>
            <a:chOff x="0" y="0"/>
            <a:chExt cx="16551626" cy="5372176"/>
          </a:xfrm>
        </p:grpSpPr>
        <p:pic>
          <p:nvPicPr>
            <p:cNvPr id="5" name="Picture 5"/>
            <p:cNvPicPr>
              <a:picLocks noChangeAspect="1"/>
            </p:cNvPicPr>
            <p:nvPr/>
          </p:nvPicPr>
          <p:blipFill>
            <a:blip r:embed="rId5"/>
            <a:srcRect l="7415" r="7415" b="73076"/>
            <a:stretch>
              <a:fillRect/>
            </a:stretch>
          </p:blipFill>
          <p:spPr>
            <a:xfrm>
              <a:off x="0" y="0"/>
              <a:ext cx="16551626" cy="2609559"/>
            </a:xfrm>
            <a:prstGeom prst="rect">
              <a:avLst/>
            </a:prstGeom>
          </p:spPr>
        </p:pic>
        <p:pic>
          <p:nvPicPr>
            <p:cNvPr id="6" name="Picture 6"/>
            <p:cNvPicPr>
              <a:picLocks noChangeAspect="1"/>
            </p:cNvPicPr>
            <p:nvPr/>
          </p:nvPicPr>
          <p:blipFill>
            <a:blip r:embed="rId6"/>
            <a:srcRect t="7327" b="51223"/>
            <a:stretch>
              <a:fillRect/>
            </a:stretch>
          </p:blipFill>
          <p:spPr>
            <a:xfrm>
              <a:off x="0" y="2762616"/>
              <a:ext cx="16551626" cy="2609559"/>
            </a:xfrm>
            <a:prstGeom prst="rect">
              <a:avLst/>
            </a:prstGeom>
          </p:spPr>
        </p:pic>
      </p:grpSp>
      <p:sp>
        <p:nvSpPr>
          <p:cNvPr id="7" name="Freeform 7"/>
          <p:cNvSpPr/>
          <p:nvPr/>
        </p:nvSpPr>
        <p:spPr>
          <a:xfrm>
            <a:off x="-2333241" y="8994947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0" y="0"/>
                </a:moveTo>
                <a:lnTo>
                  <a:pt x="11356719" y="0"/>
                </a:lnTo>
                <a:lnTo>
                  <a:pt x="11356719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 flipH="1">
            <a:off x="8857573" y="8873922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11356719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19" y="5141496"/>
                </a:lnTo>
                <a:lnTo>
                  <a:pt x="11356719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-2333241" y="-3085104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0" y="0"/>
                </a:moveTo>
                <a:lnTo>
                  <a:pt x="11356719" y="0"/>
                </a:lnTo>
                <a:lnTo>
                  <a:pt x="11356719" y="5141496"/>
                </a:lnTo>
                <a:lnTo>
                  <a:pt x="0" y="514149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 flipH="1">
            <a:off x="8857573" y="-3085104"/>
            <a:ext cx="11356719" cy="5141496"/>
          </a:xfrm>
          <a:custGeom>
            <a:avLst/>
            <a:gdLst/>
            <a:ahLst/>
            <a:cxnLst/>
            <a:rect l="l" t="t" r="r" b="b"/>
            <a:pathLst>
              <a:path w="11356719" h="5141496">
                <a:moveTo>
                  <a:pt x="11356719" y="0"/>
                </a:moveTo>
                <a:lnTo>
                  <a:pt x="0" y="0"/>
                </a:lnTo>
                <a:lnTo>
                  <a:pt x="0" y="5141496"/>
                </a:lnTo>
                <a:lnTo>
                  <a:pt x="11356719" y="5141496"/>
                </a:lnTo>
                <a:lnTo>
                  <a:pt x="11356719" y="0"/>
                </a:lnTo>
                <a:close/>
              </a:path>
            </a:pathLst>
          </a:custGeom>
          <a:blipFill>
            <a:blip>
              <a:alphaModFix amt="70000"/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340706" y="8225724"/>
            <a:ext cx="2048982" cy="2048982"/>
          </a:xfrm>
          <a:custGeom>
            <a:avLst/>
            <a:gdLst/>
            <a:ahLst/>
            <a:cxnLst/>
            <a:rect l="l" t="t" r="r" b="b"/>
            <a:pathLst>
              <a:path w="2048982" h="2048982">
                <a:moveTo>
                  <a:pt x="0" y="0"/>
                </a:moveTo>
                <a:lnTo>
                  <a:pt x="2048982" y="0"/>
                </a:lnTo>
                <a:lnTo>
                  <a:pt x="2048982" y="2048982"/>
                </a:lnTo>
                <a:lnTo>
                  <a:pt x="0" y="204898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2650713" y="7804098"/>
            <a:ext cx="12413719" cy="843253"/>
          </a:xfrm>
          <a:custGeom>
            <a:avLst/>
            <a:gdLst/>
            <a:ahLst/>
            <a:cxnLst/>
            <a:rect l="l" t="t" r="r" b="b"/>
            <a:pathLst>
              <a:path w="12413719" h="843253">
                <a:moveTo>
                  <a:pt x="0" y="0"/>
                </a:moveTo>
                <a:lnTo>
                  <a:pt x="12413719" y="0"/>
                </a:lnTo>
                <a:lnTo>
                  <a:pt x="12413719" y="843253"/>
                </a:lnTo>
                <a:lnTo>
                  <a:pt x="0" y="8432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-35225" t="-11814" b="-11814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2741482" y="8129676"/>
            <a:ext cx="278603" cy="517675"/>
          </a:xfrm>
          <a:custGeom>
            <a:avLst/>
            <a:gdLst/>
            <a:ahLst/>
            <a:cxnLst/>
            <a:rect l="l" t="t" r="r" b="b"/>
            <a:pathLst>
              <a:path w="278603" h="517675">
                <a:moveTo>
                  <a:pt x="0" y="0"/>
                </a:moveTo>
                <a:lnTo>
                  <a:pt x="278603" y="0"/>
                </a:lnTo>
                <a:lnTo>
                  <a:pt x="278603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2737154" y="7008935"/>
            <a:ext cx="442940" cy="515046"/>
          </a:xfrm>
          <a:custGeom>
            <a:avLst/>
            <a:gdLst/>
            <a:ahLst/>
            <a:cxnLst/>
            <a:rect l="l" t="t" r="r" b="b"/>
            <a:pathLst>
              <a:path w="442940" h="515046">
                <a:moveTo>
                  <a:pt x="0" y="0"/>
                </a:moveTo>
                <a:lnTo>
                  <a:pt x="442939" y="0"/>
                </a:lnTo>
                <a:lnTo>
                  <a:pt x="442939" y="515046"/>
                </a:lnTo>
                <a:lnTo>
                  <a:pt x="0" y="51504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741482" y="5020293"/>
            <a:ext cx="438612" cy="517675"/>
          </a:xfrm>
          <a:custGeom>
            <a:avLst/>
            <a:gdLst/>
            <a:ahLst/>
            <a:cxnLst/>
            <a:rect l="l" t="t" r="r" b="b"/>
            <a:pathLst>
              <a:path w="438612" h="517675">
                <a:moveTo>
                  <a:pt x="0" y="0"/>
                </a:moveTo>
                <a:lnTo>
                  <a:pt x="438611" y="0"/>
                </a:lnTo>
                <a:lnTo>
                  <a:pt x="438611" y="517675"/>
                </a:lnTo>
                <a:lnTo>
                  <a:pt x="0" y="51767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6" name="TextBox 16"/>
          <p:cNvSpPr txBox="1"/>
          <p:nvPr/>
        </p:nvSpPr>
        <p:spPr>
          <a:xfrm>
            <a:off x="1496906" y="227746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БАЗА ДАННИ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766982" y="403408"/>
            <a:ext cx="8996085" cy="8996085"/>
          </a:xfrm>
          <a:custGeom>
            <a:avLst/>
            <a:gdLst/>
            <a:ahLst/>
            <a:cxnLst/>
            <a:rect l="l" t="t" r="r" b="b"/>
            <a:pathLst>
              <a:path w="8996085" h="8996085">
                <a:moveTo>
                  <a:pt x="0" y="0"/>
                </a:moveTo>
                <a:lnTo>
                  <a:pt x="8996085" y="0"/>
                </a:lnTo>
                <a:lnTo>
                  <a:pt x="8996085" y="8996085"/>
                </a:lnTo>
                <a:lnTo>
                  <a:pt x="0" y="899608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8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9485206" y="5589162"/>
            <a:ext cx="7774094" cy="4213828"/>
          </a:xfrm>
          <a:custGeom>
            <a:avLst/>
            <a:gdLst/>
            <a:ahLst/>
            <a:cxnLst/>
            <a:rect l="l" t="t" r="r" b="b"/>
            <a:pathLst>
              <a:path w="7774094" h="4213828">
                <a:moveTo>
                  <a:pt x="0" y="0"/>
                </a:moveTo>
                <a:lnTo>
                  <a:pt x="7774094" y="0"/>
                </a:lnTo>
                <a:lnTo>
                  <a:pt x="7774094" y="4213828"/>
                </a:lnTo>
                <a:lnTo>
                  <a:pt x="0" y="4213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2755"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5383953" y="2808956"/>
            <a:ext cx="7988300" cy="2661977"/>
          </a:xfrm>
          <a:custGeom>
            <a:avLst/>
            <a:gdLst/>
            <a:ahLst/>
            <a:cxnLst/>
            <a:rect l="l" t="t" r="r" b="b"/>
            <a:pathLst>
              <a:path w="7988300" h="2661977">
                <a:moveTo>
                  <a:pt x="0" y="0"/>
                </a:moveTo>
                <a:lnTo>
                  <a:pt x="7988300" y="0"/>
                </a:lnTo>
                <a:lnTo>
                  <a:pt x="7988300" y="2661977"/>
                </a:lnTo>
                <a:lnTo>
                  <a:pt x="0" y="26619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-730" t="-16926" b="-8938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382622" y="5561702"/>
            <a:ext cx="7776507" cy="4268748"/>
          </a:xfrm>
          <a:custGeom>
            <a:avLst/>
            <a:gdLst/>
            <a:ahLst/>
            <a:cxnLst/>
            <a:rect l="l" t="t" r="r" b="b"/>
            <a:pathLst>
              <a:path w="7776507" h="4268748">
                <a:moveTo>
                  <a:pt x="0" y="0"/>
                </a:moveTo>
                <a:lnTo>
                  <a:pt x="7776506" y="0"/>
                </a:lnTo>
                <a:lnTo>
                  <a:pt x="7776506" y="4268748"/>
                </a:lnTo>
                <a:lnTo>
                  <a:pt x="0" y="42687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t="-1286" r="-2723"/>
            </a:stretch>
          </a:blipFill>
        </p:spPr>
      </p:sp>
      <p:sp>
        <p:nvSpPr>
          <p:cNvPr id="8" name="TextBox 8"/>
          <p:cNvSpPr txBox="1"/>
          <p:nvPr/>
        </p:nvSpPr>
        <p:spPr>
          <a:xfrm>
            <a:off x="1496906" y="1490799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КРАЕН АВТОМАТ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239733" y="239233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4" y="0"/>
                </a:lnTo>
                <a:lnTo>
                  <a:pt x="9808534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7147087" y="-1614361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1" y="0"/>
                </a:lnTo>
                <a:lnTo>
                  <a:pt x="9353441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-4468839" y="8983173"/>
            <a:ext cx="8708571" cy="8229600"/>
          </a:xfrm>
          <a:custGeom>
            <a:avLst/>
            <a:gdLst/>
            <a:ahLst/>
            <a:cxnLst/>
            <a:rect l="l" t="t" r="r" b="b"/>
            <a:pathLst>
              <a:path w="8708571" h="8229600">
                <a:moveTo>
                  <a:pt x="0" y="0"/>
                </a:moveTo>
                <a:lnTo>
                  <a:pt x="8708572" y="0"/>
                </a:lnTo>
                <a:lnTo>
                  <a:pt x="8708572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78425" y="2679071"/>
            <a:ext cx="4470472" cy="6579229"/>
          </a:xfrm>
          <a:custGeom>
            <a:avLst/>
            <a:gdLst/>
            <a:ahLst/>
            <a:cxnLst/>
            <a:rect l="l" t="t" r="r" b="b"/>
            <a:pathLst>
              <a:path w="4470472" h="6579229">
                <a:moveTo>
                  <a:pt x="0" y="0"/>
                </a:moveTo>
                <a:lnTo>
                  <a:pt x="4470472" y="0"/>
                </a:lnTo>
                <a:lnTo>
                  <a:pt x="4470472" y="6579229"/>
                </a:lnTo>
                <a:lnTo>
                  <a:pt x="0" y="65792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77238" r="-80391"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7379816" y="4708345"/>
            <a:ext cx="2605554" cy="2174241"/>
          </a:xfrm>
          <a:custGeom>
            <a:avLst/>
            <a:gdLst/>
            <a:ahLst/>
            <a:cxnLst/>
            <a:rect l="l" t="t" r="r" b="b"/>
            <a:pathLst>
              <a:path w="2605554" h="2174241">
                <a:moveTo>
                  <a:pt x="0" y="0"/>
                </a:moveTo>
                <a:lnTo>
                  <a:pt x="2605553" y="0"/>
                </a:lnTo>
                <a:lnTo>
                  <a:pt x="2605553" y="2174241"/>
                </a:lnTo>
                <a:lnTo>
                  <a:pt x="0" y="217424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-240715" t="-62253" r="-14418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1047436" y="4107010"/>
            <a:ext cx="4766089" cy="1202669"/>
          </a:xfrm>
          <a:custGeom>
            <a:avLst/>
            <a:gdLst/>
            <a:ahLst/>
            <a:cxnLst/>
            <a:rect l="l" t="t" r="r" b="b"/>
            <a:pathLst>
              <a:path w="4766089" h="1202669">
                <a:moveTo>
                  <a:pt x="0" y="0"/>
                </a:moveTo>
                <a:lnTo>
                  <a:pt x="4766089" y="0"/>
                </a:lnTo>
                <a:lnTo>
                  <a:pt x="4766089" y="1202670"/>
                </a:lnTo>
                <a:lnTo>
                  <a:pt x="0" y="1202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r="-41168"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1047436" y="5968686"/>
            <a:ext cx="4504821" cy="2132717"/>
          </a:xfrm>
          <a:custGeom>
            <a:avLst/>
            <a:gdLst/>
            <a:ahLst/>
            <a:cxnLst/>
            <a:rect l="l" t="t" r="r" b="b"/>
            <a:pathLst>
              <a:path w="4504821" h="2132717">
                <a:moveTo>
                  <a:pt x="0" y="0"/>
                </a:moveTo>
                <a:lnTo>
                  <a:pt x="4504821" y="0"/>
                </a:lnTo>
                <a:lnTo>
                  <a:pt x="4504821" y="2132717"/>
                </a:lnTo>
                <a:lnTo>
                  <a:pt x="0" y="213271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440211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АЛГОРИТМИ</a:t>
            </a:r>
          </a:p>
        </p:txBody>
      </p:sp>
      <p:sp>
        <p:nvSpPr>
          <p:cNvPr id="11" name="AutoShape 11"/>
          <p:cNvSpPr/>
          <p:nvPr/>
        </p:nvSpPr>
        <p:spPr>
          <a:xfrm>
            <a:off x="5961463" y="5968686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2" name="AutoShape 12"/>
          <p:cNvSpPr/>
          <p:nvPr/>
        </p:nvSpPr>
        <p:spPr>
          <a:xfrm>
            <a:off x="9774867" y="5105401"/>
            <a:ext cx="1605946" cy="19050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  <p:sp>
        <p:nvSpPr>
          <p:cNvPr id="13" name="AutoShape 13"/>
          <p:cNvSpPr/>
          <p:nvPr/>
        </p:nvSpPr>
        <p:spPr>
          <a:xfrm>
            <a:off x="14884775" y="4992575"/>
            <a:ext cx="29862" cy="1605781"/>
          </a:xfrm>
          <a:prstGeom prst="line">
            <a:avLst/>
          </a:prstGeom>
          <a:ln w="38100" cap="flat">
            <a:solidFill>
              <a:srgbClr val="38B6FF"/>
            </a:solidFill>
            <a:prstDash val="solid"/>
            <a:headEnd type="none" w="sm" len="sm"/>
            <a:tailEnd type="triangle" w="lg" len="me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-4245226" y="3580199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094397" y="-4490932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5" y="0"/>
                </a:lnTo>
                <a:lnTo>
                  <a:pt x="9808535" y="9808535"/>
                </a:lnTo>
                <a:lnTo>
                  <a:pt x="0" y="9808535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5428178" y="-4232035"/>
            <a:ext cx="6453726" cy="6469900"/>
          </a:xfrm>
          <a:custGeom>
            <a:avLst/>
            <a:gdLst/>
            <a:ahLst/>
            <a:cxnLst/>
            <a:rect l="l" t="t" r="r" b="b"/>
            <a:pathLst>
              <a:path w="6453726" h="6469900">
                <a:moveTo>
                  <a:pt x="0" y="0"/>
                </a:moveTo>
                <a:lnTo>
                  <a:pt x="6453726" y="0"/>
                </a:lnTo>
                <a:lnTo>
                  <a:pt x="6453726" y="6469900"/>
                </a:lnTo>
                <a:lnTo>
                  <a:pt x="0" y="64699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-4400061" y="-3036353"/>
            <a:ext cx="5591917" cy="6012814"/>
          </a:xfrm>
          <a:custGeom>
            <a:avLst/>
            <a:gdLst/>
            <a:ahLst/>
            <a:cxnLst/>
            <a:rect l="l" t="t" r="r" b="b"/>
            <a:pathLst>
              <a:path w="5591917" h="6012814">
                <a:moveTo>
                  <a:pt x="0" y="0"/>
                </a:moveTo>
                <a:lnTo>
                  <a:pt x="5591916" y="0"/>
                </a:lnTo>
                <a:lnTo>
                  <a:pt x="5591916" y="6012814"/>
                </a:lnTo>
                <a:lnTo>
                  <a:pt x="0" y="601281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6629181" y="2976461"/>
            <a:ext cx="5029637" cy="1912443"/>
          </a:xfrm>
          <a:custGeom>
            <a:avLst/>
            <a:gdLst/>
            <a:ahLst/>
            <a:cxnLst/>
            <a:rect l="l" t="t" r="r" b="b"/>
            <a:pathLst>
              <a:path w="5029637" h="1912443">
                <a:moveTo>
                  <a:pt x="0" y="0"/>
                </a:moveTo>
                <a:lnTo>
                  <a:pt x="5029638" y="0"/>
                </a:lnTo>
                <a:lnTo>
                  <a:pt x="5029638" y="1912443"/>
                </a:lnTo>
                <a:lnTo>
                  <a:pt x="0" y="191244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-4710" r="-4710"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356755" y="5949560"/>
            <a:ext cx="6945819" cy="2248709"/>
          </a:xfrm>
          <a:custGeom>
            <a:avLst/>
            <a:gdLst/>
            <a:ahLst/>
            <a:cxnLst/>
            <a:rect l="l" t="t" r="r" b="b"/>
            <a:pathLst>
              <a:path w="6945819" h="2248709">
                <a:moveTo>
                  <a:pt x="0" y="0"/>
                </a:moveTo>
                <a:lnTo>
                  <a:pt x="6945819" y="0"/>
                </a:lnTo>
                <a:lnTo>
                  <a:pt x="6945819" y="2248709"/>
                </a:lnTo>
                <a:lnTo>
                  <a:pt x="0" y="224870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0054611" y="6238281"/>
            <a:ext cx="5691866" cy="998573"/>
          </a:xfrm>
          <a:custGeom>
            <a:avLst/>
            <a:gdLst/>
            <a:ahLst/>
            <a:cxnLst/>
            <a:rect l="l" t="t" r="r" b="b"/>
            <a:pathLst>
              <a:path w="5691866" h="998573">
                <a:moveTo>
                  <a:pt x="0" y="0"/>
                </a:moveTo>
                <a:lnTo>
                  <a:pt x="5691866" y="0"/>
                </a:lnTo>
                <a:lnTo>
                  <a:pt x="5691866" y="998573"/>
                </a:lnTo>
                <a:lnTo>
                  <a:pt x="0" y="99857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СИГУРНОСТ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5675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SQL инжекции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378325" y="5057775"/>
            <a:ext cx="6620339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Защитата срещу CSRF атаки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257175" y="3293278"/>
            <a:ext cx="6279543" cy="6279543"/>
          </a:xfrm>
          <a:custGeom>
            <a:avLst/>
            <a:gdLst/>
            <a:ahLst/>
            <a:cxnLst/>
            <a:rect l="l" t="t" r="r" b="b"/>
            <a:pathLst>
              <a:path w="6279543" h="6279543">
                <a:moveTo>
                  <a:pt x="0" y="0"/>
                </a:moveTo>
                <a:lnTo>
                  <a:pt x="6279543" y="0"/>
                </a:lnTo>
                <a:lnTo>
                  <a:pt x="6279543" y="6279542"/>
                </a:lnTo>
                <a:lnTo>
                  <a:pt x="0" y="627954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069188" y="2237865"/>
            <a:ext cx="7218812" cy="7218812"/>
          </a:xfrm>
          <a:custGeom>
            <a:avLst/>
            <a:gdLst/>
            <a:ahLst/>
            <a:cxnLst/>
            <a:rect l="l" t="t" r="r" b="b"/>
            <a:pathLst>
              <a:path w="7218812" h="7218812">
                <a:moveTo>
                  <a:pt x="0" y="0"/>
                </a:moveTo>
                <a:lnTo>
                  <a:pt x="7218812" y="0"/>
                </a:lnTo>
                <a:lnTo>
                  <a:pt x="7218812" y="7218812"/>
                </a:lnTo>
                <a:lnTo>
                  <a:pt x="0" y="7218812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5367653" y="2656702"/>
            <a:ext cx="7552695" cy="7552695"/>
          </a:xfrm>
          <a:custGeom>
            <a:avLst/>
            <a:gdLst/>
            <a:ahLst/>
            <a:cxnLst/>
            <a:rect l="l" t="t" r="r" b="b"/>
            <a:pathLst>
              <a:path w="7552695" h="7552695">
                <a:moveTo>
                  <a:pt x="0" y="0"/>
                </a:moveTo>
                <a:lnTo>
                  <a:pt x="7552694" y="0"/>
                </a:lnTo>
                <a:lnTo>
                  <a:pt x="7552694" y="7552694"/>
                </a:lnTo>
                <a:lnTo>
                  <a:pt x="0" y="755269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 rot="1133710">
            <a:off x="-383806" y="-5005590"/>
            <a:ext cx="8225491" cy="8229600"/>
          </a:xfrm>
          <a:custGeom>
            <a:avLst/>
            <a:gdLst/>
            <a:ahLst/>
            <a:cxnLst/>
            <a:rect l="l" t="t" r="r" b="b"/>
            <a:pathLst>
              <a:path w="8225491" h="8229600">
                <a:moveTo>
                  <a:pt x="0" y="0"/>
                </a:moveTo>
                <a:lnTo>
                  <a:pt x="8225491" y="0"/>
                </a:lnTo>
                <a:lnTo>
                  <a:pt x="8225491" y="8229600"/>
                </a:lnTo>
                <a:lnTo>
                  <a:pt x="0" y="822960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907675" y="4492826"/>
            <a:ext cx="2094366" cy="2094366"/>
          </a:xfrm>
          <a:custGeom>
            <a:avLst/>
            <a:gdLst/>
            <a:ahLst/>
            <a:cxnLst/>
            <a:rect l="l" t="t" r="r" b="b"/>
            <a:pathLst>
              <a:path w="2094366" h="2094366">
                <a:moveTo>
                  <a:pt x="0" y="0"/>
                </a:moveTo>
                <a:lnTo>
                  <a:pt x="2094366" y="0"/>
                </a:lnTo>
                <a:lnTo>
                  <a:pt x="2094366" y="2094367"/>
                </a:lnTo>
                <a:lnTo>
                  <a:pt x="0" y="209436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3255915" y="4199035"/>
            <a:ext cx="1482810" cy="1888930"/>
          </a:xfrm>
          <a:custGeom>
            <a:avLst/>
            <a:gdLst/>
            <a:ahLst/>
            <a:cxnLst/>
            <a:rect l="l" t="t" r="r" b="b"/>
            <a:pathLst>
              <a:path w="1482810" h="1888930">
                <a:moveTo>
                  <a:pt x="0" y="0"/>
                </a:moveTo>
                <a:lnTo>
                  <a:pt x="1482810" y="0"/>
                </a:lnTo>
                <a:lnTo>
                  <a:pt x="1482810" y="1888930"/>
                </a:lnTo>
                <a:lnTo>
                  <a:pt x="0" y="18889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2499205" y="6269502"/>
            <a:ext cx="1762079" cy="2234014"/>
          </a:xfrm>
          <a:custGeom>
            <a:avLst/>
            <a:gdLst/>
            <a:ahLst/>
            <a:cxnLst/>
            <a:rect l="l" t="t" r="r" b="b"/>
            <a:pathLst>
              <a:path w="1762079" h="2234014">
                <a:moveTo>
                  <a:pt x="0" y="0"/>
                </a:moveTo>
                <a:lnTo>
                  <a:pt x="1762079" y="0"/>
                </a:lnTo>
                <a:lnTo>
                  <a:pt x="1762079" y="2234014"/>
                </a:lnTo>
                <a:lnTo>
                  <a:pt x="0" y="22340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6536718" y="4846556"/>
            <a:ext cx="2607282" cy="3826306"/>
          </a:xfrm>
          <a:custGeom>
            <a:avLst/>
            <a:gdLst/>
            <a:ahLst/>
            <a:cxnLst/>
            <a:rect l="l" t="t" r="r" b="b"/>
            <a:pathLst>
              <a:path w="2607282" h="3826306">
                <a:moveTo>
                  <a:pt x="0" y="0"/>
                </a:moveTo>
                <a:lnTo>
                  <a:pt x="2607282" y="0"/>
                </a:lnTo>
                <a:lnTo>
                  <a:pt x="2607282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b="-5420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2497919" y="4492826"/>
            <a:ext cx="4866247" cy="4533766"/>
          </a:xfrm>
          <a:custGeom>
            <a:avLst/>
            <a:gdLst/>
            <a:ahLst/>
            <a:cxnLst/>
            <a:rect l="l" t="t" r="r" b="b"/>
            <a:pathLst>
              <a:path w="4866247" h="4533766">
                <a:moveTo>
                  <a:pt x="0" y="0"/>
                </a:moveTo>
                <a:lnTo>
                  <a:pt x="4866247" y="0"/>
                </a:lnTo>
                <a:lnTo>
                  <a:pt x="4866247" y="4533766"/>
                </a:lnTo>
                <a:lnTo>
                  <a:pt x="0" y="453376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-39751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9217116" y="4846556"/>
            <a:ext cx="2387765" cy="3826306"/>
          </a:xfrm>
          <a:custGeom>
            <a:avLst/>
            <a:gdLst/>
            <a:ahLst/>
            <a:cxnLst/>
            <a:rect l="l" t="t" r="r" b="b"/>
            <a:pathLst>
              <a:path w="2387765" h="3826306">
                <a:moveTo>
                  <a:pt x="0" y="0"/>
                </a:moveTo>
                <a:lnTo>
                  <a:pt x="2387765" y="0"/>
                </a:lnTo>
                <a:lnTo>
                  <a:pt x="2387765" y="3826306"/>
                </a:lnTo>
                <a:lnTo>
                  <a:pt x="0" y="38263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-9638" r="-4434"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1496906" y="1913507"/>
            <a:ext cx="15294187" cy="6582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РЕАЛИЗАЦИЯ И ТЕСТВАНЕ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2036452" y="3418620"/>
            <a:ext cx="2044452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Ползвано е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536718" y="3893386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Структура и Django панел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257673" y="3418620"/>
            <a:ext cx="5001627" cy="5994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9"/>
              </a:lnSpc>
            </a:pPr>
            <a:r>
              <a:rPr lang="en-US" sz="3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Истински тествано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7654552" y="250043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1"/>
                </a:lnTo>
                <a:lnTo>
                  <a:pt x="0" y="67578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8800078" y="1764569"/>
            <a:ext cx="9353441" cy="6757861"/>
          </a:xfrm>
          <a:custGeom>
            <a:avLst/>
            <a:gdLst/>
            <a:ahLst/>
            <a:cxnLst/>
            <a:rect l="l" t="t" r="r" b="b"/>
            <a:pathLst>
              <a:path w="9353441" h="6757861">
                <a:moveTo>
                  <a:pt x="0" y="0"/>
                </a:moveTo>
                <a:lnTo>
                  <a:pt x="9353442" y="0"/>
                </a:lnTo>
                <a:lnTo>
                  <a:pt x="9353442" y="6757862"/>
                </a:lnTo>
                <a:lnTo>
                  <a:pt x="0" y="67578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3493371" y="2063907"/>
            <a:ext cx="11301259" cy="6159186"/>
          </a:xfrm>
          <a:custGeom>
            <a:avLst/>
            <a:gdLst/>
            <a:ahLst/>
            <a:cxnLst/>
            <a:rect l="l" t="t" r="r" b="b"/>
            <a:pathLst>
              <a:path w="11301259" h="6159186">
                <a:moveTo>
                  <a:pt x="0" y="0"/>
                </a:moveTo>
                <a:lnTo>
                  <a:pt x="11301258" y="0"/>
                </a:lnTo>
                <a:lnTo>
                  <a:pt x="11301258" y="6159186"/>
                </a:lnTo>
                <a:lnTo>
                  <a:pt x="0" y="615918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83416" b="-83416"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4239733" y="239233"/>
            <a:ext cx="9808535" cy="9808535"/>
          </a:xfrm>
          <a:custGeom>
            <a:avLst/>
            <a:gdLst/>
            <a:ahLst/>
            <a:cxnLst/>
            <a:rect l="l" t="t" r="r" b="b"/>
            <a:pathLst>
              <a:path w="9808535" h="9808535">
                <a:moveTo>
                  <a:pt x="0" y="0"/>
                </a:moveTo>
                <a:lnTo>
                  <a:pt x="9808534" y="0"/>
                </a:lnTo>
                <a:lnTo>
                  <a:pt x="9808534" y="9808534"/>
                </a:lnTo>
                <a:lnTo>
                  <a:pt x="0" y="98085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40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-165281" y="6822428"/>
            <a:ext cx="3324374" cy="3464572"/>
          </a:xfrm>
          <a:custGeom>
            <a:avLst/>
            <a:gdLst/>
            <a:ahLst/>
            <a:cxnLst/>
            <a:rect l="l" t="t" r="r" b="b"/>
            <a:pathLst>
              <a:path w="3324374" h="3464572">
                <a:moveTo>
                  <a:pt x="0" y="0"/>
                </a:moveTo>
                <a:lnTo>
                  <a:pt x="3324374" y="0"/>
                </a:lnTo>
                <a:lnTo>
                  <a:pt x="3324374" y="3464572"/>
                </a:lnTo>
                <a:lnTo>
                  <a:pt x="0" y="34645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-2108" r="-2108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1496906" y="3856609"/>
            <a:ext cx="15294187" cy="12868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БЛАГОДАРЯ ВИ </a:t>
            </a:r>
          </a:p>
          <a:p>
            <a:pPr algn="ctr">
              <a:lnSpc>
                <a:spcPts val="4971"/>
              </a:lnSpc>
            </a:pPr>
            <a:r>
              <a:rPr lang="en-US" sz="4399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ЗА ВАШЕТО ВНИМАНИЕ!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3296336" y="8157521"/>
            <a:ext cx="3745807" cy="737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9"/>
              </a:lnSpc>
            </a:pPr>
            <a:r>
              <a:rPr lang="en-US" sz="2399" b="1">
                <a:solidFill>
                  <a:srgbClr val="FFFFFF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Дипломант:</a:t>
            </a:r>
          </a:p>
          <a:p>
            <a:pPr algn="ctr">
              <a:lnSpc>
                <a:spcPts val="2520"/>
              </a:lnSpc>
              <a:spcBef>
                <a:spcPct val="0"/>
              </a:spcBef>
            </a:pPr>
            <a:r>
              <a:rPr lang="en-US" sz="1800">
                <a:solidFill>
                  <a:srgbClr val="FFFFFF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                              Виктор Василев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По избор</PresentationFormat>
  <Paragraphs>0</Paragraphs>
  <Slides>11</Slides>
  <Notes>10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Заглавия на слайдовете</vt:lpstr>
      </vt:variant>
      <vt:variant>
        <vt:i4>11</vt:i4>
      </vt:variant>
    </vt:vector>
  </HeadingPairs>
  <TitlesOfParts>
    <vt:vector size="12" baseType="lpstr">
      <vt:lpstr>Office Theme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  <vt:lpstr>Презентация на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Tech Company</dc:title>
  <cp:revision>8</cp:revision>
  <dcterms:created xsi:type="dcterms:W3CDTF">2006-08-16T00:00:00Z</dcterms:created>
  <dcterms:modified xsi:type="dcterms:W3CDTF">2026-04-29T17:21:31Z</dcterms:modified>
  <dc:identifier>DAHHpVcMLG8</dc:identifier>
</cp:coreProperties>
</file>