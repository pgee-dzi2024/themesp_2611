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Arial Black" panose="020B0A04020102020204" pitchFamily="34" charset="0"/>
      <p:bold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  <p:embeddedFont>
      <p:font typeface="Calibri" panose="020F0502020204030204" pitchFamily="34" charset="0"/>
      <p:regular r:id="rId19"/>
      <p:bold r:id="rId20"/>
      <p:italic r:id="rId21"/>
      <p:boldItalic r:id="rId22"/>
    </p:embeddedFont>
    <p:embeddedFont>
      <p:font typeface="Times New Roman Bold" panose="02020803070505020304" pitchFamily="18" charset="0"/>
      <p:regular r:id="rId23"/>
      <p:bold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14" autoAdjust="0"/>
  </p:normalViewPr>
  <p:slideViewPr>
    <p:cSldViewPr>
      <p:cViewPr varScale="1">
        <p:scale>
          <a:sx n="71" d="100"/>
          <a:sy n="71" d="100"/>
        </p:scale>
        <p:origin x="714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87" d="100"/>
          <a:sy n="87" d="100"/>
        </p:scale>
        <p:origin x="3840" y="9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11.fntdata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11.05.2026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Уважаема</a:t>
            </a:r>
            <a:r>
              <a:rPr lang="en-US" dirty="0"/>
              <a:t> г-</a:t>
            </a:r>
            <a:r>
              <a:rPr lang="en-US" dirty="0" err="1"/>
              <a:t>жо</a:t>
            </a:r>
            <a:r>
              <a:rPr lang="en-US" dirty="0"/>
              <a:t> </a:t>
            </a:r>
            <a:r>
              <a:rPr lang="en-US" dirty="0" err="1"/>
              <a:t>Директор</a:t>
            </a:r>
            <a:r>
              <a:rPr lang="en-US" dirty="0"/>
              <a:t>, </a:t>
            </a:r>
            <a:r>
              <a:rPr lang="en-US" dirty="0" err="1"/>
              <a:t>Уважаема</a:t>
            </a:r>
            <a:r>
              <a:rPr lang="en-US" dirty="0"/>
              <a:t> </a:t>
            </a:r>
            <a:r>
              <a:rPr lang="en-US" dirty="0" err="1" smtClean="0"/>
              <a:t>комисия</a:t>
            </a:r>
            <a:r>
              <a:rPr lang="en-US" dirty="0" smtClean="0"/>
              <a:t>. </a:t>
            </a:r>
            <a:r>
              <a:rPr lang="en-US" dirty="0" err="1"/>
              <a:t>Аз</a:t>
            </a:r>
            <a:r>
              <a:rPr lang="en-US" dirty="0"/>
              <a:t> </a:t>
            </a:r>
            <a:r>
              <a:rPr lang="en-US" dirty="0" err="1"/>
              <a:t>съм</a:t>
            </a:r>
            <a:r>
              <a:rPr lang="en-US" dirty="0"/>
              <a:t> </a:t>
            </a:r>
            <a:r>
              <a:rPr lang="en-US" dirty="0" err="1"/>
              <a:t>Виктор</a:t>
            </a:r>
            <a:r>
              <a:rPr lang="en-US" dirty="0"/>
              <a:t> </a:t>
            </a:r>
            <a:r>
              <a:rPr lang="en-US" dirty="0" err="1"/>
              <a:t>Василев</a:t>
            </a:r>
            <a:r>
              <a:rPr lang="en-US" dirty="0"/>
              <a:t>. </a:t>
            </a:r>
            <a:r>
              <a:rPr lang="en-US" dirty="0" err="1"/>
              <a:t>Темата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моя</a:t>
            </a:r>
            <a:r>
              <a:rPr lang="en-US" dirty="0"/>
              <a:t> </a:t>
            </a:r>
            <a:r>
              <a:rPr lang="en-US" dirty="0" err="1"/>
              <a:t>дипломен</a:t>
            </a:r>
            <a:r>
              <a:rPr lang="en-US" dirty="0"/>
              <a:t> </a:t>
            </a:r>
            <a:r>
              <a:rPr lang="en-US" dirty="0" err="1"/>
              <a:t>проект</a:t>
            </a:r>
            <a:r>
              <a:rPr lang="en-US" dirty="0"/>
              <a:t> е „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състезания</a:t>
            </a:r>
            <a:r>
              <a:rPr lang="en-US" dirty="0"/>
              <a:t>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искам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покажа</a:t>
            </a:r>
            <a:r>
              <a:rPr lang="en-US" dirty="0"/>
              <a:t> </a:t>
            </a:r>
            <a:r>
              <a:rPr lang="en-US" dirty="0" err="1"/>
              <a:t>защо</a:t>
            </a:r>
            <a:r>
              <a:rPr lang="en-US" dirty="0"/>
              <a:t> </a:t>
            </a:r>
            <a:r>
              <a:rPr lang="en-US" dirty="0" err="1"/>
              <a:t>тя</a:t>
            </a:r>
            <a:r>
              <a:rPr lang="en-US" dirty="0"/>
              <a:t> е </a:t>
            </a:r>
            <a:r>
              <a:rPr lang="en-US" dirty="0" err="1"/>
              <a:t>необходима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традиционните</a:t>
            </a:r>
            <a:r>
              <a:rPr lang="en-US" dirty="0"/>
              <a:t> </a:t>
            </a:r>
            <a:r>
              <a:rPr lang="en-US" dirty="0" err="1"/>
              <a:t>методи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масови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използват</a:t>
            </a:r>
            <a:r>
              <a:rPr lang="en-US" dirty="0"/>
              <a:t> </a:t>
            </a:r>
            <a:r>
              <a:rPr lang="en-US" dirty="0" err="1"/>
              <a:t>хартиени</a:t>
            </a:r>
            <a:r>
              <a:rPr lang="en-US" dirty="0"/>
              <a:t> </a:t>
            </a:r>
            <a:r>
              <a:rPr lang="en-US" dirty="0" err="1"/>
              <a:t>протоколи</a:t>
            </a:r>
            <a:r>
              <a:rPr lang="en-US" dirty="0"/>
              <a:t> и </a:t>
            </a:r>
            <a:r>
              <a:rPr lang="en-US" dirty="0" err="1"/>
              <a:t>ръчно</a:t>
            </a:r>
            <a:r>
              <a:rPr lang="en-US" dirty="0"/>
              <a:t> </a:t>
            </a:r>
            <a:r>
              <a:rPr lang="en-US" dirty="0" err="1"/>
              <a:t>хронометриране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носи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сериозни</a:t>
            </a:r>
            <a:r>
              <a:rPr lang="en-US" dirty="0"/>
              <a:t> </a:t>
            </a:r>
            <a:r>
              <a:rPr lang="en-US" dirty="0" err="1"/>
              <a:t>проблема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Първо</a:t>
            </a:r>
            <a:r>
              <a:rPr lang="en-US" dirty="0"/>
              <a:t> — </a:t>
            </a:r>
            <a:r>
              <a:rPr lang="en-US" dirty="0" err="1"/>
              <a:t>рискът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човешка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е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висок</a:t>
            </a:r>
            <a:r>
              <a:rPr lang="en-US" dirty="0"/>
              <a:t>, </a:t>
            </a:r>
            <a:r>
              <a:rPr lang="en-US" dirty="0" err="1"/>
              <a:t>особено</a:t>
            </a:r>
            <a:r>
              <a:rPr lang="en-US" dirty="0"/>
              <a:t> </a:t>
            </a:r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няколко</a:t>
            </a:r>
            <a:r>
              <a:rPr lang="en-US" dirty="0"/>
              <a:t> </a:t>
            </a:r>
            <a:r>
              <a:rPr lang="en-US" dirty="0" err="1"/>
              <a:t>участника</a:t>
            </a:r>
            <a:r>
              <a:rPr lang="en-US" dirty="0"/>
              <a:t> </a:t>
            </a:r>
            <a:r>
              <a:rPr lang="en-US" dirty="0" err="1"/>
              <a:t>финишират</a:t>
            </a:r>
            <a:r>
              <a:rPr lang="en-US" dirty="0"/>
              <a:t> </a:t>
            </a:r>
            <a:r>
              <a:rPr lang="en-US" dirty="0" err="1"/>
              <a:t>едновременно</a:t>
            </a:r>
            <a:r>
              <a:rPr lang="en-US" dirty="0"/>
              <a:t>. </a:t>
            </a:r>
            <a:r>
              <a:rPr lang="en-US" dirty="0" err="1"/>
              <a:t>Второ</a:t>
            </a:r>
            <a:r>
              <a:rPr lang="en-US" dirty="0"/>
              <a:t> — </a:t>
            </a:r>
            <a:r>
              <a:rPr lang="en-US" dirty="0" err="1"/>
              <a:t>ръчното</a:t>
            </a:r>
            <a:r>
              <a:rPr lang="en-US" dirty="0"/>
              <a:t> </a:t>
            </a:r>
            <a:r>
              <a:rPr lang="en-US" dirty="0" err="1"/>
              <a:t>изчисляване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отнема</a:t>
            </a:r>
            <a:r>
              <a:rPr lang="en-US" dirty="0"/>
              <a:t> </a:t>
            </a:r>
            <a:r>
              <a:rPr lang="en-US" dirty="0" err="1"/>
              <a:t>много</a:t>
            </a:r>
            <a:r>
              <a:rPr lang="en-US" dirty="0"/>
              <a:t> </a:t>
            </a:r>
            <a:r>
              <a:rPr lang="en-US" dirty="0" err="1"/>
              <a:t>повече</a:t>
            </a:r>
            <a:r>
              <a:rPr lang="en-US" dirty="0"/>
              <a:t> </a:t>
            </a:r>
            <a:r>
              <a:rPr lang="en-US" dirty="0" err="1"/>
              <a:t>персонал</a:t>
            </a:r>
            <a:r>
              <a:rPr lang="en-US" dirty="0"/>
              <a:t> и </a:t>
            </a:r>
            <a:r>
              <a:rPr lang="en-US" dirty="0" err="1"/>
              <a:t>забавя</a:t>
            </a:r>
            <a:r>
              <a:rPr lang="en-US" dirty="0"/>
              <a:t> </a:t>
            </a:r>
            <a:r>
              <a:rPr lang="en-US" dirty="0" err="1"/>
              <a:t>обявяването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И </a:t>
            </a:r>
            <a:r>
              <a:rPr lang="en-US" dirty="0" err="1"/>
              <a:t>трето</a:t>
            </a:r>
            <a:r>
              <a:rPr lang="en-US" dirty="0"/>
              <a:t> —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спорна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е </a:t>
            </a:r>
            <a:r>
              <a:rPr lang="en-US" dirty="0" err="1"/>
              <a:t>практически</a:t>
            </a:r>
            <a:r>
              <a:rPr lang="en-US" dirty="0"/>
              <a:t> </a:t>
            </a:r>
            <a:r>
              <a:rPr lang="en-US" dirty="0" err="1"/>
              <a:t>невъзможно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провери</a:t>
            </a:r>
            <a:r>
              <a:rPr lang="en-US" dirty="0"/>
              <a:t> </a:t>
            </a:r>
            <a:r>
              <a:rPr lang="en-US" dirty="0" err="1"/>
              <a:t>кой</a:t>
            </a:r>
            <a:r>
              <a:rPr lang="en-US" dirty="0"/>
              <a:t> е </a:t>
            </a:r>
            <a:r>
              <a:rPr lang="en-US" dirty="0" err="1"/>
              <a:t>направил</a:t>
            </a:r>
            <a:r>
              <a:rPr lang="en-US" dirty="0"/>
              <a:t> </a:t>
            </a:r>
            <a:r>
              <a:rPr lang="en-US" dirty="0" err="1"/>
              <a:t>каква</a:t>
            </a:r>
            <a:r>
              <a:rPr lang="en-US" dirty="0"/>
              <a:t> </a:t>
            </a:r>
            <a:r>
              <a:rPr lang="en-US" dirty="0" err="1"/>
              <a:t>промяна</a:t>
            </a:r>
            <a:r>
              <a:rPr lang="en-US" dirty="0"/>
              <a:t> и </a:t>
            </a:r>
            <a:r>
              <a:rPr lang="en-US" dirty="0" err="1"/>
              <a:t>кога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тези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ме</a:t>
            </a:r>
            <a:r>
              <a:rPr lang="en-US" dirty="0"/>
              <a:t> </a:t>
            </a:r>
            <a:r>
              <a:rPr lang="en-US" dirty="0" err="1"/>
              <a:t>накараха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разработя</a:t>
            </a:r>
            <a:r>
              <a:rPr lang="en-US" dirty="0"/>
              <a:t> </a:t>
            </a:r>
            <a:r>
              <a:rPr lang="en-US" dirty="0" err="1"/>
              <a:t>централизирана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всички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— </a:t>
            </a:r>
            <a:r>
              <a:rPr lang="en-US" dirty="0" err="1"/>
              <a:t>включително</a:t>
            </a:r>
            <a:r>
              <a:rPr lang="en-US" dirty="0"/>
              <a:t> </a:t>
            </a:r>
            <a:r>
              <a:rPr lang="en-US" dirty="0" err="1"/>
              <a:t>измерването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—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 smtClean="0"/>
              <a:t>сървър</a:t>
            </a:r>
            <a:r>
              <a:rPr lang="bg-BG" dirty="0" smtClean="0"/>
              <a:t>а.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разберем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,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изясним</a:t>
            </a:r>
            <a:r>
              <a:rPr lang="en-US" dirty="0"/>
              <a:t> </a:t>
            </a:r>
            <a:r>
              <a:rPr lang="en-US" dirty="0" err="1"/>
              <a:t>теоретичната</a:t>
            </a:r>
            <a:r>
              <a:rPr lang="en-US" dirty="0"/>
              <a:t> </a:t>
            </a:r>
            <a:r>
              <a:rPr lang="en-US" dirty="0" err="1"/>
              <a:t>основа</a:t>
            </a:r>
            <a:r>
              <a:rPr lang="en-US" dirty="0"/>
              <a:t>,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която</a:t>
            </a:r>
            <a:r>
              <a:rPr lang="en-US" dirty="0"/>
              <a:t> е </a:t>
            </a:r>
            <a:r>
              <a:rPr lang="en-US" dirty="0" err="1"/>
              <a:t>изградена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използва</a:t>
            </a:r>
            <a:r>
              <a:rPr lang="en-US" dirty="0"/>
              <a:t> </a:t>
            </a:r>
            <a:r>
              <a:rPr lang="en-US" dirty="0" err="1"/>
              <a:t>клиент</a:t>
            </a:r>
            <a:r>
              <a:rPr lang="en-US" dirty="0"/>
              <a:t>–</a:t>
            </a:r>
            <a:r>
              <a:rPr lang="en-US" dirty="0" err="1"/>
              <a:t>сървър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—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оператора</a:t>
            </a:r>
            <a:r>
              <a:rPr lang="en-US" dirty="0"/>
              <a:t> е </a:t>
            </a:r>
            <a:r>
              <a:rPr lang="en-US" dirty="0" err="1"/>
              <a:t>клиентът</a:t>
            </a:r>
            <a:r>
              <a:rPr lang="en-US" dirty="0"/>
              <a:t>, а Django </a:t>
            </a:r>
            <a:r>
              <a:rPr lang="en-US" dirty="0" err="1"/>
              <a:t>приложението</a:t>
            </a:r>
            <a:r>
              <a:rPr lang="en-US" dirty="0"/>
              <a:t>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Комуникацията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осъществява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HTTP </a:t>
            </a:r>
            <a:r>
              <a:rPr lang="en-US" dirty="0" err="1"/>
              <a:t>протокола</a:t>
            </a:r>
            <a:r>
              <a:rPr lang="en-US" dirty="0"/>
              <a:t>,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заявки</a:t>
            </a:r>
            <a:r>
              <a:rPr lang="en-US" dirty="0"/>
              <a:t> и </a:t>
            </a:r>
            <a:r>
              <a:rPr lang="en-US" dirty="0" err="1"/>
              <a:t>получава</a:t>
            </a:r>
            <a:r>
              <a:rPr lang="en-US" dirty="0"/>
              <a:t> </a:t>
            </a:r>
            <a:r>
              <a:rPr lang="en-US" dirty="0" err="1"/>
              <a:t>отговори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REST е </a:t>
            </a:r>
            <a:r>
              <a:rPr lang="en-US" dirty="0" err="1"/>
              <a:t>архитектурен</a:t>
            </a:r>
            <a:r>
              <a:rPr lang="en-US" dirty="0"/>
              <a:t> </a:t>
            </a:r>
            <a:r>
              <a:rPr lang="en-US" dirty="0" err="1"/>
              <a:t>стил</a:t>
            </a:r>
            <a:r>
              <a:rPr lang="en-US" dirty="0"/>
              <a:t>,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който</a:t>
            </a:r>
            <a:r>
              <a:rPr lang="en-US" dirty="0"/>
              <a:t> е </a:t>
            </a:r>
            <a:r>
              <a:rPr lang="en-US" dirty="0" err="1" smtClean="0"/>
              <a:t>проектиран</a:t>
            </a:r>
            <a:r>
              <a:rPr lang="en-US" dirty="0" smtClean="0"/>
              <a:t> </a:t>
            </a:r>
            <a:r>
              <a:rPr lang="en-US" dirty="0"/>
              <a:t>API-я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—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обект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е </a:t>
            </a:r>
            <a:r>
              <a:rPr lang="en-US" dirty="0" err="1"/>
              <a:t>достъпен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ресурс</a:t>
            </a:r>
            <a:r>
              <a:rPr lang="en-US" dirty="0"/>
              <a:t> с </a:t>
            </a:r>
            <a:r>
              <a:rPr lang="en-US" dirty="0" err="1"/>
              <a:t>уникален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съхраняват</a:t>
            </a:r>
            <a:r>
              <a:rPr lang="en-US" dirty="0"/>
              <a:t> в </a:t>
            </a:r>
            <a:r>
              <a:rPr lang="en-US" dirty="0" err="1"/>
              <a:t>релационна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с ACID </a:t>
            </a:r>
            <a:r>
              <a:rPr lang="en-US" dirty="0" err="1"/>
              <a:t>гаранции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консистентност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би</a:t>
            </a:r>
            <a:r>
              <a:rPr lang="en-US" dirty="0"/>
              <a:t> </a:t>
            </a:r>
            <a:r>
              <a:rPr lang="en-US" dirty="0" err="1"/>
              <a:t>най-важната</a:t>
            </a:r>
            <a:r>
              <a:rPr lang="en-US" dirty="0"/>
              <a:t> </a:t>
            </a:r>
            <a:r>
              <a:rPr lang="en-US" dirty="0" err="1"/>
              <a:t>теоретична</a:t>
            </a:r>
            <a:r>
              <a:rPr lang="en-US" dirty="0"/>
              <a:t> </a:t>
            </a:r>
            <a:r>
              <a:rPr lang="en-US" dirty="0" err="1"/>
              <a:t>концепция</a:t>
            </a:r>
            <a:r>
              <a:rPr lang="en-US" dirty="0"/>
              <a:t> е </a:t>
            </a:r>
            <a:r>
              <a:rPr lang="en-US" dirty="0" err="1"/>
              <a:t>централизираното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— </a:t>
            </a:r>
            <a:r>
              <a:rPr lang="en-US" dirty="0" err="1"/>
              <a:t>единственият</a:t>
            </a:r>
            <a:r>
              <a:rPr lang="en-US" dirty="0"/>
              <a:t> </a:t>
            </a:r>
            <a:r>
              <a:rPr lang="en-US" dirty="0" err="1"/>
              <a:t>компонент</a:t>
            </a:r>
            <a:r>
              <a:rPr lang="en-US" dirty="0"/>
              <a:t>, </a:t>
            </a:r>
            <a:r>
              <a:rPr lang="en-US" dirty="0" err="1"/>
              <a:t>определящ</a:t>
            </a:r>
            <a:r>
              <a:rPr lang="en-US" dirty="0"/>
              <a:t> </a:t>
            </a:r>
            <a:r>
              <a:rPr lang="en-US" dirty="0" err="1"/>
              <a:t>официалното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е </a:t>
            </a:r>
            <a:r>
              <a:rPr lang="en-US" dirty="0" err="1"/>
              <a:t>сървърът</a:t>
            </a:r>
            <a:r>
              <a:rPr lang="en-US" dirty="0"/>
              <a:t>. </a:t>
            </a:r>
            <a:r>
              <a:rPr lang="en-US" dirty="0" err="1"/>
              <a:t>Клиентът</a:t>
            </a:r>
            <a:r>
              <a:rPr lang="en-US" dirty="0"/>
              <a:t> </a:t>
            </a:r>
            <a:r>
              <a:rPr lang="en-US" dirty="0" err="1"/>
              <a:t>само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. </a:t>
            </a:r>
            <a:r>
              <a:rPr lang="en-US" dirty="0" err="1"/>
              <a:t>Така</a:t>
            </a:r>
            <a:r>
              <a:rPr lang="en-US" dirty="0"/>
              <a:t> </a:t>
            </a:r>
            <a:r>
              <a:rPr lang="en-US" dirty="0" err="1"/>
              <a:t>времето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бъде</a:t>
            </a:r>
            <a:r>
              <a:rPr lang="en-US" dirty="0"/>
              <a:t> </a:t>
            </a:r>
            <a:r>
              <a:rPr lang="en-US" dirty="0" err="1"/>
              <a:t>манипулирано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разделена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слоя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Първият</a:t>
            </a:r>
            <a:r>
              <a:rPr lang="en-US" dirty="0"/>
              <a:t> е </a:t>
            </a:r>
            <a:r>
              <a:rPr lang="en-US" dirty="0" err="1"/>
              <a:t>представителният</a:t>
            </a:r>
            <a:r>
              <a:rPr lang="en-US" dirty="0"/>
              <a:t> </a:t>
            </a:r>
            <a:r>
              <a:rPr lang="en-US" dirty="0" err="1"/>
              <a:t>слой</a:t>
            </a:r>
            <a:r>
              <a:rPr lang="en-US" dirty="0"/>
              <a:t> —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всичко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потребителят</a:t>
            </a:r>
            <a:r>
              <a:rPr lang="en-US" dirty="0"/>
              <a:t> </a:t>
            </a:r>
            <a:r>
              <a:rPr lang="en-US" dirty="0" err="1"/>
              <a:t>вижда</a:t>
            </a:r>
            <a:r>
              <a:rPr lang="en-US" dirty="0"/>
              <a:t>: HTML </a:t>
            </a:r>
            <a:r>
              <a:rPr lang="en-US" dirty="0" err="1"/>
              <a:t>страниците</a:t>
            </a:r>
            <a:r>
              <a:rPr lang="en-US" dirty="0"/>
              <a:t>, </a:t>
            </a:r>
            <a:r>
              <a:rPr lang="en-US" dirty="0" err="1"/>
              <a:t>изградени</a:t>
            </a:r>
            <a:r>
              <a:rPr lang="en-US" dirty="0"/>
              <a:t> с Django </a:t>
            </a:r>
            <a:r>
              <a:rPr lang="en-US" dirty="0" err="1"/>
              <a:t>шаблони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Вторият</a:t>
            </a:r>
            <a:r>
              <a:rPr lang="en-US" dirty="0"/>
              <a:t> е </a:t>
            </a:r>
            <a:r>
              <a:rPr lang="en-US" dirty="0" err="1"/>
              <a:t>приложният</a:t>
            </a:r>
            <a:r>
              <a:rPr lang="en-US" dirty="0"/>
              <a:t> </a:t>
            </a:r>
            <a:r>
              <a:rPr lang="en-US" dirty="0" err="1"/>
              <a:t>слой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извършва</a:t>
            </a:r>
            <a:r>
              <a:rPr lang="en-US" dirty="0"/>
              <a:t> </a:t>
            </a:r>
            <a:r>
              <a:rPr lang="en-US" dirty="0" err="1"/>
              <a:t>цялата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. </a:t>
            </a:r>
            <a:r>
              <a:rPr lang="en-US" dirty="0" err="1"/>
              <a:t>Той</a:t>
            </a:r>
            <a:r>
              <a:rPr lang="en-US" dirty="0"/>
              <a:t> </a:t>
            </a:r>
            <a:r>
              <a:rPr lang="en-US" dirty="0" err="1"/>
              <a:t>приема</a:t>
            </a:r>
            <a:r>
              <a:rPr lang="en-US" dirty="0"/>
              <a:t> </a:t>
            </a:r>
            <a:r>
              <a:rPr lang="en-US" dirty="0" err="1"/>
              <a:t>заявките</a:t>
            </a:r>
            <a:r>
              <a:rPr lang="en-US" dirty="0"/>
              <a:t>,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правата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, </a:t>
            </a:r>
            <a:r>
              <a:rPr lang="en-US" dirty="0" err="1"/>
              <a:t>валидира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и </a:t>
            </a:r>
            <a:r>
              <a:rPr lang="en-US" dirty="0" err="1"/>
              <a:t>изпълнява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операциите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Третият</a:t>
            </a:r>
            <a:r>
              <a:rPr lang="en-US" dirty="0"/>
              <a:t> е </a:t>
            </a:r>
            <a:r>
              <a:rPr lang="en-US" dirty="0" err="1"/>
              <a:t>слоят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— Django ORM,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превежда</a:t>
            </a:r>
            <a:r>
              <a:rPr lang="en-US" dirty="0"/>
              <a:t> Python </a:t>
            </a:r>
            <a:r>
              <a:rPr lang="en-US" dirty="0" err="1"/>
              <a:t>операциите</a:t>
            </a:r>
            <a:r>
              <a:rPr lang="en-US" dirty="0"/>
              <a:t> в SQL </a:t>
            </a:r>
            <a:r>
              <a:rPr lang="en-US" dirty="0" err="1"/>
              <a:t>заявки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</a:t>
            </a:r>
            <a:r>
              <a:rPr lang="en-US" dirty="0"/>
              <a:t> </a:t>
            </a:r>
            <a:r>
              <a:rPr lang="en-US" dirty="0" err="1"/>
              <a:t>архитектурно</a:t>
            </a:r>
            <a:r>
              <a:rPr lang="en-US" dirty="0"/>
              <a:t> </a:t>
            </a:r>
            <a:r>
              <a:rPr lang="en-US" dirty="0" err="1"/>
              <a:t>решение</a:t>
            </a:r>
            <a:r>
              <a:rPr lang="en-US" dirty="0"/>
              <a:t> е </a:t>
            </a:r>
            <a:r>
              <a:rPr lang="en-US" dirty="0" err="1"/>
              <a:t>принципът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: </a:t>
            </a:r>
            <a:r>
              <a:rPr lang="en-US" dirty="0" err="1"/>
              <a:t>дори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, </a:t>
            </a:r>
            <a:r>
              <a:rPr lang="en-US" dirty="0" err="1"/>
              <a:t>изпратени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легитимния</a:t>
            </a:r>
            <a:r>
              <a:rPr lang="en-US" dirty="0"/>
              <a:t> </a:t>
            </a:r>
            <a:r>
              <a:rPr lang="en-US" dirty="0" err="1"/>
              <a:t>потребителски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, </a:t>
            </a:r>
            <a:r>
              <a:rPr lang="en-US" dirty="0" err="1"/>
              <a:t>преминават</a:t>
            </a:r>
            <a:r>
              <a:rPr lang="en-US" dirty="0"/>
              <a:t> </a:t>
            </a:r>
            <a:r>
              <a:rPr lang="en-US" dirty="0" err="1"/>
              <a:t>през</a:t>
            </a:r>
            <a:r>
              <a:rPr lang="en-US" dirty="0"/>
              <a:t> </a:t>
            </a:r>
            <a:r>
              <a:rPr lang="en-US" dirty="0" err="1"/>
              <a:t>пълна</a:t>
            </a:r>
            <a:r>
              <a:rPr lang="en-US" dirty="0"/>
              <a:t>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никога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приема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даденост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клиентът</a:t>
            </a:r>
            <a:r>
              <a:rPr lang="en-US" dirty="0"/>
              <a:t> е </a:t>
            </a:r>
            <a:r>
              <a:rPr lang="en-US" dirty="0" err="1"/>
              <a:t>изпратил</a:t>
            </a:r>
            <a:r>
              <a:rPr lang="en-US" dirty="0"/>
              <a:t> </a:t>
            </a:r>
            <a:r>
              <a:rPr lang="en-US" dirty="0" err="1"/>
              <a:t>коректни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състои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три</a:t>
            </a:r>
            <a:r>
              <a:rPr lang="en-US" dirty="0"/>
              <a:t> </a:t>
            </a:r>
            <a:r>
              <a:rPr lang="en-US" dirty="0" err="1"/>
              <a:t>основни</a:t>
            </a:r>
            <a:r>
              <a:rPr lang="en-US" dirty="0"/>
              <a:t> </a:t>
            </a:r>
            <a:r>
              <a:rPr lang="en-US" dirty="0" err="1"/>
              <a:t>таблици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main_competition</a:t>
            </a:r>
            <a:r>
              <a:rPr lang="en-US" dirty="0"/>
              <a:t> </a:t>
            </a:r>
            <a:r>
              <a:rPr lang="en-US" dirty="0" err="1"/>
              <a:t>пази</a:t>
            </a:r>
            <a:r>
              <a:rPr lang="en-US" dirty="0"/>
              <a:t> </a:t>
            </a:r>
            <a:r>
              <a:rPr lang="en-US" dirty="0" err="1"/>
              <a:t>информацията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самото</a:t>
            </a:r>
            <a:r>
              <a:rPr lang="en-US" dirty="0"/>
              <a:t> </a:t>
            </a:r>
            <a:r>
              <a:rPr lang="en-US" dirty="0" err="1"/>
              <a:t>събитие</a:t>
            </a:r>
            <a:r>
              <a:rPr lang="en-US" dirty="0"/>
              <a:t> — </a:t>
            </a:r>
            <a:r>
              <a:rPr lang="en-US" dirty="0" err="1"/>
              <a:t>неговото</a:t>
            </a:r>
            <a:r>
              <a:rPr lang="en-US" dirty="0"/>
              <a:t> </a:t>
            </a:r>
            <a:r>
              <a:rPr lang="en-US" dirty="0" err="1"/>
              <a:t>наименование</a:t>
            </a:r>
            <a:r>
              <a:rPr lang="en-US" dirty="0"/>
              <a:t>, </a:t>
            </a:r>
            <a:r>
              <a:rPr lang="en-US" dirty="0" err="1"/>
              <a:t>текущото</a:t>
            </a:r>
            <a:r>
              <a:rPr lang="en-US" dirty="0"/>
              <a:t> </a:t>
            </a:r>
            <a:r>
              <a:rPr lang="en-US" dirty="0" err="1"/>
              <a:t>му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 и </a:t>
            </a:r>
            <a:r>
              <a:rPr lang="en-US" dirty="0" err="1"/>
              <a:t>най-важното</a:t>
            </a:r>
            <a:r>
              <a:rPr lang="en-US" dirty="0"/>
              <a:t> — </a:t>
            </a:r>
            <a:r>
              <a:rPr lang="en-US" dirty="0" err="1"/>
              <a:t>официалния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main_group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категориите</a:t>
            </a:r>
            <a:r>
              <a:rPr lang="en-US" dirty="0"/>
              <a:t>, в </a:t>
            </a:r>
            <a:r>
              <a:rPr lang="en-US" dirty="0" err="1"/>
              <a:t>които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разпределят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деца</a:t>
            </a:r>
            <a:r>
              <a:rPr lang="en-US" dirty="0"/>
              <a:t>, </a:t>
            </a:r>
            <a:r>
              <a:rPr lang="en-US" dirty="0" err="1"/>
              <a:t>ученици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ветерани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Таблицата</a:t>
            </a:r>
            <a:r>
              <a:rPr lang="en-US" dirty="0"/>
              <a:t> </a:t>
            </a:r>
            <a:r>
              <a:rPr lang="en-US" dirty="0" err="1"/>
              <a:t>main_athlete</a:t>
            </a:r>
            <a:r>
              <a:rPr lang="en-US" dirty="0"/>
              <a:t> е </a:t>
            </a:r>
            <a:r>
              <a:rPr lang="en-US" dirty="0" err="1"/>
              <a:t>основната</a:t>
            </a:r>
            <a:r>
              <a:rPr lang="en-US" dirty="0"/>
              <a:t> </a:t>
            </a:r>
            <a:r>
              <a:rPr lang="en-US" dirty="0" err="1"/>
              <a:t>оперативна</a:t>
            </a:r>
            <a:r>
              <a:rPr lang="en-US" dirty="0"/>
              <a:t> </a:t>
            </a:r>
            <a:r>
              <a:rPr lang="en-US" dirty="0" err="1"/>
              <a:t>таблица</a:t>
            </a:r>
            <a:r>
              <a:rPr lang="en-US" dirty="0"/>
              <a:t> — </a:t>
            </a:r>
            <a:r>
              <a:rPr lang="en-US" dirty="0" err="1"/>
              <a:t>там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записват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, </a:t>
            </a:r>
            <a:r>
              <a:rPr lang="en-US" dirty="0" err="1"/>
              <a:t>неговият</a:t>
            </a:r>
            <a:r>
              <a:rPr lang="en-US" dirty="0"/>
              <a:t> </a:t>
            </a:r>
            <a:r>
              <a:rPr lang="en-US" dirty="0" err="1"/>
              <a:t>стартов</a:t>
            </a:r>
            <a:r>
              <a:rPr lang="en-US" dirty="0"/>
              <a:t> </a:t>
            </a:r>
            <a:r>
              <a:rPr lang="en-US" dirty="0" err="1"/>
              <a:t>номер</a:t>
            </a:r>
            <a:r>
              <a:rPr lang="en-US" dirty="0"/>
              <a:t>, </a:t>
            </a:r>
            <a:r>
              <a:rPr lang="en-US" dirty="0" err="1"/>
              <a:t>категория</a:t>
            </a:r>
            <a:r>
              <a:rPr lang="en-US" dirty="0"/>
              <a:t>, </a:t>
            </a:r>
            <a:r>
              <a:rPr lang="en-US" dirty="0" err="1"/>
              <a:t>статус</a:t>
            </a:r>
            <a:r>
              <a:rPr lang="en-US" dirty="0"/>
              <a:t> и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 smtClean="0"/>
              <a:t>времe</a:t>
            </a:r>
            <a:r>
              <a:rPr lang="en-US" dirty="0" smtClean="0"/>
              <a:t>.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управлява</a:t>
            </a:r>
            <a:r>
              <a:rPr lang="en-US" dirty="0"/>
              <a:t> </a:t>
            </a:r>
            <a:r>
              <a:rPr lang="en-US" dirty="0" err="1"/>
              <a:t>жизнения</a:t>
            </a:r>
            <a:r>
              <a:rPr lang="en-US" dirty="0"/>
              <a:t> </a:t>
            </a:r>
            <a:r>
              <a:rPr lang="en-US" dirty="0" err="1"/>
              <a:t>цикъл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и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модела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крайния</a:t>
            </a:r>
            <a:r>
              <a:rPr lang="en-US" dirty="0"/>
              <a:t> </a:t>
            </a:r>
            <a:r>
              <a:rPr lang="en-US" dirty="0" err="1"/>
              <a:t>автомат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намира</a:t>
            </a:r>
            <a:r>
              <a:rPr lang="en-US" dirty="0"/>
              <a:t> в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стояния</a:t>
            </a:r>
            <a:r>
              <a:rPr lang="en-US" dirty="0" smtClean="0"/>
              <a:t>: </a:t>
            </a:r>
            <a:r>
              <a:rPr lang="en-US" dirty="0"/>
              <a:t>REGISTER 0 </a:t>
            </a:r>
            <a:r>
              <a:rPr lang="en-US" dirty="0" err="1"/>
              <a:t>регистриране</a:t>
            </a:r>
            <a:r>
              <a:rPr lang="en-US" dirty="0"/>
              <a:t> CREATED 1 — </a:t>
            </a:r>
            <a:r>
              <a:rPr lang="bg-BG" dirty="0" smtClean="0"/>
              <a:t>създаден</a:t>
            </a:r>
            <a:r>
              <a:rPr lang="bg-BG" baseline="0" dirty="0" smtClean="0"/>
              <a:t> и в </a:t>
            </a:r>
            <a:r>
              <a:rPr lang="en-US" dirty="0" err="1" smtClean="0"/>
              <a:t>очакване</a:t>
            </a:r>
            <a:r>
              <a:rPr lang="en-US" dirty="0"/>
              <a:t>, STARTED 2 — </a:t>
            </a:r>
            <a:r>
              <a:rPr lang="en-US" dirty="0" err="1"/>
              <a:t>активно</a:t>
            </a:r>
            <a:r>
              <a:rPr lang="en-US" dirty="0"/>
              <a:t>, и FINISHED 3 — </a:t>
            </a:r>
            <a:r>
              <a:rPr lang="en-US" dirty="0" err="1"/>
              <a:t>приключено</a:t>
            </a:r>
            <a:r>
              <a:rPr lang="en-US" dirty="0"/>
              <a:t>. </a:t>
            </a:r>
            <a:r>
              <a:rPr lang="en-US" dirty="0" err="1"/>
              <a:t>Преходите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тях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еднопосочни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Участникът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в </a:t>
            </a:r>
            <a:r>
              <a:rPr lang="en-US" dirty="0" err="1"/>
              <a:t>едно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четири</a:t>
            </a:r>
            <a:r>
              <a:rPr lang="en-US" dirty="0"/>
              <a:t> </a:t>
            </a:r>
            <a:r>
              <a:rPr lang="en-US" dirty="0" err="1" smtClean="0"/>
              <a:t>съ</a:t>
            </a:r>
            <a:r>
              <a:rPr lang="bg-BG" dirty="0" smtClean="0"/>
              <a:t>стоя</a:t>
            </a:r>
            <a:r>
              <a:rPr lang="en-US" dirty="0" err="1" smtClean="0"/>
              <a:t>ния</a:t>
            </a:r>
            <a:r>
              <a:rPr lang="en-US" dirty="0"/>
              <a:t>: REGISTERED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, FINISHED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, DQ </a:t>
            </a:r>
            <a:r>
              <a:rPr lang="en-US" dirty="0" err="1"/>
              <a:t>ако</a:t>
            </a:r>
            <a:r>
              <a:rPr lang="en-US" dirty="0"/>
              <a:t> е </a:t>
            </a:r>
            <a:r>
              <a:rPr lang="en-US" dirty="0" err="1"/>
              <a:t>дисквалифициран</a:t>
            </a:r>
            <a:r>
              <a:rPr lang="en-US" dirty="0"/>
              <a:t>, и NS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Ключовото</a:t>
            </a:r>
            <a:r>
              <a:rPr lang="en-US" dirty="0"/>
              <a:t> е,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проверява</a:t>
            </a:r>
            <a:r>
              <a:rPr lang="en-US" dirty="0"/>
              <a:t> </a:t>
            </a:r>
            <a:r>
              <a:rPr lang="en-US" dirty="0" err="1"/>
              <a:t>допустимостта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всеки</a:t>
            </a:r>
            <a:r>
              <a:rPr lang="en-US" dirty="0"/>
              <a:t> </a:t>
            </a:r>
            <a:r>
              <a:rPr lang="en-US" dirty="0" err="1"/>
              <a:t>преход</a:t>
            </a:r>
            <a:r>
              <a:rPr lang="en-US" dirty="0"/>
              <a:t>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го</a:t>
            </a:r>
            <a:r>
              <a:rPr lang="en-US" dirty="0"/>
              <a:t> </a:t>
            </a:r>
            <a:r>
              <a:rPr lang="en-US" dirty="0" err="1"/>
              <a:t>изпълни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 —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запише</a:t>
            </a:r>
            <a:r>
              <a:rPr lang="en-US" dirty="0"/>
              <a:t> </a:t>
            </a:r>
            <a:r>
              <a:rPr lang="en-US" dirty="0" err="1"/>
              <a:t>финишно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</a:t>
            </a:r>
            <a:r>
              <a:rPr lang="en-US" dirty="0" err="1"/>
              <a:t>ако</a:t>
            </a:r>
            <a:r>
              <a:rPr lang="en-US" dirty="0"/>
              <a:t> </a:t>
            </a:r>
            <a:r>
              <a:rPr lang="en-US" dirty="0" err="1"/>
              <a:t>събитието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още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е </a:t>
            </a:r>
            <a:r>
              <a:rPr lang="en-US" dirty="0" err="1"/>
              <a:t>стартирало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невалидна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връща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и </a:t>
            </a:r>
            <a:r>
              <a:rPr lang="en-US" dirty="0" err="1"/>
              <a:t>отказва</a:t>
            </a:r>
            <a:r>
              <a:rPr lang="en-US" dirty="0"/>
              <a:t> </a:t>
            </a:r>
            <a:r>
              <a:rPr lang="en-US" dirty="0" err="1"/>
              <a:t>операцията</a:t>
            </a:r>
            <a:r>
              <a:rPr lang="en-US" dirty="0"/>
              <a:t>.</a:t>
            </a:r>
          </a:p>
          <a:p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винаги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логически</a:t>
            </a:r>
            <a:r>
              <a:rPr lang="en-US" dirty="0"/>
              <a:t> </a:t>
            </a:r>
            <a:r>
              <a:rPr lang="en-US" dirty="0" err="1"/>
              <a:t>коректно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Нека</a:t>
            </a:r>
            <a:r>
              <a:rPr lang="en-US" dirty="0"/>
              <a:t> </a:t>
            </a:r>
            <a:r>
              <a:rPr lang="en-US" dirty="0" err="1"/>
              <a:t>обясня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най-важният</a:t>
            </a:r>
            <a:r>
              <a:rPr lang="en-US" dirty="0"/>
              <a:t> </a:t>
            </a:r>
            <a:r>
              <a:rPr lang="en-US" dirty="0" err="1"/>
              <a:t>алгоритъм</a:t>
            </a:r>
            <a:r>
              <a:rPr lang="en-US" dirty="0"/>
              <a:t> — </a:t>
            </a:r>
            <a:r>
              <a:rPr lang="en-US" dirty="0" err="1"/>
              <a:t>отчитането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Когато</a:t>
            </a:r>
            <a:r>
              <a:rPr lang="en-US" dirty="0"/>
              <a:t> </a:t>
            </a:r>
            <a:r>
              <a:rPr lang="en-US" dirty="0" err="1"/>
              <a:t>участник</a:t>
            </a:r>
            <a:r>
              <a:rPr lang="en-US" dirty="0"/>
              <a:t> </a:t>
            </a:r>
            <a:r>
              <a:rPr lang="en-US" dirty="0" err="1"/>
              <a:t>прекоси</a:t>
            </a:r>
            <a:r>
              <a:rPr lang="en-US" dirty="0"/>
              <a:t> </a:t>
            </a:r>
            <a:r>
              <a:rPr lang="en-US" dirty="0" err="1"/>
              <a:t>финалната</a:t>
            </a:r>
            <a:r>
              <a:rPr lang="en-US" dirty="0"/>
              <a:t> </a:t>
            </a:r>
            <a:r>
              <a:rPr lang="en-US" dirty="0" err="1"/>
              <a:t>линия</a:t>
            </a:r>
            <a:r>
              <a:rPr lang="en-US" dirty="0"/>
              <a:t>, </a:t>
            </a:r>
            <a:r>
              <a:rPr lang="en-US" dirty="0" err="1"/>
              <a:t>операторът</a:t>
            </a:r>
            <a:r>
              <a:rPr lang="en-US" dirty="0"/>
              <a:t> </a:t>
            </a:r>
            <a:r>
              <a:rPr lang="en-US" dirty="0" err="1"/>
              <a:t>натиска</a:t>
            </a:r>
            <a:r>
              <a:rPr lang="en-US" dirty="0"/>
              <a:t> </a:t>
            </a:r>
            <a:r>
              <a:rPr lang="en-US" dirty="0" err="1"/>
              <a:t>бутон</a:t>
            </a:r>
            <a:r>
              <a:rPr lang="en-US" dirty="0"/>
              <a:t> в </a:t>
            </a:r>
            <a:r>
              <a:rPr lang="en-US" dirty="0" err="1"/>
              <a:t>интерфейса</a:t>
            </a:r>
            <a:r>
              <a:rPr lang="en-US" dirty="0"/>
              <a:t>. </a:t>
            </a:r>
            <a:r>
              <a:rPr lang="en-US" dirty="0" err="1"/>
              <a:t>Браузърът</a:t>
            </a:r>
            <a:r>
              <a:rPr lang="en-US" dirty="0"/>
              <a:t> </a:t>
            </a:r>
            <a:r>
              <a:rPr lang="en-US" dirty="0" err="1"/>
              <a:t>изпраща</a:t>
            </a:r>
            <a:r>
              <a:rPr lang="en-US" dirty="0"/>
              <a:t> HTTP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сървъра</a:t>
            </a:r>
            <a:r>
              <a:rPr lang="en-US" dirty="0"/>
              <a:t>. </a:t>
            </a:r>
            <a:r>
              <a:rPr lang="en-US" dirty="0" err="1"/>
              <a:t>Сървърът</a:t>
            </a:r>
            <a:r>
              <a:rPr lang="en-US" dirty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абсолютно</a:t>
            </a:r>
            <a:r>
              <a:rPr lang="en-US" dirty="0"/>
              <a:t> </a:t>
            </a:r>
            <a:r>
              <a:rPr lang="en-US" dirty="0" err="1"/>
              <a:t>първа</a:t>
            </a:r>
            <a:r>
              <a:rPr lang="en-US" dirty="0"/>
              <a:t> </a:t>
            </a:r>
            <a:r>
              <a:rPr lang="en-US" dirty="0" err="1"/>
              <a:t>операция</a:t>
            </a:r>
            <a:r>
              <a:rPr lang="en-US" dirty="0"/>
              <a:t> — </a:t>
            </a:r>
            <a:r>
              <a:rPr lang="en-US" dirty="0" err="1"/>
              <a:t>преди</a:t>
            </a:r>
            <a:r>
              <a:rPr lang="en-US" dirty="0"/>
              <a:t> </a:t>
            </a:r>
            <a:r>
              <a:rPr lang="en-US" dirty="0" err="1"/>
              <a:t>каквито</a:t>
            </a:r>
            <a:r>
              <a:rPr lang="en-US" dirty="0"/>
              <a:t> и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проверки</a:t>
            </a:r>
            <a:r>
              <a:rPr lang="en-US" dirty="0"/>
              <a:t> — </a:t>
            </a:r>
            <a:r>
              <a:rPr lang="en-US" dirty="0" err="1"/>
              <a:t>захваща</a:t>
            </a:r>
            <a:r>
              <a:rPr lang="en-US" dirty="0"/>
              <a:t> </a:t>
            </a:r>
            <a:r>
              <a:rPr lang="en-US" dirty="0" err="1"/>
              <a:t>текущото</a:t>
            </a:r>
            <a:r>
              <a:rPr lang="en-US" dirty="0"/>
              <a:t> UTC </a:t>
            </a:r>
            <a:r>
              <a:rPr lang="en-US" dirty="0" err="1"/>
              <a:t>сървърно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. </a:t>
            </a:r>
            <a:r>
              <a:rPr lang="en-US" dirty="0" err="1"/>
              <a:t>Това</a:t>
            </a:r>
            <a:r>
              <a:rPr lang="en-US" dirty="0"/>
              <a:t> е </a:t>
            </a:r>
            <a:r>
              <a:rPr lang="en-US" dirty="0" err="1"/>
              <a:t>официалният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. </a:t>
            </a:r>
            <a:r>
              <a:rPr lang="en-US" dirty="0" err="1"/>
              <a:t>След</a:t>
            </a:r>
            <a:r>
              <a:rPr lang="en-US" dirty="0"/>
              <a:t> </a:t>
            </a:r>
            <a:r>
              <a:rPr lang="en-US" dirty="0" err="1"/>
              <a:t>това</a:t>
            </a:r>
            <a:r>
              <a:rPr lang="en-US" dirty="0"/>
              <a:t> </a:t>
            </a:r>
            <a:r>
              <a:rPr lang="en-US" dirty="0" err="1"/>
              <a:t>изчислява</a:t>
            </a:r>
            <a:r>
              <a:rPr lang="en-US" dirty="0"/>
              <a:t> </a:t>
            </a:r>
            <a:r>
              <a:rPr lang="en-US" dirty="0" err="1"/>
              <a:t>резултатното</a:t>
            </a:r>
            <a:r>
              <a:rPr lang="en-US" dirty="0"/>
              <a:t> </a:t>
            </a:r>
            <a:r>
              <a:rPr lang="en-US" dirty="0" err="1" smtClean="0"/>
              <a:t>врем</a:t>
            </a:r>
            <a:r>
              <a:rPr lang="bg-BG" dirty="0" smtClean="0"/>
              <a:t>е</a:t>
            </a:r>
            <a:r>
              <a:rPr lang="en-US" dirty="0" smtClean="0"/>
              <a:t>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разлика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финиша</a:t>
            </a:r>
            <a:r>
              <a:rPr lang="en-US" dirty="0"/>
              <a:t> и </a:t>
            </a:r>
            <a:r>
              <a:rPr lang="en-US" dirty="0" err="1"/>
              <a:t>стартовия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е </a:t>
            </a:r>
            <a:r>
              <a:rPr lang="en-US" dirty="0" err="1"/>
              <a:t>точно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Класирането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генерира</a:t>
            </a:r>
            <a:r>
              <a:rPr lang="en-US" dirty="0"/>
              <a:t> </a:t>
            </a:r>
            <a:r>
              <a:rPr lang="en-US" dirty="0" err="1"/>
              <a:t>динамично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всяко</a:t>
            </a:r>
            <a:r>
              <a:rPr lang="en-US" dirty="0"/>
              <a:t> </a:t>
            </a:r>
            <a:r>
              <a:rPr lang="en-US" dirty="0" err="1"/>
              <a:t>извличане</a:t>
            </a:r>
            <a:r>
              <a:rPr lang="en-US" dirty="0"/>
              <a:t> — </a:t>
            </a:r>
            <a:r>
              <a:rPr lang="en-US" dirty="0" err="1"/>
              <a:t>участниците</a:t>
            </a:r>
            <a:r>
              <a:rPr lang="en-US" dirty="0"/>
              <a:t> </a:t>
            </a:r>
            <a:r>
              <a:rPr lang="en-US" dirty="0" err="1"/>
              <a:t>се</a:t>
            </a:r>
            <a:r>
              <a:rPr lang="en-US" dirty="0"/>
              <a:t> </a:t>
            </a:r>
            <a:r>
              <a:rPr lang="en-US" dirty="0" err="1"/>
              <a:t>сортират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резултатно</a:t>
            </a:r>
            <a:r>
              <a:rPr lang="en-US" dirty="0"/>
              <a:t> </a:t>
            </a:r>
            <a:r>
              <a:rPr lang="en-US" dirty="0" err="1"/>
              <a:t>време</a:t>
            </a:r>
            <a:r>
              <a:rPr lang="en-US" dirty="0"/>
              <a:t>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равенство</a:t>
            </a:r>
            <a:r>
              <a:rPr lang="en-US" dirty="0"/>
              <a:t> —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реда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пристигане</a:t>
            </a:r>
            <a:r>
              <a:rPr lang="en-US" dirty="0"/>
              <a:t>. </a:t>
            </a:r>
            <a:r>
              <a:rPr lang="en-US" dirty="0" err="1"/>
              <a:t>Използвам</a:t>
            </a:r>
            <a:r>
              <a:rPr lang="en-US" dirty="0"/>
              <a:t> </a:t>
            </a:r>
            <a:r>
              <a:rPr lang="en-US" dirty="0" err="1"/>
              <a:t>транзакционно</a:t>
            </a:r>
            <a:r>
              <a:rPr lang="en-US" dirty="0"/>
              <a:t> </a:t>
            </a:r>
            <a:r>
              <a:rPr lang="en-US" dirty="0" err="1"/>
              <a:t>записване</a:t>
            </a:r>
            <a:r>
              <a:rPr lang="en-US" dirty="0"/>
              <a:t>, </a:t>
            </a:r>
            <a:r>
              <a:rPr lang="en-US" dirty="0" err="1"/>
              <a:t>което</a:t>
            </a:r>
            <a:r>
              <a:rPr lang="en-US" dirty="0"/>
              <a:t> </a:t>
            </a:r>
            <a:r>
              <a:rPr lang="en-US" dirty="0" err="1"/>
              <a:t>гарантира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грешка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остават</a:t>
            </a:r>
            <a:r>
              <a:rPr lang="en-US" dirty="0"/>
              <a:t> в </a:t>
            </a:r>
            <a:r>
              <a:rPr lang="en-US" dirty="0" err="1"/>
              <a:t>непълно</a:t>
            </a:r>
            <a:r>
              <a:rPr lang="en-US" dirty="0"/>
              <a:t> </a:t>
            </a:r>
            <a:r>
              <a:rPr lang="en-US" dirty="0" err="1"/>
              <a:t>съдържание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Сигурността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</a:t>
            </a:r>
            <a:r>
              <a:rPr lang="en-US" dirty="0" err="1"/>
              <a:t>съгласно</a:t>
            </a:r>
            <a:r>
              <a:rPr lang="en-US" dirty="0"/>
              <a:t> </a:t>
            </a:r>
            <a:r>
              <a:rPr lang="en-US" dirty="0" err="1"/>
              <a:t>препоръките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организацията</a:t>
            </a:r>
            <a:r>
              <a:rPr lang="en-US" dirty="0"/>
              <a:t> OWASP, </a:t>
            </a:r>
            <a:r>
              <a:rPr lang="en-US" dirty="0" err="1"/>
              <a:t>която</a:t>
            </a:r>
            <a:r>
              <a:rPr lang="en-US" dirty="0"/>
              <a:t> </a:t>
            </a:r>
            <a:r>
              <a:rPr lang="en-US" dirty="0" err="1"/>
              <a:t>поддържа</a:t>
            </a:r>
            <a:r>
              <a:rPr lang="en-US" dirty="0"/>
              <a:t> </a:t>
            </a:r>
            <a:r>
              <a:rPr lang="en-US" dirty="0" err="1"/>
              <a:t>списък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най-критичните</a:t>
            </a:r>
            <a:r>
              <a:rPr lang="en-US" dirty="0"/>
              <a:t> </a:t>
            </a:r>
            <a:r>
              <a:rPr lang="en-US" dirty="0" err="1"/>
              <a:t>уязвимости</a:t>
            </a:r>
            <a:r>
              <a:rPr lang="en-US" dirty="0"/>
              <a:t> в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приложенията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Защитата</a:t>
            </a:r>
            <a:r>
              <a:rPr lang="en-US" dirty="0"/>
              <a:t> </a:t>
            </a:r>
            <a:r>
              <a:rPr lang="en-US" dirty="0" err="1"/>
              <a:t>срещу</a:t>
            </a:r>
            <a:r>
              <a:rPr lang="en-US" dirty="0"/>
              <a:t> SQL </a:t>
            </a:r>
            <a:r>
              <a:rPr lang="en-US" dirty="0" err="1"/>
              <a:t>инжекции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изключителното</a:t>
            </a:r>
            <a:r>
              <a:rPr lang="en-US" dirty="0"/>
              <a:t> </a:t>
            </a:r>
            <a:r>
              <a:rPr lang="en-US" dirty="0" err="1"/>
              <a:t>използване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ORM — </a:t>
            </a:r>
            <a:r>
              <a:rPr lang="en-US" dirty="0" err="1"/>
              <a:t>никога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конкатенирам</a:t>
            </a:r>
            <a:r>
              <a:rPr lang="en-US" dirty="0"/>
              <a:t> </a:t>
            </a:r>
            <a:r>
              <a:rPr lang="en-US" dirty="0" err="1"/>
              <a:t>потребителски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директно</a:t>
            </a:r>
            <a:r>
              <a:rPr lang="en-US" dirty="0"/>
              <a:t> в SQL </a:t>
            </a:r>
            <a:r>
              <a:rPr lang="en-US" dirty="0" err="1"/>
              <a:t>заявка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bg-BG" dirty="0" smtClean="0"/>
              <a:t>Защита</a:t>
            </a:r>
            <a:r>
              <a:rPr lang="bg-BG" baseline="0" dirty="0" smtClean="0"/>
              <a:t> срещу </a:t>
            </a:r>
            <a:r>
              <a:rPr lang="en-US" baseline="0" dirty="0" smtClean="0"/>
              <a:t>CSRF </a:t>
            </a:r>
            <a:r>
              <a:rPr lang="bg-BG" baseline="0" dirty="0" smtClean="0"/>
              <a:t>атаки </a:t>
            </a:r>
            <a:r>
              <a:rPr lang="en-US" dirty="0" smtClean="0"/>
              <a:t>е </a:t>
            </a:r>
            <a:r>
              <a:rPr lang="en-US" dirty="0" err="1"/>
              <a:t>осигурена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вградения</a:t>
            </a:r>
            <a:r>
              <a:rPr lang="en-US" dirty="0"/>
              <a:t> </a:t>
            </a:r>
            <a:r>
              <a:rPr lang="en-US" dirty="0" err="1"/>
              <a:t>механизъм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с CSRF </a:t>
            </a:r>
            <a:r>
              <a:rPr lang="en-US" dirty="0" err="1"/>
              <a:t>токени</a:t>
            </a:r>
            <a:r>
              <a:rPr lang="en-US" dirty="0"/>
              <a:t> — </a:t>
            </a:r>
            <a:r>
              <a:rPr lang="en-US" dirty="0" err="1"/>
              <a:t>всяка</a:t>
            </a:r>
            <a:r>
              <a:rPr lang="en-US" dirty="0"/>
              <a:t> </a:t>
            </a:r>
            <a:r>
              <a:rPr lang="en-US" dirty="0" err="1"/>
              <a:t>модифицираща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трябва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съдържа</a:t>
            </a:r>
            <a:r>
              <a:rPr lang="en-US" dirty="0"/>
              <a:t> </a:t>
            </a:r>
            <a:r>
              <a:rPr lang="en-US" dirty="0" err="1"/>
              <a:t>валиден</a:t>
            </a:r>
            <a:r>
              <a:rPr lang="en-US" dirty="0"/>
              <a:t> </a:t>
            </a:r>
            <a:r>
              <a:rPr lang="en-US" dirty="0" err="1"/>
              <a:t>токен</a:t>
            </a:r>
            <a:r>
              <a:rPr lang="en-US" dirty="0"/>
              <a:t>, </a:t>
            </a:r>
            <a:r>
              <a:rPr lang="en-US" dirty="0" err="1"/>
              <a:t>който</a:t>
            </a:r>
            <a:r>
              <a:rPr lang="en-US" dirty="0"/>
              <a:t> </a:t>
            </a:r>
            <a:r>
              <a:rPr lang="en-US" dirty="0" err="1"/>
              <a:t>злонамерена</a:t>
            </a:r>
            <a:r>
              <a:rPr lang="en-US" dirty="0"/>
              <a:t> </a:t>
            </a:r>
            <a:r>
              <a:rPr lang="en-US" dirty="0" err="1"/>
              <a:t>страница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знае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прилага</a:t>
            </a:r>
            <a:r>
              <a:rPr lang="en-US" dirty="0"/>
              <a:t>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защитата</a:t>
            </a:r>
            <a:r>
              <a:rPr lang="en-US" dirty="0"/>
              <a:t> в </a:t>
            </a:r>
            <a:r>
              <a:rPr lang="en-US" dirty="0" err="1"/>
              <a:t>дълбочина</a:t>
            </a:r>
            <a:r>
              <a:rPr lang="en-US" dirty="0"/>
              <a:t> — </a:t>
            </a:r>
            <a:r>
              <a:rPr lang="en-US" dirty="0" err="1"/>
              <a:t>всяка</a:t>
            </a:r>
            <a:r>
              <a:rPr lang="en-US" dirty="0"/>
              <a:t> </a:t>
            </a:r>
            <a:r>
              <a:rPr lang="en-US" dirty="0" err="1"/>
              <a:t>заявка</a:t>
            </a:r>
            <a:r>
              <a:rPr lang="en-US" dirty="0"/>
              <a:t> </a:t>
            </a:r>
            <a:r>
              <a:rPr lang="en-US" dirty="0" err="1"/>
              <a:t>преминава</a:t>
            </a:r>
            <a:r>
              <a:rPr lang="en-US" dirty="0"/>
              <a:t> </a:t>
            </a:r>
            <a:r>
              <a:rPr lang="en-US" dirty="0" err="1"/>
              <a:t>последователно</a:t>
            </a:r>
            <a:r>
              <a:rPr lang="en-US" dirty="0"/>
              <a:t> </a:t>
            </a:r>
            <a:r>
              <a:rPr lang="en-US" dirty="0" err="1"/>
              <a:t>през</a:t>
            </a:r>
            <a:r>
              <a:rPr lang="en-US" dirty="0"/>
              <a:t> HTTP </a:t>
            </a:r>
            <a:r>
              <a:rPr lang="en-US" dirty="0" err="1"/>
              <a:t>проверка</a:t>
            </a:r>
            <a:r>
              <a:rPr lang="en-US" dirty="0"/>
              <a:t>, </a:t>
            </a:r>
            <a:r>
              <a:rPr lang="en-US" dirty="0" err="1"/>
              <a:t>аутентикация</a:t>
            </a:r>
            <a:r>
              <a:rPr lang="en-US" dirty="0"/>
              <a:t>, </a:t>
            </a:r>
            <a:r>
              <a:rPr lang="en-US" dirty="0" err="1"/>
              <a:t>валидиране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сериализатора</a:t>
            </a:r>
            <a:r>
              <a:rPr lang="en-US" dirty="0"/>
              <a:t>,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 и </a:t>
            </a:r>
            <a:r>
              <a:rPr lang="en-US" dirty="0" err="1"/>
              <a:t>накрая</a:t>
            </a:r>
            <a:r>
              <a:rPr lang="en-US" dirty="0"/>
              <a:t> </a:t>
            </a:r>
            <a:r>
              <a:rPr lang="en-US" dirty="0" err="1"/>
              <a:t>ограниченията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Дефинирани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две</a:t>
            </a:r>
            <a:r>
              <a:rPr lang="en-US" dirty="0"/>
              <a:t> </a:t>
            </a:r>
            <a:r>
              <a:rPr lang="en-US" dirty="0" err="1"/>
              <a:t>роли</a:t>
            </a:r>
            <a:r>
              <a:rPr lang="en-US" dirty="0"/>
              <a:t>: </a:t>
            </a:r>
            <a:r>
              <a:rPr lang="en-US" dirty="0" err="1"/>
              <a:t>администратор</a:t>
            </a:r>
            <a:r>
              <a:rPr lang="en-US" dirty="0"/>
              <a:t> с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и </a:t>
            </a:r>
            <a:r>
              <a:rPr lang="en-US" dirty="0" err="1"/>
              <a:t>оператор</a:t>
            </a:r>
            <a:r>
              <a:rPr lang="en-US" dirty="0"/>
              <a:t> с </a:t>
            </a:r>
            <a:r>
              <a:rPr lang="en-US" dirty="0" err="1"/>
              <a:t>ограничени</a:t>
            </a:r>
            <a:r>
              <a:rPr lang="en-US" dirty="0"/>
              <a:t> </a:t>
            </a:r>
            <a:r>
              <a:rPr lang="en-US" dirty="0" err="1"/>
              <a:t>права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разработена</a:t>
            </a:r>
            <a:r>
              <a:rPr lang="en-US" dirty="0"/>
              <a:t> с Python и Django framework, </a:t>
            </a:r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интегрирана</a:t>
            </a:r>
            <a:r>
              <a:rPr lang="en-US" dirty="0"/>
              <a:t> </a:t>
            </a:r>
            <a:r>
              <a:rPr lang="en-US" dirty="0" err="1"/>
              <a:t>среда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програмиране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 err="1"/>
              <a:t>PyCharm</a:t>
            </a:r>
            <a:r>
              <a:rPr lang="en-US" dirty="0"/>
              <a:t>.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база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разработката</a:t>
            </a:r>
            <a:r>
              <a:rPr lang="en-US" dirty="0"/>
              <a:t> </a:t>
            </a:r>
            <a:r>
              <a:rPr lang="bg-BG" dirty="0" smtClean="0"/>
              <a:t>е</a:t>
            </a:r>
            <a:r>
              <a:rPr lang="bg-BG" baseline="0" dirty="0" smtClean="0"/>
              <a:t> използвано</a:t>
            </a:r>
            <a:r>
              <a:rPr lang="en-US" dirty="0" smtClean="0"/>
              <a:t> </a:t>
            </a:r>
            <a:r>
              <a:rPr lang="en-US" dirty="0"/>
              <a:t>XAMPP .</a:t>
            </a:r>
          </a:p>
          <a:p>
            <a:endParaRPr lang="en-US" dirty="0"/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следва</a:t>
            </a:r>
            <a:r>
              <a:rPr lang="en-US" dirty="0"/>
              <a:t> </a:t>
            </a:r>
            <a:r>
              <a:rPr lang="en-US" dirty="0" err="1"/>
              <a:t>стандартната</a:t>
            </a:r>
            <a:r>
              <a:rPr lang="en-US" dirty="0"/>
              <a:t> </a:t>
            </a:r>
            <a:r>
              <a:rPr lang="en-US" dirty="0" err="1"/>
              <a:t>структура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приложение</a:t>
            </a:r>
            <a:r>
              <a:rPr lang="en-US" dirty="0"/>
              <a:t> — models.py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структурата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, views.py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бизнес</a:t>
            </a:r>
            <a:r>
              <a:rPr lang="en-US" dirty="0"/>
              <a:t> </a:t>
            </a:r>
            <a:r>
              <a:rPr lang="en-US" dirty="0" err="1"/>
              <a:t>логиката</a:t>
            </a:r>
            <a:r>
              <a:rPr lang="en-US" dirty="0"/>
              <a:t>, serializers.py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валидирането</a:t>
            </a:r>
            <a:r>
              <a:rPr lang="en-US" dirty="0"/>
              <a:t> и urls.py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маршрутизацията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Административният</a:t>
            </a:r>
            <a:r>
              <a:rPr lang="en-US" dirty="0"/>
              <a:t> </a:t>
            </a:r>
            <a:r>
              <a:rPr lang="en-US" dirty="0" err="1"/>
              <a:t>панел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Django </a:t>
            </a:r>
            <a:r>
              <a:rPr lang="en-US" dirty="0" err="1"/>
              <a:t>дава</a:t>
            </a:r>
            <a:r>
              <a:rPr lang="en-US" dirty="0"/>
              <a:t> </a:t>
            </a:r>
            <a:r>
              <a:rPr lang="en-US" dirty="0" err="1"/>
              <a:t>пълен</a:t>
            </a:r>
            <a:r>
              <a:rPr lang="en-US" dirty="0"/>
              <a:t> </a:t>
            </a:r>
            <a:r>
              <a:rPr lang="en-US" dirty="0" err="1"/>
              <a:t>контрол</a:t>
            </a:r>
            <a:r>
              <a:rPr lang="en-US" dirty="0"/>
              <a:t> </a:t>
            </a:r>
            <a:r>
              <a:rPr lang="en-US" dirty="0" err="1"/>
              <a:t>върху</a:t>
            </a:r>
            <a:r>
              <a:rPr lang="en-US" dirty="0"/>
              <a:t> </a:t>
            </a:r>
            <a:r>
              <a:rPr lang="en-US" dirty="0" err="1"/>
              <a:t>данните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директен</a:t>
            </a:r>
            <a:r>
              <a:rPr lang="en-US" dirty="0"/>
              <a:t> </a:t>
            </a:r>
            <a:r>
              <a:rPr lang="en-US" dirty="0" err="1"/>
              <a:t>достъп</a:t>
            </a:r>
            <a:r>
              <a:rPr lang="en-US" dirty="0"/>
              <a:t> </a:t>
            </a:r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базата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Системата</a:t>
            </a:r>
            <a:r>
              <a:rPr lang="en-US" dirty="0"/>
              <a:t> е </a:t>
            </a:r>
            <a:r>
              <a:rPr lang="en-US" dirty="0" err="1"/>
              <a:t>тествана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 smtClean="0"/>
              <a:t>реална</a:t>
            </a:r>
            <a:r>
              <a:rPr lang="en-US" dirty="0" smtClean="0"/>
              <a:t> с</a:t>
            </a:r>
            <a:r>
              <a:rPr lang="bg-BG" dirty="0" smtClean="0"/>
              <a:t>реда</a:t>
            </a:r>
            <a:r>
              <a:rPr lang="en-US" dirty="0" smtClean="0"/>
              <a:t> </a:t>
            </a:r>
            <a:r>
              <a:rPr lang="en-US" dirty="0"/>
              <a:t>— </a:t>
            </a:r>
            <a:r>
              <a:rPr lang="en-US" dirty="0" err="1"/>
              <a:t>регистрирани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участници</a:t>
            </a:r>
            <a:r>
              <a:rPr lang="en-US" dirty="0"/>
              <a:t>, </a:t>
            </a:r>
            <a:r>
              <a:rPr lang="en-US" dirty="0" err="1"/>
              <a:t>стартирано</a:t>
            </a:r>
            <a:r>
              <a:rPr lang="en-US" dirty="0"/>
              <a:t> е </a:t>
            </a:r>
            <a:r>
              <a:rPr lang="en-US" dirty="0" err="1"/>
              <a:t>събитие</a:t>
            </a:r>
            <a:r>
              <a:rPr lang="en-US" dirty="0"/>
              <a:t>, </a:t>
            </a:r>
            <a:r>
              <a:rPr lang="en-US" dirty="0" err="1"/>
              <a:t>маркирани</a:t>
            </a:r>
            <a:r>
              <a:rPr lang="en-US" dirty="0"/>
              <a:t> </a:t>
            </a:r>
            <a:r>
              <a:rPr lang="en-US" dirty="0" err="1"/>
              <a:t>са</a:t>
            </a:r>
            <a:r>
              <a:rPr lang="en-US" dirty="0"/>
              <a:t> </a:t>
            </a:r>
            <a:r>
              <a:rPr lang="en-US" dirty="0" err="1"/>
              <a:t>финишни</a:t>
            </a:r>
            <a:r>
              <a:rPr lang="en-US" dirty="0"/>
              <a:t> </a:t>
            </a:r>
            <a:r>
              <a:rPr lang="en-US" dirty="0" err="1"/>
              <a:t>времена</a:t>
            </a:r>
            <a:r>
              <a:rPr lang="en-US" dirty="0"/>
              <a:t> и е </a:t>
            </a:r>
            <a:r>
              <a:rPr lang="en-US" dirty="0" err="1"/>
              <a:t>проверено</a:t>
            </a:r>
            <a:r>
              <a:rPr lang="en-US" dirty="0"/>
              <a:t> </a:t>
            </a:r>
            <a:r>
              <a:rPr lang="en-US" dirty="0" err="1"/>
              <a:t>правилното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  <a:r>
              <a:rPr lang="en-US" dirty="0" err="1"/>
              <a:t>Резултатите</a:t>
            </a:r>
            <a:r>
              <a:rPr lang="en-US" dirty="0"/>
              <a:t> </a:t>
            </a:r>
            <a:r>
              <a:rPr lang="en-US" dirty="0" err="1"/>
              <a:t>потвърдиха</a:t>
            </a:r>
            <a:r>
              <a:rPr lang="en-US" dirty="0"/>
              <a:t>, </a:t>
            </a:r>
            <a:r>
              <a:rPr lang="en-US" dirty="0" err="1"/>
              <a:t>че</a:t>
            </a:r>
            <a:r>
              <a:rPr lang="en-US" dirty="0"/>
              <a:t> </a:t>
            </a:r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работи</a:t>
            </a:r>
            <a:r>
              <a:rPr lang="en-US" dirty="0"/>
              <a:t> </a:t>
            </a:r>
            <a:r>
              <a:rPr lang="en-US" dirty="0" err="1"/>
              <a:t>стабилно</a:t>
            </a:r>
            <a:r>
              <a:rPr lang="en-US" dirty="0"/>
              <a:t> и </a:t>
            </a:r>
            <a:r>
              <a:rPr lang="en-US" dirty="0" err="1"/>
              <a:t>коректно</a:t>
            </a:r>
            <a:r>
              <a:rPr lang="en-US" dirty="0"/>
              <a:t>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 dirty="0" err="1"/>
              <a:t>Като</a:t>
            </a:r>
            <a:r>
              <a:rPr lang="en-US" dirty="0"/>
              <a:t> </a:t>
            </a:r>
            <a:r>
              <a:rPr lang="en-US" dirty="0" err="1"/>
              <a:t>цяло</a:t>
            </a:r>
            <a:r>
              <a:rPr lang="en-US" dirty="0"/>
              <a:t> — </a:t>
            </a:r>
            <a:r>
              <a:rPr lang="en-US" dirty="0" err="1"/>
              <a:t>разработената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успешно</a:t>
            </a:r>
            <a:r>
              <a:rPr lang="en-US" dirty="0"/>
              <a:t> </a:t>
            </a:r>
            <a:r>
              <a:rPr lang="en-US" dirty="0" err="1"/>
              <a:t>решава</a:t>
            </a:r>
            <a:r>
              <a:rPr lang="en-US" dirty="0"/>
              <a:t> </a:t>
            </a:r>
            <a:r>
              <a:rPr lang="en-US" dirty="0" err="1"/>
              <a:t>поставените</a:t>
            </a:r>
            <a:r>
              <a:rPr lang="en-US" dirty="0"/>
              <a:t> </a:t>
            </a:r>
            <a:r>
              <a:rPr lang="en-US" dirty="0" err="1"/>
              <a:t>цели</a:t>
            </a:r>
            <a:r>
              <a:rPr lang="en-US" dirty="0"/>
              <a:t>: </a:t>
            </a:r>
            <a:r>
              <a:rPr lang="en-US" dirty="0" err="1"/>
              <a:t>осигурява</a:t>
            </a:r>
            <a:r>
              <a:rPr lang="en-US" dirty="0"/>
              <a:t> </a:t>
            </a:r>
            <a:r>
              <a:rPr lang="en-US" dirty="0" err="1"/>
              <a:t>точна</a:t>
            </a:r>
            <a:r>
              <a:rPr lang="en-US" dirty="0"/>
              <a:t> </a:t>
            </a:r>
            <a:r>
              <a:rPr lang="en-US" dirty="0" err="1"/>
              <a:t>регистрация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участниците</a:t>
            </a:r>
            <a:r>
              <a:rPr lang="en-US" dirty="0"/>
              <a:t>, </a:t>
            </a:r>
            <a:r>
              <a:rPr lang="en-US" dirty="0" err="1"/>
              <a:t>надеждно</a:t>
            </a:r>
            <a:r>
              <a:rPr lang="en-US" dirty="0"/>
              <a:t> и </a:t>
            </a:r>
            <a:r>
              <a:rPr lang="en-US" dirty="0" err="1"/>
              <a:t>обективно</a:t>
            </a:r>
            <a:r>
              <a:rPr lang="en-US" dirty="0"/>
              <a:t> </a:t>
            </a:r>
            <a:r>
              <a:rPr lang="en-US" dirty="0" err="1"/>
              <a:t>времеизмерване</a:t>
            </a:r>
            <a:r>
              <a:rPr lang="en-US" dirty="0"/>
              <a:t> и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формиране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класирането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Чрез</a:t>
            </a:r>
            <a:r>
              <a:rPr lang="en-US" dirty="0"/>
              <a:t> </a:t>
            </a:r>
            <a:r>
              <a:rPr lang="en-US" dirty="0" err="1"/>
              <a:t>централизираната</a:t>
            </a:r>
            <a:r>
              <a:rPr lang="en-US" dirty="0"/>
              <a:t> </a:t>
            </a:r>
            <a:r>
              <a:rPr lang="en-US" dirty="0" err="1"/>
              <a:t>сървърна</a:t>
            </a:r>
            <a:r>
              <a:rPr lang="en-US" dirty="0"/>
              <a:t> </a:t>
            </a:r>
            <a:r>
              <a:rPr lang="en-US" dirty="0" err="1"/>
              <a:t>логика</a:t>
            </a:r>
            <a:r>
              <a:rPr lang="en-US" dirty="0"/>
              <a:t> и </a:t>
            </a:r>
            <a:r>
              <a:rPr lang="en-US" dirty="0" err="1"/>
              <a:t>принципа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нулево</a:t>
            </a:r>
            <a:r>
              <a:rPr lang="en-US" dirty="0"/>
              <a:t> </a:t>
            </a:r>
            <a:r>
              <a:rPr lang="en-US" dirty="0" err="1"/>
              <a:t>доверие</a:t>
            </a:r>
            <a:r>
              <a:rPr lang="en-US" dirty="0"/>
              <a:t> </a:t>
            </a:r>
            <a:r>
              <a:rPr lang="en-US" dirty="0" err="1"/>
              <a:t>към</a:t>
            </a:r>
            <a:r>
              <a:rPr lang="en-US" dirty="0"/>
              <a:t> </a:t>
            </a:r>
            <a:r>
              <a:rPr lang="en-US" dirty="0" err="1"/>
              <a:t>клиента</a:t>
            </a:r>
            <a:r>
              <a:rPr lang="en-US" dirty="0"/>
              <a:t> е </a:t>
            </a:r>
            <a:r>
              <a:rPr lang="en-US" dirty="0" err="1"/>
              <a:t>постигната</a:t>
            </a:r>
            <a:r>
              <a:rPr lang="en-US" dirty="0"/>
              <a:t> </a:t>
            </a:r>
            <a:r>
              <a:rPr lang="en-US" dirty="0" err="1"/>
              <a:t>висока</a:t>
            </a:r>
            <a:r>
              <a:rPr lang="en-US" dirty="0"/>
              <a:t> </a:t>
            </a:r>
            <a:r>
              <a:rPr lang="en-US" dirty="0" err="1"/>
              <a:t>степен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 и </a:t>
            </a:r>
            <a:r>
              <a:rPr lang="en-US" dirty="0" err="1"/>
              <a:t>невъзможност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манипулация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резултатите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Системата</a:t>
            </a:r>
            <a:r>
              <a:rPr lang="en-US" dirty="0"/>
              <a:t> </a:t>
            </a:r>
            <a:r>
              <a:rPr lang="en-US" dirty="0" err="1"/>
              <a:t>има</a:t>
            </a:r>
            <a:r>
              <a:rPr lang="en-US" dirty="0"/>
              <a:t> </a:t>
            </a:r>
            <a:r>
              <a:rPr lang="en-US" dirty="0" err="1"/>
              <a:t>потенциал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реално</a:t>
            </a:r>
            <a:r>
              <a:rPr lang="en-US" dirty="0"/>
              <a:t> </a:t>
            </a:r>
            <a:r>
              <a:rPr lang="en-US" dirty="0" err="1"/>
              <a:t>приложение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организирането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лекоатлетически</a:t>
            </a:r>
            <a:r>
              <a:rPr lang="en-US" dirty="0"/>
              <a:t> </a:t>
            </a:r>
            <a:r>
              <a:rPr lang="en-US" dirty="0" err="1"/>
              <a:t>прояви</a:t>
            </a:r>
            <a:r>
              <a:rPr lang="en-US" dirty="0"/>
              <a:t>, а </a:t>
            </a:r>
            <a:r>
              <a:rPr lang="en-US" dirty="0" err="1"/>
              <a:t>архитектурата</a:t>
            </a:r>
            <a:r>
              <a:rPr lang="en-US" dirty="0"/>
              <a:t> </a:t>
            </a:r>
            <a:r>
              <a:rPr lang="en-US" dirty="0" err="1"/>
              <a:t>позволява</a:t>
            </a:r>
            <a:r>
              <a:rPr lang="en-US" dirty="0"/>
              <a:t> </a:t>
            </a:r>
            <a:r>
              <a:rPr lang="en-US" dirty="0" err="1"/>
              <a:t>бъдещо</a:t>
            </a:r>
            <a:r>
              <a:rPr lang="en-US" dirty="0"/>
              <a:t> </a:t>
            </a:r>
            <a:r>
              <a:rPr lang="en-US" dirty="0" err="1"/>
              <a:t>разширяване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с </a:t>
            </a:r>
            <a:r>
              <a:rPr lang="en-US" dirty="0" err="1"/>
              <a:t>хардуерни</a:t>
            </a:r>
            <a:r>
              <a:rPr lang="en-US" dirty="0"/>
              <a:t> </a:t>
            </a:r>
            <a:r>
              <a:rPr lang="en-US" dirty="0" err="1"/>
              <a:t>детектори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автоматично</a:t>
            </a:r>
            <a:r>
              <a:rPr lang="en-US" dirty="0"/>
              <a:t> </a:t>
            </a:r>
            <a:r>
              <a:rPr lang="en-US" dirty="0" err="1"/>
              <a:t>отчитане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финиш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генериране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PDF </a:t>
            </a:r>
            <a:r>
              <a:rPr lang="en-US" dirty="0" err="1"/>
              <a:t>протоколи</a:t>
            </a:r>
            <a:r>
              <a:rPr lang="en-US" dirty="0"/>
              <a:t>. </a:t>
            </a:r>
          </a:p>
          <a:p>
            <a:r>
              <a:rPr lang="en-US" dirty="0"/>
              <a:t> </a:t>
            </a:r>
          </a:p>
          <a:p>
            <a:r>
              <a:rPr lang="en-US" dirty="0" err="1"/>
              <a:t>Проектът</a:t>
            </a:r>
            <a:r>
              <a:rPr lang="en-US" dirty="0"/>
              <a:t> </a:t>
            </a:r>
            <a:r>
              <a:rPr lang="en-US" dirty="0" err="1"/>
              <a:t>ми</a:t>
            </a:r>
            <a:r>
              <a:rPr lang="en-US" dirty="0"/>
              <a:t> </a:t>
            </a:r>
            <a:r>
              <a:rPr lang="en-US" dirty="0" err="1"/>
              <a:t>даде</a:t>
            </a:r>
            <a:r>
              <a:rPr lang="en-US" dirty="0"/>
              <a:t> </a:t>
            </a:r>
            <a:r>
              <a:rPr lang="en-US" dirty="0" err="1"/>
              <a:t>възможност</a:t>
            </a:r>
            <a:r>
              <a:rPr lang="en-US" dirty="0"/>
              <a:t> </a:t>
            </a:r>
            <a:r>
              <a:rPr lang="en-US" dirty="0" err="1"/>
              <a:t>да</a:t>
            </a:r>
            <a:r>
              <a:rPr lang="en-US" dirty="0"/>
              <a:t> </a:t>
            </a:r>
            <a:r>
              <a:rPr lang="en-US" dirty="0" err="1"/>
              <a:t>приложа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практика</a:t>
            </a:r>
            <a:r>
              <a:rPr lang="en-US" dirty="0"/>
              <a:t> </a:t>
            </a:r>
            <a:r>
              <a:rPr lang="en-US" dirty="0" err="1"/>
              <a:t>знания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областта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уеб</a:t>
            </a:r>
            <a:r>
              <a:rPr lang="en-US" dirty="0"/>
              <a:t> </a:t>
            </a:r>
            <a:r>
              <a:rPr lang="en-US" dirty="0" err="1"/>
              <a:t>технологиите</a:t>
            </a:r>
            <a:r>
              <a:rPr lang="en-US" dirty="0"/>
              <a:t>, </a:t>
            </a:r>
            <a:r>
              <a:rPr lang="en-US" dirty="0" err="1"/>
              <a:t>алгоритмите</a:t>
            </a:r>
            <a:r>
              <a:rPr lang="en-US" dirty="0"/>
              <a:t>, </a:t>
            </a:r>
            <a:r>
              <a:rPr lang="en-US" dirty="0" err="1"/>
              <a:t>базите</a:t>
            </a:r>
            <a:r>
              <a:rPr lang="en-US" dirty="0"/>
              <a:t> </a:t>
            </a:r>
            <a:r>
              <a:rPr lang="en-US" dirty="0" err="1"/>
              <a:t>данни</a:t>
            </a:r>
            <a:r>
              <a:rPr lang="en-US" dirty="0"/>
              <a:t> и </a:t>
            </a:r>
            <a:r>
              <a:rPr lang="en-US" dirty="0" err="1"/>
              <a:t>информационната</a:t>
            </a:r>
            <a:r>
              <a:rPr lang="en-US" dirty="0"/>
              <a:t> </a:t>
            </a:r>
            <a:r>
              <a:rPr lang="en-US" dirty="0" err="1"/>
              <a:t>сигурност</a:t>
            </a:r>
            <a:r>
              <a:rPr lang="en-US" dirty="0"/>
              <a:t>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bg-BG" dirty="0" smtClean="0"/>
              <a:t>Благодаря</a:t>
            </a:r>
            <a:r>
              <a:rPr lang="bg-BG" baseline="0" dirty="0" smtClean="0"/>
              <a:t> ви за вашето вниманието. Ако имате въпроси, аз съм готов да отговоря.</a:t>
            </a:r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71B2431-D351-4C6E-A3CF-9DFAC0E3E050}" type="slidenum">
              <a:rPr lang="cs-CZ" smtClean="0"/>
              <a:t>11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37876340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jpe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jpe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5.png"/><Relationship Id="rId9" Type="http://schemas.openxmlformats.org/officeDocument/2006/relationships/image" Target="../media/image2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jpe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png"/><Relationship Id="rId3" Type="http://schemas.openxmlformats.org/officeDocument/2006/relationships/image" Target="../media/image1.jpe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5.png"/><Relationship Id="rId4" Type="http://schemas.openxmlformats.org/officeDocument/2006/relationships/image" Target="../media/image14.png"/><Relationship Id="rId9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5240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875565" y="689559"/>
            <a:ext cx="2442811" cy="2448302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8396283" cy="222413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придобиване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трета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степен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професионална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квалификация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–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част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теория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на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професията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професия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Системен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програмист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код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4810201 „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Системнопрограмиране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610100"/>
            <a:ext cx="9606111" cy="8471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Система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времеизмерване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масови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лекоатлетически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състезания</a:t>
            </a:r>
            <a:r>
              <a:rPr lang="en-US" sz="2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506200" y="6219317"/>
            <a:ext cx="3745807" cy="7566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0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0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6000">
        <p15:prstTrans prst="curtains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1586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8534400" y="2369187"/>
            <a:ext cx="8256693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20774" r="-32448"/>
            </a:stretch>
          </a:blipFill>
          <a:ln>
            <a:solidFill>
              <a:schemeClr val="tx1"/>
            </a:solidFill>
          </a:ln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61230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от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човешка</a:t>
            </a:r>
            <a:r>
              <a:rPr lang="en-US" sz="2800" dirty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грешка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36084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4446694" cy="4360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800" dirty="0" err="1" smtClean="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  <a:endParaRPr lang="en-US" sz="2800" dirty="0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  <p:transition spd="slow">
    <p:push dir="u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4247169" y="-1409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2537020" y="2476501"/>
            <a:ext cx="11559980" cy="742515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543800" y="4941041"/>
            <a:ext cx="1018095" cy="1013296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547558" y="6918076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1676155" y="2966390"/>
            <a:ext cx="14878026" cy="6784235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6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7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76155" y="5607070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1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1040081" y="6401565"/>
            <a:ext cx="58743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84677" y="2883744"/>
            <a:ext cx="58743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</a:p>
          <a:p>
            <a:endParaRPr lang="bg-BG" sz="28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med">
    <p:pull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1209" y="-12294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362200" y="3086100"/>
            <a:ext cx="13198621" cy="4350929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4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5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362200" y="7776209"/>
            <a:ext cx="13198621" cy="1482091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35225" t="-11814" b="-11814"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1678572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73575" y="7747813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>
                <a:latin typeface="Arial Black" panose="020B0A04020102020204" pitchFamily="34" charset="0"/>
              </a:rPr>
              <a:t>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0917" y="5224847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2</a:t>
            </a:r>
            <a:endParaRPr lang="bg-BG" sz="4400" dirty="0">
              <a:latin typeface="Arial Black" panose="020B0A04020102020204" pitchFamily="34" charset="0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310917" y="2974339"/>
            <a:ext cx="338554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bg-BG" sz="4400" dirty="0" smtClean="0">
                <a:latin typeface="Arial Black" panose="020B0A04020102020204" pitchFamily="34" charset="0"/>
              </a:rPr>
              <a:t>3</a:t>
            </a:r>
            <a:endParaRPr lang="bg-BG" sz="4400" dirty="0">
              <a:latin typeface="Arial Black" panose="020B0A04020102020204" pitchFamily="34" charset="0"/>
            </a:endParaRPr>
          </a:p>
        </p:txBody>
      </p:sp>
    </p:spTree>
  </p:cSld>
  <p:clrMapOvr>
    <a:masterClrMapping/>
  </p:clrMapOvr>
  <p:transition spd="slow">
    <p:cover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296400" y="5525779"/>
            <a:ext cx="8421794" cy="453479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2755"/>
            </a:stretch>
          </a:blipFill>
          <a:ln>
            <a:solidFill>
              <a:schemeClr val="tx1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4114800" y="1998034"/>
            <a:ext cx="9829800" cy="3373168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-730" t="-16926" b="-8938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549840" y="5525779"/>
            <a:ext cx="8473329" cy="453479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t="-1286" r="-2723"/>
            </a:stretch>
          </a:blipFill>
          <a:ln>
            <a:solidFill>
              <a:schemeClr val="tx1"/>
            </a:solidFill>
          </a:ln>
        </p:spPr>
      </p:sp>
      <p:sp>
        <p:nvSpPr>
          <p:cNvPr id="8" name="TextBox 8"/>
          <p:cNvSpPr txBox="1"/>
          <p:nvPr/>
        </p:nvSpPr>
        <p:spPr>
          <a:xfrm>
            <a:off x="1382622" y="1075358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circle/>
      </p:transition>
    </mc:Choice>
    <mc:Fallback xmlns="">
      <p:transition spd="slow">
        <p:circl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7238" r="-80391"/>
            </a:stretch>
          </a:blipFill>
          <a:ln>
            <a:solidFill>
              <a:schemeClr val="tx1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6531291" y="4303058"/>
            <a:ext cx="3626780" cy="3278842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240715" t="-62253" r="-14418"/>
            </a:stretch>
          </a:blipFill>
          <a:ln>
            <a:solidFill>
              <a:schemeClr val="tx1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440465" y="2937898"/>
            <a:ext cx="7542733" cy="2662801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r="-41168"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363722" y="6412364"/>
            <a:ext cx="7619477" cy="3455535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201337" cy="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 flipV="1">
            <a:off x="9601201" y="5143499"/>
            <a:ext cx="1092006" cy="29515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500">
        <p:split orient="vert"/>
      </p:transition>
    </mc:Choice>
    <mc:Fallback xmlns="">
      <p:transition spd="slow">
        <p:split orient="vert"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187074" y="-3852028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3352800" y="-2476500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04800" y="5859704"/>
            <a:ext cx="9448799" cy="3613540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498017" y="5989113"/>
            <a:ext cx="7090389" cy="1419819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  <a:ln>
            <a:solidFill>
              <a:schemeClr val="tx1"/>
            </a:solidFill>
          </a:ln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154444" y="5139503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срещу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CSRF </a:t>
            </a: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атаки</a:t>
            </a:r>
            <a:endParaRPr lang="en-US" sz="3399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ractur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717875" y="-492005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394871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835447" y="4595366"/>
            <a:ext cx="3572224" cy="4654133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5420"/>
            </a:stretch>
          </a:blipFill>
          <a:ln>
            <a:solidFill>
              <a:schemeClr val="tx1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2257673" y="4261932"/>
            <a:ext cx="5001627" cy="4756673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8594849" y="4595366"/>
            <a:ext cx="3303160" cy="4654802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9638" r="-4434"/>
            </a:stretch>
          </a:blipFill>
          <a:ln>
            <a:solidFill>
              <a:schemeClr val="tx1"/>
            </a:solidFill>
          </a:ln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954858" y="3317538"/>
            <a:ext cx="2224832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</a:t>
            </a:r>
            <a:r>
              <a:rPr lang="en-US" sz="3399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drap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526000" y="2552700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362842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066800" y="495300"/>
            <a:ext cx="16306799" cy="9296400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801600" y="8176405"/>
            <a:ext cx="4229664" cy="75661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800" b="1" dirty="0" err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</a:t>
            </a:r>
            <a:r>
              <a:rPr lang="en-US" sz="2800" b="1" dirty="0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Виктор</a:t>
            </a:r>
            <a:r>
              <a:rPr lang="en-US" sz="2400" dirty="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rPr lang="en-US" sz="2400" dirty="0" err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Василев</a:t>
            </a:r>
            <a:endParaRPr lang="en-US" sz="2400" dirty="0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2000">
        <p15:prstTrans prst="fallOver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181</TotalTime>
  <Words>1208</Words>
  <Application>Microsoft Office PowerPoint</Application>
  <PresentationFormat>Custom</PresentationFormat>
  <Paragraphs>126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Times New Roman</vt:lpstr>
      <vt:lpstr>Arial Black</vt:lpstr>
      <vt:lpstr>Arial</vt:lpstr>
      <vt:lpstr>Open Sans</vt:lpstr>
      <vt:lpstr>Calibri</vt:lpstr>
      <vt:lpstr>Times New Roman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lastModifiedBy>Admin</cp:lastModifiedBy>
  <cp:revision>26</cp:revision>
  <dcterms:created xsi:type="dcterms:W3CDTF">2006-08-16T00:00:00Z</dcterms:created>
  <dcterms:modified xsi:type="dcterms:W3CDTF">2026-05-11T08:54:32Z</dcterms:modified>
  <dc:identifier>DAHHpVcMLG8</dc:identifier>
</cp:coreProperties>
</file>