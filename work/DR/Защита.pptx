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Open Sans" panose="020B0604020202020204" charset="0"/>
      <p:regular r:id="rId14"/>
      <p:bold r:id="rId15"/>
      <p:italic r:id="rId16"/>
      <p:boldItalic r:id="rId17"/>
    </p:embeddedFont>
    <p:embeddedFont>
      <p:font typeface="Times New Roman Bold" panose="02020803070505020304" pitchFamily="18" charset="0"/>
      <p:regular r:id="rId18"/>
      <p:bold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/>
              <a:t>комисия</a:t>
            </a:r>
            <a:r>
              <a:rPr lang="en-US" dirty="0"/>
              <a:t>, </a:t>
            </a:r>
            <a:r>
              <a:rPr lang="en-US" dirty="0" err="1"/>
              <a:t>уважаеми</a:t>
            </a:r>
            <a:r>
              <a:rPr lang="en-US" dirty="0"/>
              <a:t> </a:t>
            </a:r>
            <a:r>
              <a:rPr lang="en-US" dirty="0" err="1"/>
              <a:t>гости</a:t>
            </a:r>
            <a:r>
              <a:rPr lang="en-US" dirty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могат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бъдат</a:t>
            </a:r>
            <a:r>
              <a:rPr lang="en-US" dirty="0"/>
              <a:t> </a:t>
            </a:r>
            <a:r>
              <a:rPr lang="en-US" dirty="0" err="1"/>
              <a:t>манипулирани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логически разделена на три слоя.</a:t>
            </a:r>
          </a:p>
          <a:p>
            <a:endParaRPr lang="en-US"/>
          </a:p>
          <a:p>
            <a:r>
              <a:rPr lang="en-US"/>
              <a:t>Първият е представителният слой — това е всичко, което потребителят вижда: HTML страниците, изградени с Django шаблони.</a:t>
            </a:r>
          </a:p>
          <a:p>
            <a:endParaRPr lang="en-US"/>
          </a:p>
          <a:p>
            <a:r>
              <a:rPr lang="en-US"/>
              <a:t>Вторият е приложният слой — там се извършва цялата работа. Той приема заявките, проверява правата на достъп, валидира данните и изпълнява бизнес операциите.</a:t>
            </a:r>
          </a:p>
          <a:p>
            <a:endParaRPr lang="en-US"/>
          </a:p>
          <a:p>
            <a:r>
              <a:rPr lang="en-US"/>
              <a:t>Третият е слоят за данни — Django ORM, който превежда Python операциите в SQL заявки към базата данни.</a:t>
            </a:r>
          </a:p>
          <a:p>
            <a:endParaRPr lang="en-US"/>
          </a:p>
          <a:p>
            <a:r>
              <a:rPr lang="en-US"/>
              <a:t>Ключово архитектурно решение е принципът на нулево доверие към клиента: дори данни, изпратени от легитимния потребителски интерфейс, преминават през пълна проверка на сървъра. Системата никога не приема за даденост, че клиентът е изпратил коректни данни.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/>
              <a:t>съдържания</a:t>
            </a:r>
            <a:r>
              <a:rPr lang="en-US" dirty="0"/>
              <a:t>: 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/>
              <a:t>съдържания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невалидна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връща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и </a:t>
            </a:r>
            <a:r>
              <a:rPr lang="en-US" dirty="0" err="1"/>
              <a:t>отказва</a:t>
            </a:r>
            <a:r>
              <a:rPr lang="en-US" dirty="0"/>
              <a:t> </a:t>
            </a:r>
            <a:r>
              <a:rPr lang="en-US" dirty="0" err="1"/>
              <a:t>операцията</a:t>
            </a:r>
            <a:r>
              <a:rPr lang="en-US" dirty="0"/>
              <a:t>.</a:t>
            </a:r>
          </a:p>
          <a:p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винаги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коректно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участва</a:t>
            </a:r>
            <a:r>
              <a:rPr lang="en-US" dirty="0"/>
              <a:t> в </a:t>
            </a:r>
            <a:r>
              <a:rPr lang="en-US" dirty="0" err="1"/>
              <a:t>изчислението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никакъв</a:t>
            </a:r>
            <a:r>
              <a:rPr lang="en-US" dirty="0"/>
              <a:t> </a:t>
            </a:r>
            <a:r>
              <a:rPr lang="en-US" dirty="0" err="1"/>
              <a:t>начин</a:t>
            </a:r>
            <a:r>
              <a:rPr lang="en-US" dirty="0"/>
              <a:t> —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Сигурността е разработена съгласно препоръките на организацията OWASP, която поддържа списък на най-критичните уязвимости в уеб приложенията.</a:t>
            </a:r>
          </a:p>
          <a:p>
            <a:endParaRPr lang="en-US"/>
          </a:p>
          <a:p>
            <a:r>
              <a:rPr lang="en-US"/>
              <a:t>Защитата срещу SQL инжекции е постигната чрез изключителното използване на Django ORM — никога не конкатенирам потребителски данни директно в SQL заявка.</a:t>
            </a:r>
          </a:p>
          <a:p>
            <a:endParaRPr lang="en-US"/>
          </a:p>
          <a:p>
            <a:r>
              <a:rPr lang="en-US"/>
              <a:t> е осигурена от вградения механизъм на Django с CSRF токени — всяка модифицираща заявка трябва да съдържа валиден токен, който злонамерена страница не може да знае.</a:t>
            </a:r>
          </a:p>
          <a:p>
            <a:endParaRPr lang="en-US"/>
          </a:p>
          <a:p>
            <a:r>
              <a:rPr lang="en-US"/>
              <a:t>Системата прилага принципа на защитата в дълбочина — всяка заявка преминава последователно през HTTP проверка, аутентикация, валидиране от сериализатора, проверка на бизнес логиката и накрая ограниченията на базата данни.</a:t>
            </a:r>
          </a:p>
          <a:p>
            <a:endParaRPr lang="en-US"/>
          </a:p>
          <a:p>
            <a:r>
              <a:rPr lang="en-US"/>
              <a:t>Дефинирани са две роли: администратор с пълен достъп и оператор с ограничени права.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реална</a:t>
            </a:r>
            <a:r>
              <a:rPr lang="en-US" dirty="0"/>
              <a:t> </a:t>
            </a:r>
            <a:r>
              <a:rPr lang="en-US" dirty="0" err="1"/>
              <a:t>работна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— </a:t>
            </a:r>
            <a:r>
              <a:rPr lang="en-US" dirty="0" err="1"/>
              <a:t>регистрирани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участници</a:t>
            </a:r>
            <a:r>
              <a:rPr lang="en-US" dirty="0"/>
              <a:t>, </a:t>
            </a:r>
            <a:r>
              <a:rPr lang="en-US" dirty="0" err="1"/>
              <a:t>стартирано</a:t>
            </a:r>
            <a:r>
              <a:rPr lang="en-US" dirty="0"/>
              <a:t> е </a:t>
            </a:r>
            <a:r>
              <a:rPr lang="en-US" dirty="0" err="1"/>
              <a:t>събитие</a:t>
            </a:r>
            <a:r>
              <a:rPr lang="en-US" dirty="0"/>
              <a:t>, </a:t>
            </a:r>
            <a:r>
              <a:rPr lang="en-US" dirty="0" err="1"/>
              <a:t>маркирани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финишни</a:t>
            </a:r>
            <a:r>
              <a:rPr lang="en-US" dirty="0"/>
              <a:t> </a:t>
            </a:r>
            <a:r>
              <a:rPr lang="en-US" dirty="0" err="1"/>
              <a:t>времена</a:t>
            </a:r>
            <a:r>
              <a:rPr lang="en-US" dirty="0"/>
              <a:t> и е </a:t>
            </a:r>
            <a:r>
              <a:rPr lang="en-US" dirty="0" err="1"/>
              <a:t>проверено</a:t>
            </a:r>
            <a:r>
              <a:rPr lang="en-US" dirty="0"/>
              <a:t> </a:t>
            </a:r>
            <a:r>
              <a:rPr lang="en-US" dirty="0" err="1"/>
              <a:t>правилното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  <a:r>
              <a:rPr lang="en-US" dirty="0" err="1"/>
              <a:t>Резултатите</a:t>
            </a:r>
            <a:r>
              <a:rPr lang="en-US" dirty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Като цяло — разработената система успешно решава поставените цели: осигурява точна регистрация на участниците, надеждно и обективно времеизмерване и автоматично формиране на класирането. </a:t>
            </a:r>
          </a:p>
          <a:p>
            <a:r>
              <a:rPr lang="en-US"/>
              <a:t> </a:t>
            </a:r>
          </a:p>
          <a:p>
            <a:r>
              <a:rPr lang="en-US"/>
              <a:t>Чрез централизираната сървърна логика и принципа на нулево доверие към клиента е постигната висока степен на сигурност и невъзможност за манипулация на резултатите. </a:t>
            </a:r>
          </a:p>
          <a:p>
            <a:r>
              <a:rPr lang="en-US"/>
              <a:t> </a:t>
            </a:r>
          </a:p>
          <a:p>
            <a:r>
              <a:rPr lang="en-US"/>
              <a:t>Системата има потенциал за реално приложение при организирането на лекоатлетически прояви, а архитектурата позволява бъдещо разширяване — например интеграция с хардуерни детектори за автоматично отчитане на финиш или генериране на PDF протоколи. </a:t>
            </a:r>
          </a:p>
          <a:p>
            <a:r>
              <a:rPr lang="en-US"/>
              <a:t> </a:t>
            </a:r>
          </a:p>
          <a:p>
            <a:r>
              <a:rPr lang="en-US"/>
              <a:t>Проектът ми даде възможност да приложа на практика знания от областта на уеб технологиите, алгоритмите, базите данни и информационната сигурност.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png"/><Relationship Id="rId10" Type="http://schemas.openxmlformats.org/officeDocument/2006/relationships/image" Target="../media/image18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png"/><Relationship Id="rId10" Type="http://schemas.openxmlformats.org/officeDocument/2006/relationships/image" Target="../media/image18.sv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101789" y="332998"/>
            <a:ext cx="2017422" cy="2024978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006901"/>
            <a:ext cx="9606111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Тема:</a:t>
            </a:r>
            <a:r>
              <a:rPr lang="en-US" sz="2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Система за времеизмерване при масови лекоатлетически състезания.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66852" y="596078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518115" y="2369187"/>
            <a:ext cx="7272978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5179963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 от човешка грешка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11279" y="-1244975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346699" y="3235705"/>
            <a:ext cx="10264581" cy="615874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764483" y="5216520"/>
            <a:ext cx="732435" cy="732435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281532" y="6246787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2119866" y="2837314"/>
            <a:ext cx="14456726" cy="6420986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242185" y="5367079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4" y="0"/>
                </a:lnTo>
                <a:lnTo>
                  <a:pt x="278604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1128686" y="865248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40" y="0"/>
                </a:lnTo>
                <a:lnTo>
                  <a:pt x="442940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137981" y="2837314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2" y="0"/>
                </a:lnTo>
                <a:lnTo>
                  <a:pt x="438612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650713" y="3647342"/>
            <a:ext cx="12413719" cy="4029132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650713" y="7804098"/>
            <a:ext cx="12413719" cy="843253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741482" y="8129676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3" y="0"/>
                </a:lnTo>
                <a:lnTo>
                  <a:pt x="278603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2737154" y="700893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39" y="0"/>
                </a:lnTo>
                <a:lnTo>
                  <a:pt x="442939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741482" y="5020293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1" y="0"/>
                </a:lnTo>
                <a:lnTo>
                  <a:pt x="438611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227746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485206" y="5589162"/>
            <a:ext cx="7774094" cy="421382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383953" y="2808956"/>
            <a:ext cx="7988300" cy="2661977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82622" y="5561702"/>
            <a:ext cx="7776507" cy="426874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96906" y="1490799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7379816" y="4708345"/>
            <a:ext cx="2605554" cy="2174241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047436" y="4107010"/>
            <a:ext cx="4766089" cy="1202669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047436" y="5968686"/>
            <a:ext cx="4504821" cy="2132717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>
            <a:off x="9774867" y="5105401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28178" y="-4232035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4400061" y="-3036353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56755" y="5949560"/>
            <a:ext cx="6945819" cy="2248709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054611" y="6238281"/>
            <a:ext cx="5691866" cy="998573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832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CSRF атаки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383806" y="-500559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255915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536718" y="4846556"/>
            <a:ext cx="2607282" cy="3826306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497919" y="4492826"/>
            <a:ext cx="4866247" cy="4533766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217116" y="4846556"/>
            <a:ext cx="2387765" cy="3826306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6452" y="3418620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654552" y="250043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800078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493371" y="2063907"/>
            <a:ext cx="11301259" cy="6159186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296336" y="815752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1203</Words>
  <Application>Microsoft Office PowerPoint</Application>
  <PresentationFormat>Custom</PresentationFormat>
  <Paragraphs>121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Times New Roman</vt:lpstr>
      <vt:lpstr>Arial</vt:lpstr>
      <vt:lpstr>Open Sans</vt:lpstr>
      <vt:lpstr>Times New Roman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14</cp:revision>
  <dcterms:created xsi:type="dcterms:W3CDTF">2006-08-16T00:00:00Z</dcterms:created>
  <dcterms:modified xsi:type="dcterms:W3CDTF">2026-04-30T05:39:36Z</dcterms:modified>
  <dc:identifier>DAHHpVcMLG8</dc:identifier>
</cp:coreProperties>
</file>